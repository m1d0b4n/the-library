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8288000" cy="10287000"/>
  <p:notesSz cx="7559675" cy="10691813"/>
  <p:embeddedFontLst>
    <p:embeddedFont>
      <p:font typeface="Montserrat" panose="020F0502020204030204" pitchFamily="2" charset="0"/>
      <p:regular r:id="rId24"/>
    </p:embeddedFont>
    <p:embeddedFont>
      <p:font typeface="Montserrat Light" panose="00000400000000000000" pitchFamily="2" charset="0"/>
      <p:regular r:id="rId25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47C31A-5144-48F9-8EBE-EAF5B58BBF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‹N°›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DD7C03-6269-43D3-BBB5-12045552CF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‹N°›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149CDB-30AD-4658-B48A-EE71875A90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‹N°›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CDF470-3C5A-4B3E-A0C8-F2E825B807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‹N°›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99043B-0D13-480F-B275-844A5981C1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‹N°›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545FFA-08F3-41F7-A603-9365591584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‹N°›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869845-A9BF-4209-A62A-9F85A8AA74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‹N°›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189C28-198D-4558-B892-F4274D19C9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‹N°›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540D18B-DCEB-4800-AAEF-C05F403A80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‹N°›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A88F304-514B-442B-98AD-A42FB48541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‹N°›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0AD743-8C6E-40A1-B3BF-BCA3C4CD5B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‹N°›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3"/>
          <p:cNvGrpSpPr/>
          <p:nvPr/>
        </p:nvGrpSpPr>
        <p:grpSpPr>
          <a:xfrm>
            <a:off x="9878040" y="6628320"/>
            <a:ext cx="4173480" cy="1223280"/>
            <a:chOff x="9878040" y="6628320"/>
            <a:chExt cx="4173480" cy="1223280"/>
          </a:xfrm>
        </p:grpSpPr>
        <p:sp>
          <p:nvSpPr>
            <p:cNvPr id="63" name="Freeform 4"/>
            <p:cNvSpPr/>
            <p:nvPr/>
          </p:nvSpPr>
          <p:spPr>
            <a:xfrm>
              <a:off x="9878040" y="6739560"/>
              <a:ext cx="4173480" cy="1112040"/>
            </a:xfrm>
            <a:custGeom>
              <a:avLst/>
              <a:gdLst>
                <a:gd name="textAreaLeft" fmla="*/ 0 w 4173480"/>
                <a:gd name="textAreaRight" fmla="*/ 4173840 w 4173480"/>
                <a:gd name="textAreaTop" fmla="*/ 0 h 1112040"/>
                <a:gd name="textAreaBottom" fmla="*/ 1112400 h 1112040"/>
              </a:gdLst>
              <a:ahLst/>
              <a:cxnLst/>
              <a:rect l="textAreaLeft" t="textAreaTop" r="textAreaRight" b="textAreaBottom"/>
              <a:pathLst>
                <a:path w="1072643" h="285840">
                  <a:moveTo>
                    <a:pt x="31531" y="0"/>
                  </a:moveTo>
                  <a:lnTo>
                    <a:pt x="1041111" y="0"/>
                  </a:lnTo>
                  <a:cubicBezTo>
                    <a:pt x="1058526" y="0"/>
                    <a:pt x="1072643" y="14117"/>
                    <a:pt x="1072643" y="31531"/>
                  </a:cubicBezTo>
                  <a:lnTo>
                    <a:pt x="1072643" y="254309"/>
                  </a:lnTo>
                  <a:cubicBezTo>
                    <a:pt x="1072643" y="271723"/>
                    <a:pt x="1058526" y="285840"/>
                    <a:pt x="1041111" y="285840"/>
                  </a:cubicBezTo>
                  <a:lnTo>
                    <a:pt x="31531" y="285840"/>
                  </a:lnTo>
                  <a:cubicBezTo>
                    <a:pt x="14117" y="285840"/>
                    <a:pt x="0" y="271723"/>
                    <a:pt x="0" y="254309"/>
                  </a:cubicBezTo>
                  <a:lnTo>
                    <a:pt x="0" y="31531"/>
                  </a:lnTo>
                  <a:cubicBezTo>
                    <a:pt x="0" y="14117"/>
                    <a:pt x="14117" y="0"/>
                    <a:pt x="31531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5"/>
            <p:cNvSpPr/>
            <p:nvPr/>
          </p:nvSpPr>
          <p:spPr>
            <a:xfrm>
              <a:off x="9878040" y="6628320"/>
              <a:ext cx="4173480" cy="122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5" name="TextBox 6"/>
          <p:cNvSpPr/>
          <p:nvPr/>
        </p:nvSpPr>
        <p:spPr>
          <a:xfrm>
            <a:off x="4076640" y="1739880"/>
            <a:ext cx="10863360" cy="20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16067"/>
              </a:lnSpc>
              <a:tabLst>
                <a:tab pos="0" algn="l"/>
              </a:tabLst>
            </a:pPr>
            <a:r>
              <a:rPr lang="en-US" sz="1147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The Library</a:t>
            </a:r>
            <a:endParaRPr lang="en-GB" sz="114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4883040" y="4140000"/>
            <a:ext cx="12062520" cy="214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8657"/>
              </a:lnSpc>
              <a:tabLst>
                <a:tab pos="0" algn="l"/>
              </a:tabLst>
            </a:pPr>
            <a:r>
              <a:rPr lang="en-US" sz="619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Application web de gestion de bibliothèque</a:t>
            </a:r>
            <a:endParaRPr lang="en-GB" sz="61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8"/>
          <p:cNvSpPr/>
          <p:nvPr/>
        </p:nvSpPr>
        <p:spPr>
          <a:xfrm>
            <a:off x="10477800" y="6840000"/>
            <a:ext cx="2842200" cy="8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914400">
              <a:lnSpc>
                <a:spcPts val="1678"/>
              </a:lnSpc>
              <a:tabLst>
                <a:tab pos="0" algn="l"/>
              </a:tabLst>
            </a:pPr>
            <a:r>
              <a:rPr lang="en-US" sz="1200" b="0" u="none" strike="noStrike" spc="201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PYTHON · FLASK · SQLITE · TAILWIND CSS · GITHUB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ts val="1678"/>
              </a:lnSpc>
              <a:tabLst>
                <a:tab pos="0" algn="l"/>
              </a:tabLst>
            </a:pPr>
            <a:r>
              <a:rPr lang="en-US" sz="1200" b="0" u="none" strike="noStrike" spc="201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AGILE — 5 SPRINTS · 92 TESTS · 10+ PRS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3"/>
          <p:cNvGrpSpPr/>
          <p:nvPr/>
        </p:nvGrpSpPr>
        <p:grpSpPr>
          <a:xfrm>
            <a:off x="7968600" y="1660320"/>
            <a:ext cx="8943120" cy="2200320"/>
            <a:chOff x="7968600" y="1660320"/>
            <a:chExt cx="8943120" cy="2200320"/>
          </a:xfrm>
        </p:grpSpPr>
        <p:sp>
          <p:nvSpPr>
            <p:cNvPr id="70" name="Freeform 4"/>
            <p:cNvSpPr/>
            <p:nvPr/>
          </p:nvSpPr>
          <p:spPr>
            <a:xfrm>
              <a:off x="7968600" y="177408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"/>
            <p:cNvSpPr/>
            <p:nvPr/>
          </p:nvSpPr>
          <p:spPr>
            <a:xfrm>
              <a:off x="7968600" y="166032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72" name="Group 6"/>
          <p:cNvGrpSpPr/>
          <p:nvPr/>
        </p:nvGrpSpPr>
        <p:grpSpPr>
          <a:xfrm>
            <a:off x="7968600" y="3987000"/>
            <a:ext cx="8943120" cy="2200320"/>
            <a:chOff x="7968600" y="3987000"/>
            <a:chExt cx="8943120" cy="2200320"/>
          </a:xfrm>
        </p:grpSpPr>
        <p:sp>
          <p:nvSpPr>
            <p:cNvPr id="73" name="Freeform 7"/>
            <p:cNvSpPr/>
            <p:nvPr/>
          </p:nvSpPr>
          <p:spPr>
            <a:xfrm>
              <a:off x="7968600" y="410076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8"/>
            <p:cNvSpPr/>
            <p:nvPr/>
          </p:nvSpPr>
          <p:spPr>
            <a:xfrm>
              <a:off x="7968600" y="398700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75" name="Group 9"/>
          <p:cNvGrpSpPr/>
          <p:nvPr/>
        </p:nvGrpSpPr>
        <p:grpSpPr>
          <a:xfrm>
            <a:off x="7968600" y="6312240"/>
            <a:ext cx="8943120" cy="2200320"/>
            <a:chOff x="7968600" y="6312240"/>
            <a:chExt cx="8943120" cy="2200320"/>
          </a:xfrm>
        </p:grpSpPr>
        <p:sp>
          <p:nvSpPr>
            <p:cNvPr id="76" name="Freeform 10"/>
            <p:cNvSpPr/>
            <p:nvPr/>
          </p:nvSpPr>
          <p:spPr>
            <a:xfrm>
              <a:off x="7968600" y="642600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11"/>
            <p:cNvSpPr/>
            <p:nvPr/>
          </p:nvSpPr>
          <p:spPr>
            <a:xfrm>
              <a:off x="7968600" y="631224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78" name="TextBox 12"/>
          <p:cNvSpPr/>
          <p:nvPr/>
        </p:nvSpPr>
        <p:spPr>
          <a:xfrm>
            <a:off x="9131040" y="2615040"/>
            <a:ext cx="7470360" cy="79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92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Le contexte et les objectifs du projet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92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Organisation Agile &amp; GitHub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92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Workflow de développement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3"/>
          <p:cNvSpPr/>
          <p:nvPr/>
        </p:nvSpPr>
        <p:spPr>
          <a:xfrm>
            <a:off x="9131040" y="4941720"/>
            <a:ext cx="7470360" cy="79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92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Architecture technique (Flask, SQLite, Tailwind)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92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Fonctionnalités de l'application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92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Sécurité intégrée dès la conception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4"/>
          <p:cNvSpPr/>
          <p:nvPr/>
        </p:nvSpPr>
        <p:spPr>
          <a:xfrm>
            <a:off x="9131040" y="7266960"/>
            <a:ext cx="7470360" cy="79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92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Tests automatisés (92 tests, 0 échec)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92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Démonstration live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92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Bilan &amp; apprentissages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1457640" y="5309280"/>
            <a:ext cx="5473440" cy="98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574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Plan de la présentation en trois grandes parties pour découvrir The Library, de la conception à la démonstration finale.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9131040" y="2033280"/>
            <a:ext cx="4368960" cy="30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367"/>
              </a:lnSpc>
              <a:tabLst>
                <a:tab pos="0" algn="l"/>
              </a:tabLst>
            </a:pPr>
            <a:r>
              <a:rPr lang="en-US" sz="1900" b="1" u="none" strike="noStrike" spc="2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Contexte &amp; Organisation</a:t>
            </a:r>
            <a:endParaRPr lang="en-GB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7"/>
          <p:cNvSpPr/>
          <p:nvPr/>
        </p:nvSpPr>
        <p:spPr>
          <a:xfrm>
            <a:off x="9131040" y="4359960"/>
            <a:ext cx="4370760" cy="28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367"/>
              </a:lnSpc>
              <a:tabLst>
                <a:tab pos="0" algn="l"/>
              </a:tabLst>
            </a:pPr>
            <a:r>
              <a:rPr lang="en-US" sz="1900" b="1" u="none" strike="noStrike" spc="2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Architecture &amp; Fonctionnalités</a:t>
            </a:r>
            <a:endParaRPr lang="en-GB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8"/>
          <p:cNvSpPr/>
          <p:nvPr/>
        </p:nvSpPr>
        <p:spPr>
          <a:xfrm>
            <a:off x="9131040" y="6685200"/>
            <a:ext cx="3193560" cy="28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367"/>
              </a:lnSpc>
              <a:tabLst>
                <a:tab pos="0" algn="l"/>
              </a:tabLst>
            </a:pPr>
            <a:r>
              <a:rPr lang="en-US" sz="1900" b="1" u="none" strike="noStrike" spc="2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Tests &amp; Bilan</a:t>
            </a:r>
            <a:endParaRPr lang="en-GB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8078760" y="2028600"/>
            <a:ext cx="848880" cy="55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4448"/>
              </a:lnSpc>
              <a:tabLst>
                <a:tab pos="0" algn="l"/>
              </a:tabLst>
            </a:pPr>
            <a:r>
              <a:rPr lang="en-US" sz="3570" b="1" u="none" strike="noStrike" spc="4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01</a:t>
            </a:r>
            <a:endParaRPr lang="en-GB" sz="3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0"/>
          <p:cNvSpPr/>
          <p:nvPr/>
        </p:nvSpPr>
        <p:spPr>
          <a:xfrm>
            <a:off x="8078760" y="4355280"/>
            <a:ext cx="848880" cy="55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4448"/>
              </a:lnSpc>
              <a:tabLst>
                <a:tab pos="0" algn="l"/>
              </a:tabLst>
            </a:pPr>
            <a:r>
              <a:rPr lang="en-US" sz="3570" b="1" u="none" strike="noStrike" spc="4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02</a:t>
            </a:r>
            <a:endParaRPr lang="en-GB" sz="3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1"/>
          <p:cNvSpPr/>
          <p:nvPr/>
        </p:nvSpPr>
        <p:spPr>
          <a:xfrm>
            <a:off x="8078760" y="6680520"/>
            <a:ext cx="848880" cy="55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4448"/>
              </a:lnSpc>
              <a:tabLst>
                <a:tab pos="0" algn="l"/>
              </a:tabLst>
            </a:pPr>
            <a:r>
              <a:rPr lang="en-US" sz="3570" b="1" u="none" strike="noStrike" spc="4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03</a:t>
            </a:r>
            <a:endParaRPr lang="en-GB" sz="3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2"/>
          <p:cNvSpPr/>
          <p:nvPr/>
        </p:nvSpPr>
        <p:spPr>
          <a:xfrm>
            <a:off x="1457640" y="3038760"/>
            <a:ext cx="6510600" cy="101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8039"/>
              </a:lnSpc>
              <a:tabLst>
                <a:tab pos="0" algn="l"/>
              </a:tabLst>
            </a:pPr>
            <a:r>
              <a:rPr lang="en-US" sz="6430" b="1" u="none" strike="noStrike" spc="71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Sommaire</a:t>
            </a:r>
            <a:endParaRPr lang="en-GB" sz="6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" name="Group 3"/>
          <p:cNvGrpSpPr/>
          <p:nvPr/>
        </p:nvGrpSpPr>
        <p:grpSpPr>
          <a:xfrm>
            <a:off x="1603800" y="3078360"/>
            <a:ext cx="15080400" cy="5396040"/>
            <a:chOff x="1603800" y="3078360"/>
            <a:chExt cx="15080400" cy="5396040"/>
          </a:xfrm>
        </p:grpSpPr>
        <p:sp>
          <p:nvSpPr>
            <p:cNvPr id="91" name="Freeform 4"/>
            <p:cNvSpPr/>
            <p:nvPr/>
          </p:nvSpPr>
          <p:spPr>
            <a:xfrm>
              <a:off x="1603800" y="3189240"/>
              <a:ext cx="15080400" cy="5285160"/>
            </a:xfrm>
            <a:custGeom>
              <a:avLst/>
              <a:gdLst>
                <a:gd name="textAreaLeft" fmla="*/ 0 w 15080400"/>
                <a:gd name="textAreaRight" fmla="*/ 15080760 w 15080400"/>
                <a:gd name="textAreaTop" fmla="*/ 0 h 5285160"/>
                <a:gd name="textAreaBottom" fmla="*/ 5285520 h 5285160"/>
              </a:gdLst>
              <a:ahLst/>
              <a:cxnLst/>
              <a:rect l="textAreaLeft" t="textAreaTop" r="textAreaRight" b="textAreaBottom"/>
              <a:pathLst>
                <a:path w="3875457" h="1358233">
                  <a:moveTo>
                    <a:pt x="8727" y="0"/>
                  </a:moveTo>
                  <a:lnTo>
                    <a:pt x="3866729" y="0"/>
                  </a:lnTo>
                  <a:cubicBezTo>
                    <a:pt x="3871550" y="0"/>
                    <a:pt x="3875457" y="3907"/>
                    <a:pt x="3875457" y="8727"/>
                  </a:cubicBezTo>
                  <a:lnTo>
                    <a:pt x="3875457" y="1349506"/>
                  </a:lnTo>
                  <a:cubicBezTo>
                    <a:pt x="3875457" y="1351821"/>
                    <a:pt x="3874538" y="1354040"/>
                    <a:pt x="3872901" y="1355677"/>
                  </a:cubicBezTo>
                  <a:cubicBezTo>
                    <a:pt x="3871264" y="1357314"/>
                    <a:pt x="3869044" y="1358233"/>
                    <a:pt x="3866729" y="1358233"/>
                  </a:cubicBezTo>
                  <a:lnTo>
                    <a:pt x="8727" y="1358233"/>
                  </a:lnTo>
                  <a:cubicBezTo>
                    <a:pt x="3907" y="1358233"/>
                    <a:pt x="0" y="1354326"/>
                    <a:pt x="0" y="1349506"/>
                  </a:cubicBezTo>
                  <a:lnTo>
                    <a:pt x="0" y="8727"/>
                  </a:lnTo>
                  <a:cubicBezTo>
                    <a:pt x="0" y="6413"/>
                    <a:pt x="919" y="4193"/>
                    <a:pt x="2556" y="2556"/>
                  </a:cubicBezTo>
                  <a:cubicBezTo>
                    <a:pt x="4193" y="919"/>
                    <a:pt x="6413" y="0"/>
                    <a:pt x="8727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extBox 5"/>
            <p:cNvSpPr/>
            <p:nvPr/>
          </p:nvSpPr>
          <p:spPr>
            <a:xfrm>
              <a:off x="1603800" y="3078360"/>
              <a:ext cx="15080400" cy="5396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93" name="TextBox 6"/>
          <p:cNvSpPr/>
          <p:nvPr/>
        </p:nvSpPr>
        <p:spPr>
          <a:xfrm>
            <a:off x="4695480" y="1362960"/>
            <a:ext cx="8896680" cy="132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10908"/>
              </a:lnSpc>
              <a:tabLst>
                <a:tab pos="0" algn="l"/>
              </a:tabLst>
            </a:pPr>
            <a:r>
              <a:rPr lang="en-US" sz="7790" b="1" u="none" strike="noStrike" spc="62">
                <a:solidFill>
                  <a:srgbClr val="FFFFFF"/>
                </a:solidFill>
                <a:effectLst/>
                <a:uFillTx/>
                <a:latin typeface="Garet Ultra-Bold"/>
                <a:ea typeface="Garet Ultra-Bold"/>
              </a:rPr>
              <a:t>Le contexte</a:t>
            </a:r>
            <a:endParaRPr lang="en-GB" sz="7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7"/>
          <p:cNvSpPr/>
          <p:nvPr/>
        </p:nvSpPr>
        <p:spPr>
          <a:xfrm>
            <a:off x="3134160" y="4264560"/>
            <a:ext cx="12018960" cy="95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2509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Projet scolaire : développer une application web complète de A à Z, seul ou en équipe, avec des pratiques professionnelles. Contraintes imposées : Python/Flask, Git/GitHub, application fonctionnelle, sécurisée et testée.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8"/>
          <p:cNvSpPr/>
          <p:nvPr/>
        </p:nvSpPr>
        <p:spPr>
          <a:xfrm>
            <a:off x="3134160" y="6094440"/>
            <a:ext cx="12018960" cy="95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2509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Objectif personnel : dépasser le minimum requis et appliquer une vraie méthode de développement professionnelle — workflow Git structuré, méthode Agile, tests automatisés et sécurité intégrée dès la conception.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1101240" y="1037880"/>
            <a:ext cx="10723680" cy="183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7231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L'application en un coup d'œil</a:t>
            </a:r>
            <a:endParaRPr lang="en-GB" sz="6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0" name="Group 6"/>
          <p:cNvGrpSpPr/>
          <p:nvPr/>
        </p:nvGrpSpPr>
        <p:grpSpPr>
          <a:xfrm>
            <a:off x="756000" y="2933280"/>
            <a:ext cx="8387640" cy="6889320"/>
            <a:chOff x="756000" y="2933280"/>
            <a:chExt cx="8387640" cy="6889320"/>
          </a:xfrm>
        </p:grpSpPr>
        <p:sp>
          <p:nvSpPr>
            <p:cNvPr id="101" name="Freeform 7"/>
            <p:cNvSpPr/>
            <p:nvPr/>
          </p:nvSpPr>
          <p:spPr>
            <a:xfrm>
              <a:off x="756000" y="3044520"/>
              <a:ext cx="8387640" cy="6778080"/>
            </a:xfrm>
            <a:custGeom>
              <a:avLst/>
              <a:gdLst>
                <a:gd name="textAreaLeft" fmla="*/ 0 w 8387640"/>
                <a:gd name="textAreaRight" fmla="*/ 8388000 w 8387640"/>
                <a:gd name="textAreaTop" fmla="*/ 0 h 6778080"/>
                <a:gd name="textAreaBottom" fmla="*/ 6778440 h 6778080"/>
              </a:gdLst>
              <a:ahLst/>
              <a:cxnLst/>
              <a:rect l="textAreaLeft" t="textAreaTop" r="textAreaRight" b="textAreaBottom"/>
              <a:pathLst>
                <a:path w="2155548" h="1741887">
                  <a:moveTo>
                    <a:pt x="15691" y="0"/>
                  </a:moveTo>
                  <a:lnTo>
                    <a:pt x="2139857" y="0"/>
                  </a:lnTo>
                  <a:cubicBezTo>
                    <a:pt x="2144019" y="0"/>
                    <a:pt x="2148010" y="1653"/>
                    <a:pt x="2150952" y="4596"/>
                  </a:cubicBezTo>
                  <a:cubicBezTo>
                    <a:pt x="2153895" y="7538"/>
                    <a:pt x="2155548" y="11529"/>
                    <a:pt x="2155548" y="15691"/>
                  </a:cubicBezTo>
                  <a:lnTo>
                    <a:pt x="2155548" y="1726197"/>
                  </a:lnTo>
                  <a:cubicBezTo>
                    <a:pt x="2155548" y="1734862"/>
                    <a:pt x="2148523" y="1741887"/>
                    <a:pt x="2139857" y="1741887"/>
                  </a:cubicBezTo>
                  <a:lnTo>
                    <a:pt x="15691" y="1741887"/>
                  </a:lnTo>
                  <a:cubicBezTo>
                    <a:pt x="11529" y="1741887"/>
                    <a:pt x="7538" y="1740234"/>
                    <a:pt x="4596" y="1737292"/>
                  </a:cubicBezTo>
                  <a:cubicBezTo>
                    <a:pt x="1653" y="1734349"/>
                    <a:pt x="0" y="1730358"/>
                    <a:pt x="0" y="1726197"/>
                  </a:cubicBezTo>
                  <a:lnTo>
                    <a:pt x="0" y="15691"/>
                  </a:lnTo>
                  <a:cubicBezTo>
                    <a:pt x="0" y="11529"/>
                    <a:pt x="1653" y="7538"/>
                    <a:pt x="4596" y="4596"/>
                  </a:cubicBezTo>
                  <a:cubicBezTo>
                    <a:pt x="7538" y="1653"/>
                    <a:pt x="11529" y="0"/>
                    <a:pt x="15691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TextBox 8"/>
            <p:cNvSpPr/>
            <p:nvPr/>
          </p:nvSpPr>
          <p:spPr>
            <a:xfrm>
              <a:off x="756000" y="2933280"/>
              <a:ext cx="8387640" cy="688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03" name="TextBox 9"/>
          <p:cNvSpPr/>
          <p:nvPr/>
        </p:nvSpPr>
        <p:spPr>
          <a:xfrm>
            <a:off x="1101240" y="3367440"/>
            <a:ext cx="7556760" cy="173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738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Fonctionnalités principales :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738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• Consulter le catalogue avec images de couverture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738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• Emprunter et réserver des livres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738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• Créer et gérer son compte utilisateur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738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• Administration complète (livres, utilisateurs, rôles)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1101240" y="5370120"/>
            <a:ext cx="7556760" cy="104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738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Une application web complète développée avec Flask et SQLite, offrant une expérience utilisateur moderne grâce à Tailwind CSS. Interface responsive et intuitive pour tous les types d'utilisateurs.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1"/>
          <p:cNvSpPr/>
          <p:nvPr/>
        </p:nvSpPr>
        <p:spPr>
          <a:xfrm>
            <a:off x="1101240" y="7372800"/>
            <a:ext cx="7556760" cy="104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738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Architecture modulaire avec Blueprints Flask pour une maintenance facilitée. Système d'authentification sécurisé avec gestion des rôles et permissions. Upload d'images sécurisé avec validation multi-couches.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7" name="Group 3"/>
          <p:cNvGrpSpPr/>
          <p:nvPr/>
        </p:nvGrpSpPr>
        <p:grpSpPr>
          <a:xfrm>
            <a:off x="1382760" y="4899600"/>
            <a:ext cx="4982400" cy="4137840"/>
            <a:chOff x="1382760" y="4899600"/>
            <a:chExt cx="4982400" cy="4137840"/>
          </a:xfrm>
        </p:grpSpPr>
        <p:sp>
          <p:nvSpPr>
            <p:cNvPr id="108" name="Freeform 4"/>
            <p:cNvSpPr/>
            <p:nvPr/>
          </p:nvSpPr>
          <p:spPr>
            <a:xfrm>
              <a:off x="1382760" y="5010840"/>
              <a:ext cx="4982400" cy="4026600"/>
            </a:xfrm>
            <a:custGeom>
              <a:avLst/>
              <a:gdLst>
                <a:gd name="textAreaLeft" fmla="*/ 0 w 4982400"/>
                <a:gd name="textAreaRight" fmla="*/ 4982760 w 498240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1280520" h="1034814">
                  <a:moveTo>
                    <a:pt x="26413" y="0"/>
                  </a:moveTo>
                  <a:lnTo>
                    <a:pt x="1254108" y="0"/>
                  </a:lnTo>
                  <a:cubicBezTo>
                    <a:pt x="1261113" y="0"/>
                    <a:pt x="1267831" y="2783"/>
                    <a:pt x="1272784" y="7736"/>
                  </a:cubicBezTo>
                  <a:cubicBezTo>
                    <a:pt x="1277738" y="12689"/>
                    <a:pt x="1280520" y="19408"/>
                    <a:pt x="1280520" y="26413"/>
                  </a:cubicBezTo>
                  <a:lnTo>
                    <a:pt x="1280520" y="1008401"/>
                  </a:lnTo>
                  <a:cubicBezTo>
                    <a:pt x="1280520" y="1015406"/>
                    <a:pt x="1277738" y="1022124"/>
                    <a:pt x="1272784" y="1027078"/>
                  </a:cubicBezTo>
                  <a:cubicBezTo>
                    <a:pt x="1267831" y="1032031"/>
                    <a:pt x="1261113" y="1034814"/>
                    <a:pt x="1254108" y="1034814"/>
                  </a:cubicBezTo>
                  <a:lnTo>
                    <a:pt x="26413" y="1034814"/>
                  </a:lnTo>
                  <a:cubicBezTo>
                    <a:pt x="19408" y="1034814"/>
                    <a:pt x="12689" y="1032031"/>
                    <a:pt x="7736" y="1027078"/>
                  </a:cubicBezTo>
                  <a:cubicBezTo>
                    <a:pt x="2783" y="1022124"/>
                    <a:pt x="0" y="1015406"/>
                    <a:pt x="0" y="1008401"/>
                  </a:cubicBezTo>
                  <a:lnTo>
                    <a:pt x="0" y="26413"/>
                  </a:lnTo>
                  <a:cubicBezTo>
                    <a:pt x="0" y="19408"/>
                    <a:pt x="2783" y="12689"/>
                    <a:pt x="7736" y="7736"/>
                  </a:cubicBezTo>
                  <a:cubicBezTo>
                    <a:pt x="12689" y="2783"/>
                    <a:pt x="19408" y="0"/>
                    <a:pt x="26413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TextBox 5"/>
            <p:cNvSpPr/>
            <p:nvPr/>
          </p:nvSpPr>
          <p:spPr>
            <a:xfrm>
              <a:off x="1382760" y="4899600"/>
              <a:ext cx="498240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10" name="Group 6"/>
          <p:cNvGrpSpPr/>
          <p:nvPr/>
        </p:nvGrpSpPr>
        <p:grpSpPr>
          <a:xfrm>
            <a:off x="6654600" y="4899600"/>
            <a:ext cx="4982400" cy="4137840"/>
            <a:chOff x="6654600" y="4899600"/>
            <a:chExt cx="4982400" cy="4137840"/>
          </a:xfrm>
        </p:grpSpPr>
        <p:sp>
          <p:nvSpPr>
            <p:cNvPr id="111" name="Freeform 7"/>
            <p:cNvSpPr/>
            <p:nvPr/>
          </p:nvSpPr>
          <p:spPr>
            <a:xfrm>
              <a:off x="6654600" y="5010840"/>
              <a:ext cx="4982400" cy="4026600"/>
            </a:xfrm>
            <a:custGeom>
              <a:avLst/>
              <a:gdLst>
                <a:gd name="textAreaLeft" fmla="*/ 0 w 4982400"/>
                <a:gd name="textAreaRight" fmla="*/ 4982760 w 498240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1280520" h="1034814">
                  <a:moveTo>
                    <a:pt x="26413" y="0"/>
                  </a:moveTo>
                  <a:lnTo>
                    <a:pt x="1254108" y="0"/>
                  </a:lnTo>
                  <a:cubicBezTo>
                    <a:pt x="1261113" y="0"/>
                    <a:pt x="1267831" y="2783"/>
                    <a:pt x="1272784" y="7736"/>
                  </a:cubicBezTo>
                  <a:cubicBezTo>
                    <a:pt x="1277738" y="12689"/>
                    <a:pt x="1280520" y="19408"/>
                    <a:pt x="1280520" y="26413"/>
                  </a:cubicBezTo>
                  <a:lnTo>
                    <a:pt x="1280520" y="1008401"/>
                  </a:lnTo>
                  <a:cubicBezTo>
                    <a:pt x="1280520" y="1015406"/>
                    <a:pt x="1277738" y="1022124"/>
                    <a:pt x="1272784" y="1027078"/>
                  </a:cubicBezTo>
                  <a:cubicBezTo>
                    <a:pt x="1267831" y="1032031"/>
                    <a:pt x="1261113" y="1034814"/>
                    <a:pt x="1254108" y="1034814"/>
                  </a:cubicBezTo>
                  <a:lnTo>
                    <a:pt x="26413" y="1034814"/>
                  </a:lnTo>
                  <a:cubicBezTo>
                    <a:pt x="19408" y="1034814"/>
                    <a:pt x="12689" y="1032031"/>
                    <a:pt x="7736" y="1027078"/>
                  </a:cubicBezTo>
                  <a:cubicBezTo>
                    <a:pt x="2783" y="1022124"/>
                    <a:pt x="0" y="1015406"/>
                    <a:pt x="0" y="1008401"/>
                  </a:cubicBezTo>
                  <a:lnTo>
                    <a:pt x="0" y="26413"/>
                  </a:lnTo>
                  <a:cubicBezTo>
                    <a:pt x="0" y="19408"/>
                    <a:pt x="2783" y="12689"/>
                    <a:pt x="7736" y="7736"/>
                  </a:cubicBezTo>
                  <a:cubicBezTo>
                    <a:pt x="12689" y="2783"/>
                    <a:pt x="19408" y="0"/>
                    <a:pt x="26413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TextBox 8"/>
            <p:cNvSpPr/>
            <p:nvPr/>
          </p:nvSpPr>
          <p:spPr>
            <a:xfrm>
              <a:off x="6654600" y="4899600"/>
              <a:ext cx="498240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13" name="Group 9"/>
          <p:cNvGrpSpPr/>
          <p:nvPr/>
        </p:nvGrpSpPr>
        <p:grpSpPr>
          <a:xfrm>
            <a:off x="11922480" y="4899600"/>
            <a:ext cx="4982400" cy="4137840"/>
            <a:chOff x="11922480" y="4899600"/>
            <a:chExt cx="4982400" cy="4137840"/>
          </a:xfrm>
        </p:grpSpPr>
        <p:sp>
          <p:nvSpPr>
            <p:cNvPr id="114" name="Freeform 10"/>
            <p:cNvSpPr/>
            <p:nvPr/>
          </p:nvSpPr>
          <p:spPr>
            <a:xfrm>
              <a:off x="11922480" y="5010840"/>
              <a:ext cx="4982400" cy="4026600"/>
            </a:xfrm>
            <a:custGeom>
              <a:avLst/>
              <a:gdLst>
                <a:gd name="textAreaLeft" fmla="*/ 0 w 4982400"/>
                <a:gd name="textAreaRight" fmla="*/ 4982760 w 498240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1280520" h="1034814">
                  <a:moveTo>
                    <a:pt x="26413" y="0"/>
                  </a:moveTo>
                  <a:lnTo>
                    <a:pt x="1254108" y="0"/>
                  </a:lnTo>
                  <a:cubicBezTo>
                    <a:pt x="1261113" y="0"/>
                    <a:pt x="1267831" y="2783"/>
                    <a:pt x="1272784" y="7736"/>
                  </a:cubicBezTo>
                  <a:cubicBezTo>
                    <a:pt x="1277738" y="12689"/>
                    <a:pt x="1280520" y="19408"/>
                    <a:pt x="1280520" y="26413"/>
                  </a:cubicBezTo>
                  <a:lnTo>
                    <a:pt x="1280520" y="1008401"/>
                  </a:lnTo>
                  <a:cubicBezTo>
                    <a:pt x="1280520" y="1015406"/>
                    <a:pt x="1277738" y="1022124"/>
                    <a:pt x="1272784" y="1027078"/>
                  </a:cubicBezTo>
                  <a:cubicBezTo>
                    <a:pt x="1267831" y="1032031"/>
                    <a:pt x="1261113" y="1034814"/>
                    <a:pt x="1254108" y="1034814"/>
                  </a:cubicBezTo>
                  <a:lnTo>
                    <a:pt x="26413" y="1034814"/>
                  </a:lnTo>
                  <a:cubicBezTo>
                    <a:pt x="19408" y="1034814"/>
                    <a:pt x="12689" y="1032031"/>
                    <a:pt x="7736" y="1027078"/>
                  </a:cubicBezTo>
                  <a:cubicBezTo>
                    <a:pt x="2783" y="1022124"/>
                    <a:pt x="0" y="1015406"/>
                    <a:pt x="0" y="1008401"/>
                  </a:cubicBezTo>
                  <a:lnTo>
                    <a:pt x="0" y="26413"/>
                  </a:lnTo>
                  <a:cubicBezTo>
                    <a:pt x="0" y="19408"/>
                    <a:pt x="2783" y="12689"/>
                    <a:pt x="7736" y="7736"/>
                  </a:cubicBezTo>
                  <a:cubicBezTo>
                    <a:pt x="12689" y="2783"/>
                    <a:pt x="19408" y="0"/>
                    <a:pt x="26413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TextBox 11"/>
            <p:cNvSpPr/>
            <p:nvPr/>
          </p:nvSpPr>
          <p:spPr>
            <a:xfrm>
              <a:off x="11922480" y="4899600"/>
              <a:ext cx="498240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16" name="Freeform 12"/>
          <p:cNvSpPr/>
          <p:nvPr/>
        </p:nvSpPr>
        <p:spPr>
          <a:xfrm>
            <a:off x="17077320" y="1515960"/>
            <a:ext cx="181440" cy="332640"/>
          </a:xfrm>
          <a:custGeom>
            <a:avLst/>
            <a:gdLst>
              <a:gd name="textAreaLeft" fmla="*/ 0 w 181440"/>
              <a:gd name="textAreaRight" fmla="*/ 181800 w 181440"/>
              <a:gd name="textAreaTop" fmla="*/ 0 h 332640"/>
              <a:gd name="textAreaBottom" fmla="*/ 333000 h 332640"/>
            </a:gdLst>
            <a:ahLst/>
            <a:cxnLst/>
            <a:rect l="textAreaLeft" t="textAreaTop" r="textAreaRight" b="textAreaBottom"/>
            <a:pathLst>
              <a:path w="181881" h="332964">
                <a:moveTo>
                  <a:pt x="0" y="0"/>
                </a:moveTo>
                <a:lnTo>
                  <a:pt x="181881" y="0"/>
                </a:lnTo>
                <a:lnTo>
                  <a:pt x="181881" y="332963"/>
                </a:lnTo>
                <a:lnTo>
                  <a:pt x="0" y="332963"/>
                </a:lnTo>
                <a:lnTo>
                  <a:pt x="0" y="0"/>
                </a:lnTo>
                <a:close/>
              </a:path>
            </a:pathLst>
          </a:custGeom>
          <a:blipFill rotWithShape="0"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3"/>
          <p:cNvSpPr/>
          <p:nvPr/>
        </p:nvSpPr>
        <p:spPr>
          <a:xfrm>
            <a:off x="1464840" y="3333960"/>
            <a:ext cx="13008240" cy="61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40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Sprints successifs avec livraisons partielles fonctionnelles. Chaque sprint = développement → tests → merge sur main. Sprints 4-5 : UI Tailwind responsive + Admin panel avec images de couverture.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4"/>
          <p:cNvSpPr/>
          <p:nvPr/>
        </p:nvSpPr>
        <p:spPr>
          <a:xfrm>
            <a:off x="1883160" y="6825240"/>
            <a:ext cx="3875400" cy="130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6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Mise en place des fondations du projet : modèles de données, configuration de la base SQLite, structure de routing Flask. Première livraison testée et mergée sur main.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5"/>
          <p:cNvSpPr/>
          <p:nvPr/>
        </p:nvSpPr>
        <p:spPr>
          <a:xfrm>
            <a:off x="7155000" y="6825240"/>
            <a:ext cx="3875400" cy="104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6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Système d'authentification sécurisé : inscription, connexion, sessions Flask-Login, mots de passe hachés bcrypt. Tests complets avant merge.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6"/>
          <p:cNvSpPr/>
          <p:nvPr/>
        </p:nvSpPr>
        <p:spPr>
          <a:xfrm>
            <a:off x="12423240" y="6825240"/>
            <a:ext cx="3875400" cy="130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6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Gestion complète des livres : création, lecture, modification, suppression. Protection CSRF activée sur tous les formulaires. Validation et tests automatisés.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7"/>
          <p:cNvSpPr/>
          <p:nvPr/>
        </p:nvSpPr>
        <p:spPr>
          <a:xfrm>
            <a:off x="1883160" y="5782680"/>
            <a:ext cx="3875400" cy="32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690"/>
              </a:lnSpc>
              <a:tabLst>
                <a:tab pos="0" algn="l"/>
              </a:tabLst>
            </a:pPr>
            <a:r>
              <a:rPr lang="en-US" sz="2160" b="1" u="none" strike="noStrike" spc="23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Sprint 1 : Infrastructure</a:t>
            </a:r>
            <a:endParaRPr lang="en-GB" sz="2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8"/>
          <p:cNvSpPr/>
          <p:nvPr/>
        </p:nvSpPr>
        <p:spPr>
          <a:xfrm>
            <a:off x="7155000" y="5782680"/>
            <a:ext cx="3258720" cy="65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690"/>
              </a:lnSpc>
              <a:tabLst>
                <a:tab pos="0" algn="l"/>
              </a:tabLst>
            </a:pPr>
            <a:r>
              <a:rPr lang="en-US" sz="2160" b="1" u="none" strike="noStrike" spc="23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Sprint 2 : Authentification</a:t>
            </a:r>
            <a:endParaRPr lang="en-GB" sz="2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9"/>
          <p:cNvSpPr/>
          <p:nvPr/>
        </p:nvSpPr>
        <p:spPr>
          <a:xfrm>
            <a:off x="12423240" y="5782680"/>
            <a:ext cx="3258720" cy="32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690"/>
              </a:lnSpc>
              <a:tabLst>
                <a:tab pos="0" algn="l"/>
              </a:tabLst>
            </a:pPr>
            <a:r>
              <a:rPr lang="en-US" sz="2160" b="1" u="none" strike="noStrike" spc="23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Sprint 3 : CRUD &amp; CSRF</a:t>
            </a:r>
            <a:endParaRPr lang="en-GB" sz="2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0"/>
          <p:cNvSpPr/>
          <p:nvPr/>
        </p:nvSpPr>
        <p:spPr>
          <a:xfrm>
            <a:off x="1464840" y="1683000"/>
            <a:ext cx="109580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5170"/>
              </a:lnSpc>
              <a:tabLst>
                <a:tab pos="0" algn="l"/>
              </a:tabLst>
            </a:pPr>
            <a:r>
              <a:rPr lang="en-US" sz="4130" b="1" u="none" strike="noStrike" spc="45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La méthode Agile : principes appliqués</a:t>
            </a:r>
            <a:endParaRPr lang="en-GB" sz="4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6" name="Group 3"/>
          <p:cNvGrpSpPr/>
          <p:nvPr/>
        </p:nvGrpSpPr>
        <p:grpSpPr>
          <a:xfrm>
            <a:off x="1007640" y="3546000"/>
            <a:ext cx="3813840" cy="4137840"/>
            <a:chOff x="1007640" y="3546000"/>
            <a:chExt cx="3813840" cy="4137840"/>
          </a:xfrm>
        </p:grpSpPr>
        <p:sp>
          <p:nvSpPr>
            <p:cNvPr id="127" name="Freeform 4"/>
            <p:cNvSpPr/>
            <p:nvPr/>
          </p:nvSpPr>
          <p:spPr>
            <a:xfrm>
              <a:off x="100764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TextBox 5"/>
            <p:cNvSpPr/>
            <p:nvPr/>
          </p:nvSpPr>
          <p:spPr>
            <a:xfrm>
              <a:off x="100764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29" name="TextBox 6"/>
          <p:cNvSpPr/>
          <p:nvPr/>
        </p:nvSpPr>
        <p:spPr>
          <a:xfrm>
            <a:off x="1459440" y="5428080"/>
            <a:ext cx="2910240" cy="120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158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Fonctionnalités et bugs documentés avec titre, description, critères d'acceptation et labels (enhancement, bug, documentation).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7"/>
          <p:cNvSpPr/>
          <p:nvPr/>
        </p:nvSpPr>
        <p:spPr>
          <a:xfrm>
            <a:off x="1258560" y="4791960"/>
            <a:ext cx="3312720" cy="39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257"/>
              </a:lnSpc>
              <a:tabLst>
                <a:tab pos="0" algn="l"/>
              </a:tabLst>
            </a:pPr>
            <a:r>
              <a:rPr lang="en-US" sz="232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Issues</a:t>
            </a:r>
            <a:endParaRPr lang="en-GB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8"/>
          <p:cNvSpPr/>
          <p:nvPr/>
        </p:nvSpPr>
        <p:spPr>
          <a:xfrm>
            <a:off x="2394000" y="3916080"/>
            <a:ext cx="1041480" cy="72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6029"/>
              </a:lnSpc>
              <a:tabLst>
                <a:tab pos="0" algn="l"/>
              </a:tabLst>
            </a:pPr>
            <a:r>
              <a:rPr lang="en-US" sz="431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01</a:t>
            </a:r>
            <a:endParaRPr lang="en-GB" sz="4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2" name="Group 9"/>
          <p:cNvGrpSpPr/>
          <p:nvPr/>
        </p:nvGrpSpPr>
        <p:grpSpPr>
          <a:xfrm>
            <a:off x="13465800" y="3546000"/>
            <a:ext cx="3813840" cy="4137840"/>
            <a:chOff x="13465800" y="3546000"/>
            <a:chExt cx="3813840" cy="4137840"/>
          </a:xfrm>
        </p:grpSpPr>
        <p:sp>
          <p:nvSpPr>
            <p:cNvPr id="133" name="Freeform 10"/>
            <p:cNvSpPr/>
            <p:nvPr/>
          </p:nvSpPr>
          <p:spPr>
            <a:xfrm>
              <a:off x="134658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TextBox 11"/>
            <p:cNvSpPr/>
            <p:nvPr/>
          </p:nvSpPr>
          <p:spPr>
            <a:xfrm>
              <a:off x="134658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35" name="TextBox 12"/>
          <p:cNvSpPr/>
          <p:nvPr/>
        </p:nvSpPr>
        <p:spPr>
          <a:xfrm>
            <a:off x="13917960" y="5411880"/>
            <a:ext cx="2910240" cy="100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158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Traçabilité complète de chaque modification. Qui, quand, pourquoi. Retour arrière possible à tout moment.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3"/>
          <p:cNvSpPr/>
          <p:nvPr/>
        </p:nvSpPr>
        <p:spPr>
          <a:xfrm>
            <a:off x="14365440" y="4775760"/>
            <a:ext cx="2015280" cy="39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257"/>
              </a:lnSpc>
              <a:tabLst>
                <a:tab pos="0" algn="l"/>
              </a:tabLst>
            </a:pPr>
            <a:r>
              <a:rPr lang="en-US" sz="232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Historique</a:t>
            </a:r>
            <a:endParaRPr lang="en-GB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14"/>
          <p:cNvSpPr/>
          <p:nvPr/>
        </p:nvSpPr>
        <p:spPr>
          <a:xfrm>
            <a:off x="14852160" y="3955680"/>
            <a:ext cx="1041480" cy="72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6029"/>
              </a:lnSpc>
              <a:tabLst>
                <a:tab pos="0" algn="l"/>
              </a:tabLst>
            </a:pPr>
            <a:r>
              <a:rPr lang="en-US" sz="431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04</a:t>
            </a:r>
            <a:endParaRPr lang="en-GB" sz="4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8" name="Group 15"/>
          <p:cNvGrpSpPr/>
          <p:nvPr/>
        </p:nvGrpSpPr>
        <p:grpSpPr>
          <a:xfrm>
            <a:off x="9313200" y="3546000"/>
            <a:ext cx="3813840" cy="4137840"/>
            <a:chOff x="9313200" y="3546000"/>
            <a:chExt cx="3813840" cy="4137840"/>
          </a:xfrm>
        </p:grpSpPr>
        <p:sp>
          <p:nvSpPr>
            <p:cNvPr id="139" name="Freeform 16"/>
            <p:cNvSpPr/>
            <p:nvPr/>
          </p:nvSpPr>
          <p:spPr>
            <a:xfrm>
              <a:off x="93132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TextBox 17"/>
            <p:cNvSpPr/>
            <p:nvPr/>
          </p:nvSpPr>
          <p:spPr>
            <a:xfrm>
              <a:off x="93132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41" name="TextBox 18"/>
          <p:cNvSpPr/>
          <p:nvPr/>
        </p:nvSpPr>
        <p:spPr>
          <a:xfrm>
            <a:off x="9765000" y="5428080"/>
            <a:ext cx="2910240" cy="100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158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Revue obligatoire avant merge sur main. Description détaillée : changements, raisons, tests effectués. Qualité contrôlée.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19"/>
          <p:cNvSpPr/>
          <p:nvPr/>
        </p:nvSpPr>
        <p:spPr>
          <a:xfrm>
            <a:off x="10108800" y="4791960"/>
            <a:ext cx="2222640" cy="39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257"/>
              </a:lnSpc>
              <a:tabLst>
                <a:tab pos="0" algn="l"/>
              </a:tabLst>
            </a:pPr>
            <a:r>
              <a:rPr lang="en-US" sz="232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Pull Requests</a:t>
            </a:r>
            <a:endParaRPr lang="en-GB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20"/>
          <p:cNvSpPr/>
          <p:nvPr/>
        </p:nvSpPr>
        <p:spPr>
          <a:xfrm>
            <a:off x="10699560" y="3904920"/>
            <a:ext cx="1041480" cy="72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6029"/>
              </a:lnSpc>
              <a:tabLst>
                <a:tab pos="0" algn="l"/>
              </a:tabLst>
            </a:pPr>
            <a:r>
              <a:rPr lang="en-US" sz="431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03</a:t>
            </a:r>
            <a:endParaRPr lang="en-GB" sz="4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4" name="Group 21"/>
          <p:cNvGrpSpPr/>
          <p:nvPr/>
        </p:nvGrpSpPr>
        <p:grpSpPr>
          <a:xfrm>
            <a:off x="5160600" y="3546000"/>
            <a:ext cx="3813840" cy="4137840"/>
            <a:chOff x="5160600" y="3546000"/>
            <a:chExt cx="3813840" cy="4137840"/>
          </a:xfrm>
        </p:grpSpPr>
        <p:sp>
          <p:nvSpPr>
            <p:cNvPr id="145" name="Freeform 22"/>
            <p:cNvSpPr/>
            <p:nvPr/>
          </p:nvSpPr>
          <p:spPr>
            <a:xfrm>
              <a:off x="51606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" name="TextBox 23"/>
            <p:cNvSpPr/>
            <p:nvPr/>
          </p:nvSpPr>
          <p:spPr>
            <a:xfrm>
              <a:off x="51606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47" name="TextBox 24"/>
          <p:cNvSpPr/>
          <p:nvPr/>
        </p:nvSpPr>
        <p:spPr>
          <a:xfrm>
            <a:off x="5612400" y="5411880"/>
            <a:ext cx="2910240" cy="100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158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Une branche par issue avec convention stricte. Exemple : feat/image-couverture-issue42. Isolation du travail garantie.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25"/>
          <p:cNvSpPr/>
          <p:nvPr/>
        </p:nvSpPr>
        <p:spPr>
          <a:xfrm>
            <a:off x="5292000" y="4775760"/>
            <a:ext cx="3550680" cy="39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257"/>
              </a:lnSpc>
              <a:tabLst>
                <a:tab pos="0" algn="l"/>
              </a:tabLst>
            </a:pPr>
            <a:r>
              <a:rPr lang="en-US" sz="232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Branches</a:t>
            </a:r>
            <a:endParaRPr lang="en-GB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26"/>
          <p:cNvSpPr/>
          <p:nvPr/>
        </p:nvSpPr>
        <p:spPr>
          <a:xfrm>
            <a:off x="6546600" y="3904920"/>
            <a:ext cx="1041480" cy="72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6029"/>
              </a:lnSpc>
              <a:tabLst>
                <a:tab pos="0" algn="l"/>
              </a:tabLst>
            </a:pPr>
            <a:r>
              <a:rPr lang="en-US" sz="431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02</a:t>
            </a:r>
            <a:endParaRPr lang="en-GB" sz="4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27"/>
          <p:cNvSpPr/>
          <p:nvPr/>
        </p:nvSpPr>
        <p:spPr>
          <a:xfrm>
            <a:off x="2013840" y="1230480"/>
            <a:ext cx="14259960" cy="10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8481"/>
              </a:lnSpc>
              <a:tabLst>
                <a:tab pos="0" algn="l"/>
              </a:tabLst>
            </a:pPr>
            <a:r>
              <a:rPr lang="en-US" sz="606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GITHUB : NOTRE OUTIL DE PILOTAGE</a:t>
            </a:r>
            <a:endParaRPr lang="en-GB" sz="6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2" name="Group 3"/>
          <p:cNvGrpSpPr/>
          <p:nvPr/>
        </p:nvGrpSpPr>
        <p:grpSpPr>
          <a:xfrm>
            <a:off x="1382760" y="4899600"/>
            <a:ext cx="4982400" cy="4137840"/>
            <a:chOff x="1382760" y="4899600"/>
            <a:chExt cx="4982400" cy="4137840"/>
          </a:xfrm>
        </p:grpSpPr>
        <p:sp>
          <p:nvSpPr>
            <p:cNvPr id="153" name="Freeform 4"/>
            <p:cNvSpPr/>
            <p:nvPr/>
          </p:nvSpPr>
          <p:spPr>
            <a:xfrm>
              <a:off x="1382760" y="5010840"/>
              <a:ext cx="4982400" cy="4026600"/>
            </a:xfrm>
            <a:custGeom>
              <a:avLst/>
              <a:gdLst>
                <a:gd name="textAreaLeft" fmla="*/ 0 w 4982400"/>
                <a:gd name="textAreaRight" fmla="*/ 4982760 w 498240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1280520" h="1034814">
                  <a:moveTo>
                    <a:pt x="26413" y="0"/>
                  </a:moveTo>
                  <a:lnTo>
                    <a:pt x="1254108" y="0"/>
                  </a:lnTo>
                  <a:cubicBezTo>
                    <a:pt x="1261113" y="0"/>
                    <a:pt x="1267831" y="2783"/>
                    <a:pt x="1272784" y="7736"/>
                  </a:cubicBezTo>
                  <a:cubicBezTo>
                    <a:pt x="1277738" y="12689"/>
                    <a:pt x="1280520" y="19408"/>
                    <a:pt x="1280520" y="26413"/>
                  </a:cubicBezTo>
                  <a:lnTo>
                    <a:pt x="1280520" y="1008401"/>
                  </a:lnTo>
                  <a:cubicBezTo>
                    <a:pt x="1280520" y="1015406"/>
                    <a:pt x="1277738" y="1022124"/>
                    <a:pt x="1272784" y="1027078"/>
                  </a:cubicBezTo>
                  <a:cubicBezTo>
                    <a:pt x="1267831" y="1032031"/>
                    <a:pt x="1261113" y="1034814"/>
                    <a:pt x="1254108" y="1034814"/>
                  </a:cubicBezTo>
                  <a:lnTo>
                    <a:pt x="26413" y="1034814"/>
                  </a:lnTo>
                  <a:cubicBezTo>
                    <a:pt x="19408" y="1034814"/>
                    <a:pt x="12689" y="1032031"/>
                    <a:pt x="7736" y="1027078"/>
                  </a:cubicBezTo>
                  <a:cubicBezTo>
                    <a:pt x="2783" y="1022124"/>
                    <a:pt x="0" y="1015406"/>
                    <a:pt x="0" y="1008401"/>
                  </a:cubicBezTo>
                  <a:lnTo>
                    <a:pt x="0" y="26413"/>
                  </a:lnTo>
                  <a:cubicBezTo>
                    <a:pt x="0" y="19408"/>
                    <a:pt x="2783" y="12689"/>
                    <a:pt x="7736" y="7736"/>
                  </a:cubicBezTo>
                  <a:cubicBezTo>
                    <a:pt x="12689" y="2783"/>
                    <a:pt x="19408" y="0"/>
                    <a:pt x="26413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TextBox 5"/>
            <p:cNvSpPr/>
            <p:nvPr/>
          </p:nvSpPr>
          <p:spPr>
            <a:xfrm>
              <a:off x="1382760" y="4899600"/>
              <a:ext cx="498240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55" name="Group 6"/>
          <p:cNvGrpSpPr/>
          <p:nvPr/>
        </p:nvGrpSpPr>
        <p:grpSpPr>
          <a:xfrm>
            <a:off x="6654600" y="4899600"/>
            <a:ext cx="4982400" cy="4137840"/>
            <a:chOff x="6654600" y="4899600"/>
            <a:chExt cx="4982400" cy="4137840"/>
          </a:xfrm>
        </p:grpSpPr>
        <p:sp>
          <p:nvSpPr>
            <p:cNvPr id="156" name="Freeform 7"/>
            <p:cNvSpPr/>
            <p:nvPr/>
          </p:nvSpPr>
          <p:spPr>
            <a:xfrm>
              <a:off x="6654600" y="5010840"/>
              <a:ext cx="4982400" cy="4026600"/>
            </a:xfrm>
            <a:custGeom>
              <a:avLst/>
              <a:gdLst>
                <a:gd name="textAreaLeft" fmla="*/ 0 w 4982400"/>
                <a:gd name="textAreaRight" fmla="*/ 4982760 w 498240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1280520" h="1034814">
                  <a:moveTo>
                    <a:pt x="26413" y="0"/>
                  </a:moveTo>
                  <a:lnTo>
                    <a:pt x="1254108" y="0"/>
                  </a:lnTo>
                  <a:cubicBezTo>
                    <a:pt x="1261113" y="0"/>
                    <a:pt x="1267831" y="2783"/>
                    <a:pt x="1272784" y="7736"/>
                  </a:cubicBezTo>
                  <a:cubicBezTo>
                    <a:pt x="1277738" y="12689"/>
                    <a:pt x="1280520" y="19408"/>
                    <a:pt x="1280520" y="26413"/>
                  </a:cubicBezTo>
                  <a:lnTo>
                    <a:pt x="1280520" y="1008401"/>
                  </a:lnTo>
                  <a:cubicBezTo>
                    <a:pt x="1280520" y="1015406"/>
                    <a:pt x="1277738" y="1022124"/>
                    <a:pt x="1272784" y="1027078"/>
                  </a:cubicBezTo>
                  <a:cubicBezTo>
                    <a:pt x="1267831" y="1032031"/>
                    <a:pt x="1261113" y="1034814"/>
                    <a:pt x="1254108" y="1034814"/>
                  </a:cubicBezTo>
                  <a:lnTo>
                    <a:pt x="26413" y="1034814"/>
                  </a:lnTo>
                  <a:cubicBezTo>
                    <a:pt x="19408" y="1034814"/>
                    <a:pt x="12689" y="1032031"/>
                    <a:pt x="7736" y="1027078"/>
                  </a:cubicBezTo>
                  <a:cubicBezTo>
                    <a:pt x="2783" y="1022124"/>
                    <a:pt x="0" y="1015406"/>
                    <a:pt x="0" y="1008401"/>
                  </a:cubicBezTo>
                  <a:lnTo>
                    <a:pt x="0" y="26413"/>
                  </a:lnTo>
                  <a:cubicBezTo>
                    <a:pt x="0" y="19408"/>
                    <a:pt x="2783" y="12689"/>
                    <a:pt x="7736" y="7736"/>
                  </a:cubicBezTo>
                  <a:cubicBezTo>
                    <a:pt x="12689" y="2783"/>
                    <a:pt x="19408" y="0"/>
                    <a:pt x="26413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TextBox 8"/>
            <p:cNvSpPr/>
            <p:nvPr/>
          </p:nvSpPr>
          <p:spPr>
            <a:xfrm>
              <a:off x="6654600" y="4899600"/>
              <a:ext cx="498240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58" name="Group 9"/>
          <p:cNvGrpSpPr/>
          <p:nvPr/>
        </p:nvGrpSpPr>
        <p:grpSpPr>
          <a:xfrm>
            <a:off x="11922480" y="4899600"/>
            <a:ext cx="4982400" cy="4137840"/>
            <a:chOff x="11922480" y="4899600"/>
            <a:chExt cx="4982400" cy="4137840"/>
          </a:xfrm>
        </p:grpSpPr>
        <p:sp>
          <p:nvSpPr>
            <p:cNvPr id="159" name="Freeform 10"/>
            <p:cNvSpPr/>
            <p:nvPr/>
          </p:nvSpPr>
          <p:spPr>
            <a:xfrm>
              <a:off x="11922480" y="5010840"/>
              <a:ext cx="4982400" cy="4026600"/>
            </a:xfrm>
            <a:custGeom>
              <a:avLst/>
              <a:gdLst>
                <a:gd name="textAreaLeft" fmla="*/ 0 w 4982400"/>
                <a:gd name="textAreaRight" fmla="*/ 4982760 w 498240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1280520" h="1034814">
                  <a:moveTo>
                    <a:pt x="26413" y="0"/>
                  </a:moveTo>
                  <a:lnTo>
                    <a:pt x="1254108" y="0"/>
                  </a:lnTo>
                  <a:cubicBezTo>
                    <a:pt x="1261113" y="0"/>
                    <a:pt x="1267831" y="2783"/>
                    <a:pt x="1272784" y="7736"/>
                  </a:cubicBezTo>
                  <a:cubicBezTo>
                    <a:pt x="1277738" y="12689"/>
                    <a:pt x="1280520" y="19408"/>
                    <a:pt x="1280520" y="26413"/>
                  </a:cubicBezTo>
                  <a:lnTo>
                    <a:pt x="1280520" y="1008401"/>
                  </a:lnTo>
                  <a:cubicBezTo>
                    <a:pt x="1280520" y="1015406"/>
                    <a:pt x="1277738" y="1022124"/>
                    <a:pt x="1272784" y="1027078"/>
                  </a:cubicBezTo>
                  <a:cubicBezTo>
                    <a:pt x="1267831" y="1032031"/>
                    <a:pt x="1261113" y="1034814"/>
                    <a:pt x="1254108" y="1034814"/>
                  </a:cubicBezTo>
                  <a:lnTo>
                    <a:pt x="26413" y="1034814"/>
                  </a:lnTo>
                  <a:cubicBezTo>
                    <a:pt x="19408" y="1034814"/>
                    <a:pt x="12689" y="1032031"/>
                    <a:pt x="7736" y="1027078"/>
                  </a:cubicBezTo>
                  <a:cubicBezTo>
                    <a:pt x="2783" y="1022124"/>
                    <a:pt x="0" y="1015406"/>
                    <a:pt x="0" y="1008401"/>
                  </a:cubicBezTo>
                  <a:lnTo>
                    <a:pt x="0" y="26413"/>
                  </a:lnTo>
                  <a:cubicBezTo>
                    <a:pt x="0" y="19408"/>
                    <a:pt x="2783" y="12689"/>
                    <a:pt x="7736" y="7736"/>
                  </a:cubicBezTo>
                  <a:cubicBezTo>
                    <a:pt x="12689" y="2783"/>
                    <a:pt x="19408" y="0"/>
                    <a:pt x="26413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TextBox 11"/>
            <p:cNvSpPr/>
            <p:nvPr/>
          </p:nvSpPr>
          <p:spPr>
            <a:xfrm>
              <a:off x="11922480" y="4899600"/>
              <a:ext cx="498240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61" name="Freeform 12"/>
          <p:cNvSpPr/>
          <p:nvPr/>
        </p:nvSpPr>
        <p:spPr>
          <a:xfrm>
            <a:off x="17077320" y="1515960"/>
            <a:ext cx="181440" cy="332640"/>
          </a:xfrm>
          <a:custGeom>
            <a:avLst/>
            <a:gdLst>
              <a:gd name="textAreaLeft" fmla="*/ 0 w 181440"/>
              <a:gd name="textAreaRight" fmla="*/ 181800 w 181440"/>
              <a:gd name="textAreaTop" fmla="*/ 0 h 332640"/>
              <a:gd name="textAreaBottom" fmla="*/ 333000 h 332640"/>
            </a:gdLst>
            <a:ahLst/>
            <a:cxnLst/>
            <a:rect l="textAreaLeft" t="textAreaTop" r="textAreaRight" b="textAreaBottom"/>
            <a:pathLst>
              <a:path w="181881" h="332964">
                <a:moveTo>
                  <a:pt x="0" y="0"/>
                </a:moveTo>
                <a:lnTo>
                  <a:pt x="181881" y="0"/>
                </a:lnTo>
                <a:lnTo>
                  <a:pt x="181881" y="332963"/>
                </a:lnTo>
                <a:lnTo>
                  <a:pt x="0" y="332963"/>
                </a:lnTo>
                <a:lnTo>
                  <a:pt x="0" y="0"/>
                </a:lnTo>
                <a:close/>
              </a:path>
            </a:pathLst>
          </a:custGeom>
          <a:blipFill rotWithShape="0"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1464840" y="3529080"/>
            <a:ext cx="13008240" cy="61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40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Issue → Branche → Développement → Tests → PR → Review → Merge → Main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Chaque étape garantit la qualité et la traçabilité du code. Jamais de commit direct sur main.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883160" y="6825240"/>
            <a:ext cx="3875400" cy="130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6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Créer une issue avec titre, description et labels (enhancement, bug, documentation). Créer une branche dédiée depuis main avec convention de nommage stricte.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15"/>
          <p:cNvSpPr/>
          <p:nvPr/>
        </p:nvSpPr>
        <p:spPr>
          <a:xfrm>
            <a:off x="7155000" y="6825240"/>
            <a:ext cx="3875400" cy="104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6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Développer la fonctionnalité sur la branche. Écrire et exécuter les tests avant toute PR. Code testé = code prêt pour review.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16"/>
          <p:cNvSpPr/>
          <p:nvPr/>
        </p:nvSpPr>
        <p:spPr>
          <a:xfrm>
            <a:off x="12423240" y="6825240"/>
            <a:ext cx="3875400" cy="130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6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Pull Request avec description complète (changement, raison, tests). Review obligatoire avant merge. PR fermée = issue fermée automatiquement.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7"/>
          <p:cNvSpPr/>
          <p:nvPr/>
        </p:nvSpPr>
        <p:spPr>
          <a:xfrm>
            <a:off x="1883160" y="5772960"/>
            <a:ext cx="387540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52"/>
              </a:lnSpc>
              <a:tabLst>
                <a:tab pos="0" algn="l"/>
              </a:tabLst>
            </a:pPr>
            <a:r>
              <a:rPr lang="en-US" sz="253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Issue &amp; Branche</a:t>
            </a:r>
            <a:endParaRPr lang="en-GB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8"/>
          <p:cNvSpPr/>
          <p:nvPr/>
        </p:nvSpPr>
        <p:spPr>
          <a:xfrm>
            <a:off x="7155000" y="5772960"/>
            <a:ext cx="3258720" cy="79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52"/>
              </a:lnSpc>
              <a:tabLst>
                <a:tab pos="0" algn="l"/>
              </a:tabLst>
            </a:pPr>
            <a:r>
              <a:rPr lang="en-US" sz="253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Développement &amp; Tests</a:t>
            </a:r>
            <a:endParaRPr lang="en-GB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19"/>
          <p:cNvSpPr/>
          <p:nvPr/>
        </p:nvSpPr>
        <p:spPr>
          <a:xfrm>
            <a:off x="12423240" y="5772960"/>
            <a:ext cx="325872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52"/>
              </a:lnSpc>
              <a:tabLst>
                <a:tab pos="0" algn="l"/>
              </a:tabLst>
            </a:pPr>
            <a:r>
              <a:rPr lang="en-US" sz="253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PR → Merge</a:t>
            </a:r>
            <a:endParaRPr lang="en-GB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0"/>
          <p:cNvSpPr/>
          <p:nvPr/>
        </p:nvSpPr>
        <p:spPr>
          <a:xfrm>
            <a:off x="1464840" y="1673640"/>
            <a:ext cx="10958040" cy="88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7050"/>
              </a:lnSpc>
              <a:tabLst>
                <a:tab pos="0" algn="l"/>
              </a:tabLst>
            </a:pPr>
            <a:r>
              <a:rPr lang="en-US" sz="5640" b="1" u="none" strike="noStrike" spc="62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Le workflow GitHub en détail</a:t>
            </a:r>
            <a:endParaRPr lang="en-GB" sz="5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1" name="Group 3"/>
          <p:cNvGrpSpPr/>
          <p:nvPr/>
        </p:nvGrpSpPr>
        <p:grpSpPr>
          <a:xfrm>
            <a:off x="11477880" y="3354840"/>
            <a:ext cx="5065920" cy="5649840"/>
            <a:chOff x="11477880" y="3354840"/>
            <a:chExt cx="5065920" cy="5649840"/>
          </a:xfrm>
        </p:grpSpPr>
        <p:sp>
          <p:nvSpPr>
            <p:cNvPr id="172" name="Freeform 4"/>
            <p:cNvSpPr/>
            <p:nvPr/>
          </p:nvSpPr>
          <p:spPr>
            <a:xfrm>
              <a:off x="11477880" y="3466080"/>
              <a:ext cx="5065920" cy="5538600"/>
            </a:xfrm>
            <a:custGeom>
              <a:avLst/>
              <a:gdLst>
                <a:gd name="textAreaLeft" fmla="*/ 0 w 5065920"/>
                <a:gd name="textAreaRight" fmla="*/ 5066280 w 5065920"/>
                <a:gd name="textAreaTop" fmla="*/ 0 h 5538600"/>
                <a:gd name="textAreaBottom" fmla="*/ 5538960 h 5538600"/>
              </a:gdLst>
              <a:ahLst/>
              <a:cxnLst/>
              <a:rect l="textAreaLeft" t="textAreaTop" r="textAreaRight" b="textAreaBottom"/>
              <a:pathLst>
                <a:path w="1301964" h="1423386">
                  <a:moveTo>
                    <a:pt x="25978" y="0"/>
                  </a:moveTo>
                  <a:lnTo>
                    <a:pt x="1275986" y="0"/>
                  </a:lnTo>
                  <a:cubicBezTo>
                    <a:pt x="1290333" y="0"/>
                    <a:pt x="1301964" y="11631"/>
                    <a:pt x="1301964" y="25978"/>
                  </a:cubicBezTo>
                  <a:lnTo>
                    <a:pt x="1301964" y="1397408"/>
                  </a:lnTo>
                  <a:cubicBezTo>
                    <a:pt x="1301964" y="1404298"/>
                    <a:pt x="1299227" y="1410905"/>
                    <a:pt x="1294355" y="1415777"/>
                  </a:cubicBezTo>
                  <a:cubicBezTo>
                    <a:pt x="1289483" y="1420649"/>
                    <a:pt x="1282876" y="1423386"/>
                    <a:pt x="1275986" y="1423386"/>
                  </a:cubicBezTo>
                  <a:lnTo>
                    <a:pt x="25978" y="1423386"/>
                  </a:lnTo>
                  <a:cubicBezTo>
                    <a:pt x="19088" y="1423386"/>
                    <a:pt x="12480" y="1420649"/>
                    <a:pt x="7609" y="1415777"/>
                  </a:cubicBezTo>
                  <a:cubicBezTo>
                    <a:pt x="2737" y="1410905"/>
                    <a:pt x="0" y="1404298"/>
                    <a:pt x="0" y="1397408"/>
                  </a:cubicBezTo>
                  <a:lnTo>
                    <a:pt x="0" y="25978"/>
                  </a:lnTo>
                  <a:cubicBezTo>
                    <a:pt x="0" y="19088"/>
                    <a:pt x="2737" y="12480"/>
                    <a:pt x="7609" y="7609"/>
                  </a:cubicBezTo>
                  <a:cubicBezTo>
                    <a:pt x="12480" y="2737"/>
                    <a:pt x="19088" y="0"/>
                    <a:pt x="25978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TextBox 5"/>
            <p:cNvSpPr/>
            <p:nvPr/>
          </p:nvSpPr>
          <p:spPr>
            <a:xfrm>
              <a:off x="11477880" y="3354840"/>
              <a:ext cx="5065920" cy="564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74" name="TextBox 6"/>
          <p:cNvSpPr/>
          <p:nvPr/>
        </p:nvSpPr>
        <p:spPr>
          <a:xfrm>
            <a:off x="12120480" y="5073840"/>
            <a:ext cx="3708360" cy="175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Hachage bcrypt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Protection CSRF globale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Validation magic bytes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Contrôle de rôle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Whitelist extensions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Isolation des données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7"/>
          <p:cNvSpPr/>
          <p:nvPr/>
        </p:nvSpPr>
        <p:spPr>
          <a:xfrm>
            <a:off x="1304280" y="1999440"/>
            <a:ext cx="10264680" cy="120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4765"/>
              </a:lnSpc>
              <a:tabLst>
                <a:tab pos="0" algn="l"/>
              </a:tabLst>
            </a:pPr>
            <a:r>
              <a:rPr lang="en-US" sz="540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Architecture technique : vue d'ensemble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6" name="Group 8"/>
          <p:cNvGrpSpPr/>
          <p:nvPr/>
        </p:nvGrpSpPr>
        <p:grpSpPr>
          <a:xfrm>
            <a:off x="756000" y="3354840"/>
            <a:ext cx="5065920" cy="5649840"/>
            <a:chOff x="756000" y="3354840"/>
            <a:chExt cx="5065920" cy="5649840"/>
          </a:xfrm>
        </p:grpSpPr>
        <p:sp>
          <p:nvSpPr>
            <p:cNvPr id="177" name="Freeform 9"/>
            <p:cNvSpPr/>
            <p:nvPr/>
          </p:nvSpPr>
          <p:spPr>
            <a:xfrm>
              <a:off x="756000" y="3466080"/>
              <a:ext cx="5065920" cy="5538600"/>
            </a:xfrm>
            <a:custGeom>
              <a:avLst/>
              <a:gdLst>
                <a:gd name="textAreaLeft" fmla="*/ 0 w 5065920"/>
                <a:gd name="textAreaRight" fmla="*/ 5066280 w 5065920"/>
                <a:gd name="textAreaTop" fmla="*/ 0 h 5538600"/>
                <a:gd name="textAreaBottom" fmla="*/ 5538960 h 5538600"/>
              </a:gdLst>
              <a:ahLst/>
              <a:cxnLst/>
              <a:rect l="textAreaLeft" t="textAreaTop" r="textAreaRight" b="textAreaBottom"/>
              <a:pathLst>
                <a:path w="1301964" h="1423386">
                  <a:moveTo>
                    <a:pt x="25978" y="0"/>
                  </a:moveTo>
                  <a:lnTo>
                    <a:pt x="1275986" y="0"/>
                  </a:lnTo>
                  <a:cubicBezTo>
                    <a:pt x="1290333" y="0"/>
                    <a:pt x="1301964" y="11631"/>
                    <a:pt x="1301964" y="25978"/>
                  </a:cubicBezTo>
                  <a:lnTo>
                    <a:pt x="1301964" y="1397408"/>
                  </a:lnTo>
                  <a:cubicBezTo>
                    <a:pt x="1301964" y="1404298"/>
                    <a:pt x="1299227" y="1410905"/>
                    <a:pt x="1294355" y="1415777"/>
                  </a:cubicBezTo>
                  <a:cubicBezTo>
                    <a:pt x="1289483" y="1420649"/>
                    <a:pt x="1282876" y="1423386"/>
                    <a:pt x="1275986" y="1423386"/>
                  </a:cubicBezTo>
                  <a:lnTo>
                    <a:pt x="25978" y="1423386"/>
                  </a:lnTo>
                  <a:cubicBezTo>
                    <a:pt x="19088" y="1423386"/>
                    <a:pt x="12480" y="1420649"/>
                    <a:pt x="7609" y="1415777"/>
                  </a:cubicBezTo>
                  <a:cubicBezTo>
                    <a:pt x="2737" y="1410905"/>
                    <a:pt x="0" y="1404298"/>
                    <a:pt x="0" y="1397408"/>
                  </a:cubicBezTo>
                  <a:lnTo>
                    <a:pt x="0" y="25978"/>
                  </a:lnTo>
                  <a:cubicBezTo>
                    <a:pt x="0" y="19088"/>
                    <a:pt x="2737" y="12480"/>
                    <a:pt x="7609" y="7609"/>
                  </a:cubicBezTo>
                  <a:cubicBezTo>
                    <a:pt x="12480" y="2737"/>
                    <a:pt x="19088" y="0"/>
                    <a:pt x="25978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" name="TextBox 10"/>
            <p:cNvSpPr/>
            <p:nvPr/>
          </p:nvSpPr>
          <p:spPr>
            <a:xfrm>
              <a:off x="756000" y="3354840"/>
              <a:ext cx="5065920" cy="564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79" name="Group 11"/>
          <p:cNvGrpSpPr/>
          <p:nvPr/>
        </p:nvGrpSpPr>
        <p:grpSpPr>
          <a:xfrm>
            <a:off x="6116400" y="3354840"/>
            <a:ext cx="5065920" cy="5649840"/>
            <a:chOff x="6116400" y="3354840"/>
            <a:chExt cx="5065920" cy="5649840"/>
          </a:xfrm>
        </p:grpSpPr>
        <p:sp>
          <p:nvSpPr>
            <p:cNvPr id="180" name="Freeform 12"/>
            <p:cNvSpPr/>
            <p:nvPr/>
          </p:nvSpPr>
          <p:spPr>
            <a:xfrm>
              <a:off x="6116400" y="3466080"/>
              <a:ext cx="5065920" cy="5538600"/>
            </a:xfrm>
            <a:custGeom>
              <a:avLst/>
              <a:gdLst>
                <a:gd name="textAreaLeft" fmla="*/ 0 w 5065920"/>
                <a:gd name="textAreaRight" fmla="*/ 5066280 w 5065920"/>
                <a:gd name="textAreaTop" fmla="*/ 0 h 5538600"/>
                <a:gd name="textAreaBottom" fmla="*/ 5538960 h 5538600"/>
              </a:gdLst>
              <a:ahLst/>
              <a:cxnLst/>
              <a:rect l="textAreaLeft" t="textAreaTop" r="textAreaRight" b="textAreaBottom"/>
              <a:pathLst>
                <a:path w="1301964" h="1423386">
                  <a:moveTo>
                    <a:pt x="25978" y="0"/>
                  </a:moveTo>
                  <a:lnTo>
                    <a:pt x="1275986" y="0"/>
                  </a:lnTo>
                  <a:cubicBezTo>
                    <a:pt x="1290333" y="0"/>
                    <a:pt x="1301964" y="11631"/>
                    <a:pt x="1301964" y="25978"/>
                  </a:cubicBezTo>
                  <a:lnTo>
                    <a:pt x="1301964" y="1397408"/>
                  </a:lnTo>
                  <a:cubicBezTo>
                    <a:pt x="1301964" y="1404298"/>
                    <a:pt x="1299227" y="1410905"/>
                    <a:pt x="1294355" y="1415777"/>
                  </a:cubicBezTo>
                  <a:cubicBezTo>
                    <a:pt x="1289483" y="1420649"/>
                    <a:pt x="1282876" y="1423386"/>
                    <a:pt x="1275986" y="1423386"/>
                  </a:cubicBezTo>
                  <a:lnTo>
                    <a:pt x="25978" y="1423386"/>
                  </a:lnTo>
                  <a:cubicBezTo>
                    <a:pt x="19088" y="1423386"/>
                    <a:pt x="12480" y="1420649"/>
                    <a:pt x="7609" y="1415777"/>
                  </a:cubicBezTo>
                  <a:cubicBezTo>
                    <a:pt x="2737" y="1410905"/>
                    <a:pt x="0" y="1404298"/>
                    <a:pt x="0" y="1397408"/>
                  </a:cubicBezTo>
                  <a:lnTo>
                    <a:pt x="0" y="25978"/>
                  </a:lnTo>
                  <a:cubicBezTo>
                    <a:pt x="0" y="19088"/>
                    <a:pt x="2737" y="12480"/>
                    <a:pt x="7609" y="7609"/>
                  </a:cubicBezTo>
                  <a:cubicBezTo>
                    <a:pt x="12480" y="2737"/>
                    <a:pt x="19088" y="0"/>
                    <a:pt x="25978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TextBox 13"/>
            <p:cNvSpPr/>
            <p:nvPr/>
          </p:nvSpPr>
          <p:spPr>
            <a:xfrm>
              <a:off x="6116400" y="3354840"/>
              <a:ext cx="5065920" cy="564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82" name="TextBox 14"/>
          <p:cNvSpPr/>
          <p:nvPr/>
        </p:nvSpPr>
        <p:spPr>
          <a:xfrm>
            <a:off x="1389960" y="4188960"/>
            <a:ext cx="249444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61"/>
              </a:lnSpc>
              <a:tabLst>
                <a:tab pos="0" algn="l"/>
              </a:tabLst>
            </a:pPr>
            <a:r>
              <a:rPr lang="en-US" sz="25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Frontend</a:t>
            </a:r>
            <a:endParaRPr lang="en-GB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5"/>
          <p:cNvSpPr/>
          <p:nvPr/>
        </p:nvSpPr>
        <p:spPr>
          <a:xfrm>
            <a:off x="12120480" y="4188960"/>
            <a:ext cx="370836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61"/>
              </a:lnSpc>
              <a:tabLst>
                <a:tab pos="0" algn="l"/>
              </a:tabLst>
            </a:pPr>
            <a:r>
              <a:rPr lang="en-US" sz="25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Sécurité</a:t>
            </a:r>
            <a:endParaRPr lang="en-GB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6"/>
          <p:cNvSpPr/>
          <p:nvPr/>
        </p:nvSpPr>
        <p:spPr>
          <a:xfrm>
            <a:off x="6750720" y="4188960"/>
            <a:ext cx="370836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61"/>
              </a:lnSpc>
              <a:tabLst>
                <a:tab pos="0" algn="l"/>
              </a:tabLst>
            </a:pPr>
            <a:r>
              <a:rPr lang="en-US" sz="25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Backend &amp; Données</a:t>
            </a:r>
            <a:endParaRPr lang="en-GB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7"/>
          <p:cNvSpPr/>
          <p:nvPr/>
        </p:nvSpPr>
        <p:spPr>
          <a:xfrm>
            <a:off x="1389960" y="5073840"/>
            <a:ext cx="3708360" cy="175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Tailwind CSS CDN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Heroicons SVG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Police Inter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Templates Jinja2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Design responsive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Composants réutilisables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8"/>
          <p:cNvSpPr/>
          <p:nvPr/>
        </p:nvSpPr>
        <p:spPr>
          <a:xfrm>
            <a:off x="6750720" y="5073840"/>
            <a:ext cx="3708360" cy="146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Flask 3.0 avec Blueprints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Flask-Login &amp; Flask-WTF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SQLite + Flask-SQLAlchemy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Modèles Livre, Utilisateur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30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Uploads UUID, limite 2 Mo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8" name="Group 3"/>
          <p:cNvGrpSpPr/>
          <p:nvPr/>
        </p:nvGrpSpPr>
        <p:grpSpPr>
          <a:xfrm>
            <a:off x="1007640" y="3546000"/>
            <a:ext cx="3813840" cy="4137840"/>
            <a:chOff x="1007640" y="3546000"/>
            <a:chExt cx="3813840" cy="4137840"/>
          </a:xfrm>
        </p:grpSpPr>
        <p:sp>
          <p:nvSpPr>
            <p:cNvPr id="189" name="Freeform 4"/>
            <p:cNvSpPr/>
            <p:nvPr/>
          </p:nvSpPr>
          <p:spPr>
            <a:xfrm>
              <a:off x="100764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TextBox 5"/>
            <p:cNvSpPr/>
            <p:nvPr/>
          </p:nvSpPr>
          <p:spPr>
            <a:xfrm>
              <a:off x="100764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91" name="TextBox 6"/>
          <p:cNvSpPr/>
          <p:nvPr/>
        </p:nvSpPr>
        <p:spPr>
          <a:xfrm>
            <a:off x="1459440" y="5428080"/>
            <a:ext cx="2910240" cy="12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Gestion de l'authentification utilisateur : inscription, connexion sécurisée et déconnexion. Routes isolées pour une meilleure sécurité.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7"/>
          <p:cNvSpPr/>
          <p:nvPr/>
        </p:nvSpPr>
        <p:spPr>
          <a:xfrm>
            <a:off x="1258560" y="4791960"/>
            <a:ext cx="3312720" cy="39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257"/>
              </a:lnSpc>
              <a:tabLst>
                <a:tab pos="0" algn="l"/>
              </a:tabLst>
            </a:pPr>
            <a:r>
              <a:rPr lang="en-US" sz="232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auth</a:t>
            </a:r>
            <a:endParaRPr lang="en-GB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8"/>
          <p:cNvSpPr/>
          <p:nvPr/>
        </p:nvSpPr>
        <p:spPr>
          <a:xfrm>
            <a:off x="2394000" y="3916080"/>
            <a:ext cx="1041480" cy="72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6029"/>
              </a:lnSpc>
              <a:tabLst>
                <a:tab pos="0" algn="l"/>
              </a:tabLst>
            </a:pPr>
            <a:r>
              <a:rPr lang="en-US" sz="431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01</a:t>
            </a:r>
            <a:endParaRPr lang="en-GB" sz="4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4" name="Group 9"/>
          <p:cNvGrpSpPr/>
          <p:nvPr/>
        </p:nvGrpSpPr>
        <p:grpSpPr>
          <a:xfrm>
            <a:off x="13465800" y="3546000"/>
            <a:ext cx="3813840" cy="4137840"/>
            <a:chOff x="13465800" y="3546000"/>
            <a:chExt cx="3813840" cy="4137840"/>
          </a:xfrm>
        </p:grpSpPr>
        <p:sp>
          <p:nvSpPr>
            <p:cNvPr id="195" name="Freeform 10"/>
            <p:cNvSpPr/>
            <p:nvPr/>
          </p:nvSpPr>
          <p:spPr>
            <a:xfrm>
              <a:off x="134658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" name="TextBox 11"/>
            <p:cNvSpPr/>
            <p:nvPr/>
          </p:nvSpPr>
          <p:spPr>
            <a:xfrm>
              <a:off x="134658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97" name="TextBox 12"/>
          <p:cNvSpPr/>
          <p:nvPr/>
        </p:nvSpPr>
        <p:spPr>
          <a:xfrm>
            <a:off x="13917960" y="5411880"/>
            <a:ext cx="2910240" cy="12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Séparation des responsabilités · Routes groupées logiquement · Maintenance facilitée · Code modulaire et réutilisable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3"/>
          <p:cNvSpPr/>
          <p:nvPr/>
        </p:nvSpPr>
        <p:spPr>
          <a:xfrm>
            <a:off x="14365440" y="4775760"/>
            <a:ext cx="2015280" cy="39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257"/>
              </a:lnSpc>
              <a:tabLst>
                <a:tab pos="0" algn="l"/>
              </a:tabLst>
            </a:pPr>
            <a:r>
              <a:rPr lang="en-US" sz="232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Avantages</a:t>
            </a:r>
            <a:endParaRPr lang="en-GB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4"/>
          <p:cNvSpPr/>
          <p:nvPr/>
        </p:nvSpPr>
        <p:spPr>
          <a:xfrm>
            <a:off x="14852160" y="3955680"/>
            <a:ext cx="1041480" cy="72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6029"/>
              </a:lnSpc>
              <a:tabLst>
                <a:tab pos="0" algn="l"/>
              </a:tabLst>
            </a:pPr>
            <a:r>
              <a:rPr lang="en-US" sz="431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04</a:t>
            </a:r>
            <a:endParaRPr lang="en-GB" sz="4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0" name="Group 15"/>
          <p:cNvGrpSpPr/>
          <p:nvPr/>
        </p:nvGrpSpPr>
        <p:grpSpPr>
          <a:xfrm>
            <a:off x="9313200" y="3546000"/>
            <a:ext cx="3813840" cy="4137840"/>
            <a:chOff x="9313200" y="3546000"/>
            <a:chExt cx="3813840" cy="4137840"/>
          </a:xfrm>
        </p:grpSpPr>
        <p:sp>
          <p:nvSpPr>
            <p:cNvPr id="201" name="Freeform 16"/>
            <p:cNvSpPr/>
            <p:nvPr/>
          </p:nvSpPr>
          <p:spPr>
            <a:xfrm>
              <a:off x="93132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TextBox 17"/>
            <p:cNvSpPr/>
            <p:nvPr/>
          </p:nvSpPr>
          <p:spPr>
            <a:xfrm>
              <a:off x="93132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03" name="TextBox 18"/>
          <p:cNvSpPr/>
          <p:nvPr/>
        </p:nvSpPr>
        <p:spPr>
          <a:xfrm>
            <a:off x="9765000" y="5428080"/>
            <a:ext cx="2910240" cy="121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Dashboard administrateur : gestion des livres, des utilisateurs et attribution des rôles. Accès restreint aux admins uniquement.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19"/>
          <p:cNvSpPr/>
          <p:nvPr/>
        </p:nvSpPr>
        <p:spPr>
          <a:xfrm>
            <a:off x="10108800" y="4791960"/>
            <a:ext cx="2222640" cy="41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257"/>
              </a:lnSpc>
              <a:tabLst>
                <a:tab pos="0" algn="l"/>
              </a:tabLst>
            </a:pPr>
            <a:r>
              <a:rPr lang="en-US" sz="232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admin</a:t>
            </a:r>
            <a:endParaRPr lang="en-GB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20"/>
          <p:cNvSpPr/>
          <p:nvPr/>
        </p:nvSpPr>
        <p:spPr>
          <a:xfrm>
            <a:off x="10699560" y="3904920"/>
            <a:ext cx="1041480" cy="72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6029"/>
              </a:lnSpc>
              <a:tabLst>
                <a:tab pos="0" algn="l"/>
              </a:tabLst>
            </a:pPr>
            <a:r>
              <a:rPr lang="en-US" sz="431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03</a:t>
            </a:r>
            <a:endParaRPr lang="en-GB" sz="4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6" name="Group 21"/>
          <p:cNvGrpSpPr/>
          <p:nvPr/>
        </p:nvGrpSpPr>
        <p:grpSpPr>
          <a:xfrm>
            <a:off x="5160600" y="3546000"/>
            <a:ext cx="3813840" cy="4137840"/>
            <a:chOff x="5160600" y="3546000"/>
            <a:chExt cx="3813840" cy="4137840"/>
          </a:xfrm>
        </p:grpSpPr>
        <p:sp>
          <p:nvSpPr>
            <p:cNvPr id="207" name="Freeform 22"/>
            <p:cNvSpPr/>
            <p:nvPr/>
          </p:nvSpPr>
          <p:spPr>
            <a:xfrm>
              <a:off x="51606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8" name="TextBox 23"/>
            <p:cNvSpPr/>
            <p:nvPr/>
          </p:nvSpPr>
          <p:spPr>
            <a:xfrm>
              <a:off x="51606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09" name="TextBox 24"/>
          <p:cNvSpPr/>
          <p:nvPr/>
        </p:nvSpPr>
        <p:spPr>
          <a:xfrm>
            <a:off x="5612400" y="5411880"/>
            <a:ext cx="2910240" cy="146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Interface publique : catalogue des livres, pages de détail, formulaires d'emprunt et de réservation. Expérience utilisateur complète.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25"/>
          <p:cNvSpPr/>
          <p:nvPr/>
        </p:nvSpPr>
        <p:spPr>
          <a:xfrm>
            <a:off x="5292000" y="4775760"/>
            <a:ext cx="3550680" cy="39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257"/>
              </a:lnSpc>
              <a:tabLst>
                <a:tab pos="0" algn="l"/>
              </a:tabLst>
            </a:pPr>
            <a:r>
              <a:rPr lang="en-US" sz="232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pages</a:t>
            </a:r>
            <a:endParaRPr lang="en-GB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26"/>
          <p:cNvSpPr/>
          <p:nvPr/>
        </p:nvSpPr>
        <p:spPr>
          <a:xfrm>
            <a:off x="6546600" y="3904920"/>
            <a:ext cx="1041480" cy="72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6029"/>
              </a:lnSpc>
              <a:tabLst>
                <a:tab pos="0" algn="l"/>
              </a:tabLst>
            </a:pPr>
            <a:r>
              <a:rPr lang="en-US" sz="431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02</a:t>
            </a:r>
            <a:endParaRPr lang="en-GB" sz="4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27"/>
          <p:cNvSpPr/>
          <p:nvPr/>
        </p:nvSpPr>
        <p:spPr>
          <a:xfrm>
            <a:off x="2013840" y="1192320"/>
            <a:ext cx="14259960" cy="134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11030"/>
              </a:lnSpc>
              <a:tabLst>
                <a:tab pos="0" algn="l"/>
              </a:tabLst>
            </a:pPr>
            <a:r>
              <a:rPr lang="en-US" sz="788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LES BLUEPRINTS FLASK</a:t>
            </a:r>
            <a:endParaRPr lang="en-GB" sz="7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14" name="Group 3"/>
          <p:cNvGrpSpPr/>
          <p:nvPr/>
        </p:nvGrpSpPr>
        <p:grpSpPr>
          <a:xfrm>
            <a:off x="7968600" y="1660320"/>
            <a:ext cx="8943120" cy="2200320"/>
            <a:chOff x="7968600" y="1660320"/>
            <a:chExt cx="8943120" cy="2200320"/>
          </a:xfrm>
        </p:grpSpPr>
        <p:sp>
          <p:nvSpPr>
            <p:cNvPr id="215" name="Freeform 4"/>
            <p:cNvSpPr/>
            <p:nvPr/>
          </p:nvSpPr>
          <p:spPr>
            <a:xfrm>
              <a:off x="7968600" y="177408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6" name="TextBox 5"/>
            <p:cNvSpPr/>
            <p:nvPr/>
          </p:nvSpPr>
          <p:spPr>
            <a:xfrm>
              <a:off x="7968600" y="166032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217" name="Group 6"/>
          <p:cNvGrpSpPr/>
          <p:nvPr/>
        </p:nvGrpSpPr>
        <p:grpSpPr>
          <a:xfrm>
            <a:off x="7968600" y="3987000"/>
            <a:ext cx="8943120" cy="2200320"/>
            <a:chOff x="7968600" y="3987000"/>
            <a:chExt cx="8943120" cy="2200320"/>
          </a:xfrm>
        </p:grpSpPr>
        <p:sp>
          <p:nvSpPr>
            <p:cNvPr id="218" name="Freeform 7"/>
            <p:cNvSpPr/>
            <p:nvPr/>
          </p:nvSpPr>
          <p:spPr>
            <a:xfrm>
              <a:off x="7968600" y="410076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9" name="TextBox 8"/>
            <p:cNvSpPr/>
            <p:nvPr/>
          </p:nvSpPr>
          <p:spPr>
            <a:xfrm>
              <a:off x="7968600" y="398700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220" name="Group 9"/>
          <p:cNvGrpSpPr/>
          <p:nvPr/>
        </p:nvGrpSpPr>
        <p:grpSpPr>
          <a:xfrm>
            <a:off x="7968600" y="6312240"/>
            <a:ext cx="8943120" cy="2200320"/>
            <a:chOff x="7968600" y="6312240"/>
            <a:chExt cx="8943120" cy="2200320"/>
          </a:xfrm>
        </p:grpSpPr>
        <p:sp>
          <p:nvSpPr>
            <p:cNvPr id="221" name="Freeform 10"/>
            <p:cNvSpPr/>
            <p:nvPr/>
          </p:nvSpPr>
          <p:spPr>
            <a:xfrm>
              <a:off x="7968600" y="642600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2" name="TextBox 11"/>
            <p:cNvSpPr/>
            <p:nvPr/>
          </p:nvSpPr>
          <p:spPr>
            <a:xfrm>
              <a:off x="7968600" y="631224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23" name="TextBox 12"/>
          <p:cNvSpPr/>
          <p:nvPr/>
        </p:nvSpPr>
        <p:spPr>
          <a:xfrm>
            <a:off x="9131040" y="2615040"/>
            <a:ext cx="7470360" cy="79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9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Affichage des livres avec miniatures de couverture ou placeholder SVG généré automatiquement. Navigation fluide et responsive avec Tailwind CSS.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13"/>
          <p:cNvSpPr/>
          <p:nvPr/>
        </p:nvSpPr>
        <p:spPr>
          <a:xfrm>
            <a:off x="9131040" y="4941720"/>
            <a:ext cx="7470360" cy="79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9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Vue complète : image pleine taille, auteur, année de publication, statut de disponibilité en temps réel. Boutons d'action contextuels selon le rôle utilisateur.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14"/>
          <p:cNvSpPr/>
          <p:nvPr/>
        </p:nvSpPr>
        <p:spPr>
          <a:xfrm>
            <a:off x="9131040" y="7266960"/>
            <a:ext cx="7470360" cy="79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9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Formulaire ajout/modification avec upload d'image sécurisé. Suppression avec nettoyage automatique des fichiers. Recherche et filtre par disponibilité intégrés.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15"/>
          <p:cNvSpPr/>
          <p:nvPr/>
        </p:nvSpPr>
        <p:spPr>
          <a:xfrm>
            <a:off x="1457640" y="5760000"/>
            <a:ext cx="5473440" cy="98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57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Gestion complète du catalogue de livres avec interface intuitive, recherche avancée et filtrage par disponibilité.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16"/>
          <p:cNvSpPr/>
          <p:nvPr/>
        </p:nvSpPr>
        <p:spPr>
          <a:xfrm>
            <a:off x="9131040" y="2014200"/>
            <a:ext cx="490896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231"/>
              </a:lnSpc>
              <a:tabLst>
                <a:tab pos="0" algn="l"/>
              </a:tabLst>
            </a:pPr>
            <a:r>
              <a:rPr lang="en-US" sz="260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Liste &amp; Miniatures</a:t>
            </a:r>
            <a:endParaRPr lang="en-GB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17"/>
          <p:cNvSpPr/>
          <p:nvPr/>
        </p:nvSpPr>
        <p:spPr>
          <a:xfrm>
            <a:off x="9131040" y="4340880"/>
            <a:ext cx="4370760" cy="41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231"/>
              </a:lnSpc>
              <a:tabLst>
                <a:tab pos="0" algn="l"/>
              </a:tabLst>
            </a:pPr>
            <a:r>
              <a:rPr lang="en-US" sz="260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Page Détail</a:t>
            </a:r>
            <a:endParaRPr lang="en-GB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18"/>
          <p:cNvSpPr/>
          <p:nvPr/>
        </p:nvSpPr>
        <p:spPr>
          <a:xfrm>
            <a:off x="9131040" y="6666120"/>
            <a:ext cx="490896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231"/>
              </a:lnSpc>
              <a:tabLst>
                <a:tab pos="0" algn="l"/>
              </a:tabLst>
            </a:pPr>
            <a:r>
              <a:rPr lang="en-US" sz="260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Gestion &amp; Upload</a:t>
            </a:r>
            <a:endParaRPr lang="en-GB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19"/>
          <p:cNvSpPr/>
          <p:nvPr/>
        </p:nvSpPr>
        <p:spPr>
          <a:xfrm>
            <a:off x="8078760" y="2028600"/>
            <a:ext cx="848880" cy="55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4448"/>
              </a:lnSpc>
              <a:tabLst>
                <a:tab pos="0" algn="l"/>
              </a:tabLst>
            </a:pPr>
            <a:r>
              <a:rPr lang="en-US" sz="3570" b="1" u="none" strike="noStrike" spc="4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01</a:t>
            </a:r>
            <a:endParaRPr lang="en-GB" sz="3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20"/>
          <p:cNvSpPr/>
          <p:nvPr/>
        </p:nvSpPr>
        <p:spPr>
          <a:xfrm>
            <a:off x="8078760" y="4355280"/>
            <a:ext cx="848880" cy="55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4448"/>
              </a:lnSpc>
              <a:tabLst>
                <a:tab pos="0" algn="l"/>
              </a:tabLst>
            </a:pPr>
            <a:r>
              <a:rPr lang="en-US" sz="3570" b="1" u="none" strike="noStrike" spc="4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02</a:t>
            </a:r>
            <a:endParaRPr lang="en-GB" sz="3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21"/>
          <p:cNvSpPr/>
          <p:nvPr/>
        </p:nvSpPr>
        <p:spPr>
          <a:xfrm>
            <a:off x="8078760" y="6680520"/>
            <a:ext cx="848880" cy="55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4448"/>
              </a:lnSpc>
              <a:tabLst>
                <a:tab pos="0" algn="l"/>
              </a:tabLst>
            </a:pPr>
            <a:r>
              <a:rPr lang="en-US" sz="3570" b="1" u="none" strike="noStrike" spc="4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03</a:t>
            </a:r>
            <a:endParaRPr lang="en-GB" sz="3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22"/>
          <p:cNvSpPr/>
          <p:nvPr/>
        </p:nvSpPr>
        <p:spPr>
          <a:xfrm>
            <a:off x="1457640" y="3048480"/>
            <a:ext cx="6510600" cy="167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6644"/>
              </a:lnSpc>
              <a:tabLst>
                <a:tab pos="0" algn="l"/>
              </a:tabLst>
            </a:pPr>
            <a:r>
              <a:rPr lang="en-US" sz="5310" b="1" u="none" strike="noStrike" spc="57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Fonctionnalité : Catalogue &amp; livres</a:t>
            </a:r>
            <a:endParaRPr lang="en-GB" sz="5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5" name="Group 3"/>
          <p:cNvGrpSpPr/>
          <p:nvPr/>
        </p:nvGrpSpPr>
        <p:grpSpPr>
          <a:xfrm>
            <a:off x="7968600" y="1660320"/>
            <a:ext cx="8943120" cy="2200320"/>
            <a:chOff x="7968600" y="1660320"/>
            <a:chExt cx="8943120" cy="2200320"/>
          </a:xfrm>
        </p:grpSpPr>
        <p:sp>
          <p:nvSpPr>
            <p:cNvPr id="236" name="Freeform 4"/>
            <p:cNvSpPr/>
            <p:nvPr/>
          </p:nvSpPr>
          <p:spPr>
            <a:xfrm>
              <a:off x="7968600" y="177408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7" name="TextBox 5"/>
            <p:cNvSpPr/>
            <p:nvPr/>
          </p:nvSpPr>
          <p:spPr>
            <a:xfrm>
              <a:off x="7968600" y="166032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238" name="Group 6"/>
          <p:cNvGrpSpPr/>
          <p:nvPr/>
        </p:nvGrpSpPr>
        <p:grpSpPr>
          <a:xfrm>
            <a:off x="7968600" y="3987000"/>
            <a:ext cx="8943120" cy="2200320"/>
            <a:chOff x="7968600" y="3987000"/>
            <a:chExt cx="8943120" cy="2200320"/>
          </a:xfrm>
        </p:grpSpPr>
        <p:sp>
          <p:nvSpPr>
            <p:cNvPr id="239" name="Freeform 7"/>
            <p:cNvSpPr/>
            <p:nvPr/>
          </p:nvSpPr>
          <p:spPr>
            <a:xfrm>
              <a:off x="7968600" y="410076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0" name="TextBox 8"/>
            <p:cNvSpPr/>
            <p:nvPr/>
          </p:nvSpPr>
          <p:spPr>
            <a:xfrm>
              <a:off x="7968600" y="398700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241" name="Group 9"/>
          <p:cNvGrpSpPr/>
          <p:nvPr/>
        </p:nvGrpSpPr>
        <p:grpSpPr>
          <a:xfrm>
            <a:off x="7968600" y="6312240"/>
            <a:ext cx="8943120" cy="2200320"/>
            <a:chOff x="7968600" y="6312240"/>
            <a:chExt cx="8943120" cy="2200320"/>
          </a:xfrm>
        </p:grpSpPr>
        <p:sp>
          <p:nvSpPr>
            <p:cNvPr id="242" name="Freeform 10"/>
            <p:cNvSpPr/>
            <p:nvPr/>
          </p:nvSpPr>
          <p:spPr>
            <a:xfrm>
              <a:off x="7968600" y="642600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3" name="TextBox 11"/>
            <p:cNvSpPr/>
            <p:nvPr/>
          </p:nvSpPr>
          <p:spPr>
            <a:xfrm>
              <a:off x="7968600" y="631224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44" name="TextBox 12"/>
          <p:cNvSpPr/>
          <p:nvPr/>
        </p:nvSpPr>
        <p:spPr>
          <a:xfrm>
            <a:off x="9131040" y="2615040"/>
            <a:ext cx="7470360" cy="79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9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Inscription avec validation complète des champs (email, mot de passe). Connexion sécurisée via Flask-Login avec sessions persistantes. Déconnexion propre avec invalidation de session.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13"/>
          <p:cNvSpPr/>
          <p:nvPr/>
        </p:nvSpPr>
        <p:spPr>
          <a:xfrm>
            <a:off x="9131040" y="4941720"/>
            <a:ext cx="7470360" cy="79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9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Mots de passe hachés avec bcrypt — jamais stockés en clair. Sel automatique par hash pour chaque utilisateur. Comparaison sécurisée empêchant les attaques par timing.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14"/>
          <p:cNvSpPr/>
          <p:nvPr/>
        </p:nvSpPr>
        <p:spPr>
          <a:xfrm>
            <a:off x="9131040" y="7266960"/>
            <a:ext cx="7470360" cy="797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095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Modale de bienvenue au premier lancement (setup_needed). Accès conditionnel selon rôle : user standard ou admin. Vérification des permissions à chaque requête protégée.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15"/>
          <p:cNvSpPr/>
          <p:nvPr/>
        </p:nvSpPr>
        <p:spPr>
          <a:xfrm>
            <a:off x="1457640" y="5309280"/>
            <a:ext cx="5473440" cy="94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57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Système d'authentification sécurisé intégré avec Flask-Login, garantissant la protection des données utilisateurs et le contrôle d'accès selon les rôles.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16"/>
          <p:cNvSpPr/>
          <p:nvPr/>
        </p:nvSpPr>
        <p:spPr>
          <a:xfrm>
            <a:off x="9131040" y="2023920"/>
            <a:ext cx="5808960" cy="30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435"/>
              </a:lnSpc>
              <a:tabLst>
                <a:tab pos="0" algn="l"/>
              </a:tabLst>
            </a:pPr>
            <a:r>
              <a:rPr lang="en-US" sz="1960" b="1" u="none" strike="noStrike" spc="2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Inscription &amp; Connexion</a:t>
            </a:r>
            <a:endParaRPr lang="en-GB" sz="1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17"/>
          <p:cNvSpPr/>
          <p:nvPr/>
        </p:nvSpPr>
        <p:spPr>
          <a:xfrm>
            <a:off x="9131040" y="4350600"/>
            <a:ext cx="437076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435"/>
              </a:lnSpc>
              <a:tabLst>
                <a:tab pos="0" algn="l"/>
              </a:tabLst>
            </a:pPr>
            <a:r>
              <a:rPr lang="en-US" sz="1960" b="1" u="none" strike="noStrike" spc="2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Sécurité des mots de passe</a:t>
            </a:r>
            <a:endParaRPr lang="en-GB" sz="1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8"/>
          <p:cNvSpPr/>
          <p:nvPr/>
        </p:nvSpPr>
        <p:spPr>
          <a:xfrm>
            <a:off x="9131040" y="6675840"/>
            <a:ext cx="319356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435"/>
              </a:lnSpc>
              <a:tabLst>
                <a:tab pos="0" algn="l"/>
              </a:tabLst>
            </a:pPr>
            <a:r>
              <a:rPr lang="en-US" sz="1960" b="1" u="none" strike="noStrike" spc="20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Contrôle d'accès</a:t>
            </a:r>
            <a:endParaRPr lang="en-GB" sz="1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9"/>
          <p:cNvSpPr/>
          <p:nvPr/>
        </p:nvSpPr>
        <p:spPr>
          <a:xfrm>
            <a:off x="8078760" y="2028600"/>
            <a:ext cx="84888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353"/>
              </a:lnSpc>
              <a:tabLst>
                <a:tab pos="0" algn="l"/>
              </a:tabLst>
            </a:pPr>
            <a:r>
              <a:rPr lang="en-US" sz="270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01</a:t>
            </a:r>
            <a:endParaRPr lang="en-GB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20"/>
          <p:cNvSpPr/>
          <p:nvPr/>
        </p:nvSpPr>
        <p:spPr>
          <a:xfrm>
            <a:off x="8078760" y="4355280"/>
            <a:ext cx="84888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353"/>
              </a:lnSpc>
              <a:tabLst>
                <a:tab pos="0" algn="l"/>
              </a:tabLst>
            </a:pPr>
            <a:r>
              <a:rPr lang="en-US" sz="270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02</a:t>
            </a:r>
            <a:endParaRPr lang="en-GB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21"/>
          <p:cNvSpPr/>
          <p:nvPr/>
        </p:nvSpPr>
        <p:spPr>
          <a:xfrm>
            <a:off x="8078760" y="6680520"/>
            <a:ext cx="84888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353"/>
              </a:lnSpc>
              <a:tabLst>
                <a:tab pos="0" algn="l"/>
              </a:tabLst>
            </a:pPr>
            <a:r>
              <a:rPr lang="en-US" sz="270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03</a:t>
            </a:r>
            <a:endParaRPr lang="en-GB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22"/>
          <p:cNvSpPr/>
          <p:nvPr/>
        </p:nvSpPr>
        <p:spPr>
          <a:xfrm>
            <a:off x="737640" y="3025800"/>
            <a:ext cx="7002360" cy="183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7223"/>
              </a:lnSpc>
              <a:tabLst>
                <a:tab pos="0" algn="l"/>
              </a:tabLst>
            </a:pPr>
            <a:r>
              <a:rPr lang="en-US" sz="5770" b="1" u="none" strike="noStrike" spc="62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Fonctionnalité : Authentification</a:t>
            </a:r>
            <a:endParaRPr lang="en-GB" sz="5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6" name="Group 3"/>
          <p:cNvGrpSpPr/>
          <p:nvPr/>
        </p:nvGrpSpPr>
        <p:grpSpPr>
          <a:xfrm>
            <a:off x="1007640" y="3546000"/>
            <a:ext cx="3813840" cy="4137840"/>
            <a:chOff x="1007640" y="3546000"/>
            <a:chExt cx="3813840" cy="4137840"/>
          </a:xfrm>
        </p:grpSpPr>
        <p:sp>
          <p:nvSpPr>
            <p:cNvPr id="257" name="Freeform 4"/>
            <p:cNvSpPr/>
            <p:nvPr/>
          </p:nvSpPr>
          <p:spPr>
            <a:xfrm>
              <a:off x="100764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8" name="TextBox 5"/>
            <p:cNvSpPr/>
            <p:nvPr/>
          </p:nvSpPr>
          <p:spPr>
            <a:xfrm>
              <a:off x="100764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59" name="TextBox 6"/>
          <p:cNvSpPr/>
          <p:nvPr/>
        </p:nvSpPr>
        <p:spPr>
          <a:xfrm>
            <a:off x="1459440" y="5428080"/>
            <a:ext cx="2910240" cy="170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Accessible uniquement aux utilisateurs avec is_admin = True en base de données. Vérification du rôle côté serveur à chaque requête pour garantir la sécurité des routes sensibles.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7"/>
          <p:cNvSpPr/>
          <p:nvPr/>
        </p:nvSpPr>
        <p:spPr>
          <a:xfrm>
            <a:off x="1258560" y="4811040"/>
            <a:ext cx="331272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2149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Accès Restreint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8"/>
          <p:cNvSpPr/>
          <p:nvPr/>
        </p:nvSpPr>
        <p:spPr>
          <a:xfrm>
            <a:off x="2394000" y="3934800"/>
            <a:ext cx="1041480" cy="48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977"/>
              </a:lnSpc>
              <a:tabLst>
                <a:tab pos="0" algn="l"/>
              </a:tabLst>
            </a:pPr>
            <a:r>
              <a:rPr lang="en-US" sz="28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01</a:t>
            </a:r>
            <a:endParaRPr lang="en-GB" sz="2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62" name="Group 9"/>
          <p:cNvGrpSpPr/>
          <p:nvPr/>
        </p:nvGrpSpPr>
        <p:grpSpPr>
          <a:xfrm>
            <a:off x="13465800" y="3546000"/>
            <a:ext cx="3813840" cy="4137840"/>
            <a:chOff x="13465800" y="3546000"/>
            <a:chExt cx="3813840" cy="4137840"/>
          </a:xfrm>
        </p:grpSpPr>
        <p:sp>
          <p:nvSpPr>
            <p:cNvPr id="263" name="Freeform 10"/>
            <p:cNvSpPr/>
            <p:nvPr/>
          </p:nvSpPr>
          <p:spPr>
            <a:xfrm>
              <a:off x="134658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4" name="TextBox 11"/>
            <p:cNvSpPr/>
            <p:nvPr/>
          </p:nvSpPr>
          <p:spPr>
            <a:xfrm>
              <a:off x="134658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65" name="TextBox 12"/>
          <p:cNvSpPr/>
          <p:nvPr/>
        </p:nvSpPr>
        <p:spPr>
          <a:xfrm>
            <a:off x="13917960" y="5411880"/>
            <a:ext cx="2910240" cy="170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Liste des comptes avec promotion/rétrogradation admin en un clic. Suppression sécurisée des utilisateurs. Protection serveur : vérification rôle à chaque route admin.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13"/>
          <p:cNvSpPr/>
          <p:nvPr/>
        </p:nvSpPr>
        <p:spPr>
          <a:xfrm>
            <a:off x="14040000" y="4794840"/>
            <a:ext cx="2880000" cy="27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2149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Gestion Utilisateurs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14"/>
          <p:cNvSpPr/>
          <p:nvPr/>
        </p:nvSpPr>
        <p:spPr>
          <a:xfrm>
            <a:off x="14852160" y="3974760"/>
            <a:ext cx="1041480" cy="48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977"/>
              </a:lnSpc>
              <a:tabLst>
                <a:tab pos="0" algn="l"/>
              </a:tabLst>
            </a:pPr>
            <a:r>
              <a:rPr lang="en-US" sz="28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04</a:t>
            </a:r>
            <a:endParaRPr lang="en-GB" sz="2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68" name="Group 15"/>
          <p:cNvGrpSpPr/>
          <p:nvPr/>
        </p:nvGrpSpPr>
        <p:grpSpPr>
          <a:xfrm>
            <a:off x="9313200" y="3546000"/>
            <a:ext cx="3813840" cy="4137840"/>
            <a:chOff x="9313200" y="3546000"/>
            <a:chExt cx="3813840" cy="4137840"/>
          </a:xfrm>
        </p:grpSpPr>
        <p:sp>
          <p:nvSpPr>
            <p:cNvPr id="269" name="Freeform 16"/>
            <p:cNvSpPr/>
            <p:nvPr/>
          </p:nvSpPr>
          <p:spPr>
            <a:xfrm>
              <a:off x="93132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0" name="TextBox 17"/>
            <p:cNvSpPr/>
            <p:nvPr/>
          </p:nvSpPr>
          <p:spPr>
            <a:xfrm>
              <a:off x="93132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71" name="TextBox 18"/>
          <p:cNvSpPr/>
          <p:nvPr/>
        </p:nvSpPr>
        <p:spPr>
          <a:xfrm>
            <a:off x="9765000" y="5428080"/>
            <a:ext cx="2910240" cy="170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Liste complète du catalogue avec actions rapides. Suppression directe avec nettoyage automatique des fichiers images associés. Modification des informations en un clic.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19"/>
          <p:cNvSpPr/>
          <p:nvPr/>
        </p:nvSpPr>
        <p:spPr>
          <a:xfrm>
            <a:off x="10108800" y="4811040"/>
            <a:ext cx="222264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2149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Gestion Livres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0"/>
          <p:cNvSpPr/>
          <p:nvPr/>
        </p:nvSpPr>
        <p:spPr>
          <a:xfrm>
            <a:off x="10699560" y="3924000"/>
            <a:ext cx="1041480" cy="48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977"/>
              </a:lnSpc>
              <a:tabLst>
                <a:tab pos="0" algn="l"/>
              </a:tabLst>
            </a:pPr>
            <a:r>
              <a:rPr lang="en-US" sz="28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03</a:t>
            </a:r>
            <a:endParaRPr lang="en-GB" sz="2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4" name="Group 21"/>
          <p:cNvGrpSpPr/>
          <p:nvPr/>
        </p:nvGrpSpPr>
        <p:grpSpPr>
          <a:xfrm>
            <a:off x="5160600" y="3546000"/>
            <a:ext cx="3813840" cy="4137840"/>
            <a:chOff x="5160600" y="3546000"/>
            <a:chExt cx="3813840" cy="4137840"/>
          </a:xfrm>
        </p:grpSpPr>
        <p:sp>
          <p:nvSpPr>
            <p:cNvPr id="275" name="Freeform 22"/>
            <p:cNvSpPr/>
            <p:nvPr/>
          </p:nvSpPr>
          <p:spPr>
            <a:xfrm>
              <a:off x="51606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6" name="TextBox 23"/>
            <p:cNvSpPr/>
            <p:nvPr/>
          </p:nvSpPr>
          <p:spPr>
            <a:xfrm>
              <a:off x="51606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77" name="TextBox 24"/>
          <p:cNvSpPr/>
          <p:nvPr/>
        </p:nvSpPr>
        <p:spPr>
          <a:xfrm>
            <a:off x="5612400" y="5411880"/>
            <a:ext cx="2910240" cy="170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Vue d'ensemble avec statistiques en temps réel : nombre total de livres, utilisateurs inscrits, emprunts en cours et réservations actives. Interface claire et intuitive.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25"/>
          <p:cNvSpPr/>
          <p:nvPr/>
        </p:nvSpPr>
        <p:spPr>
          <a:xfrm>
            <a:off x="5292000" y="4794840"/>
            <a:ext cx="355068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2149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Dashboard Stats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Box 26"/>
          <p:cNvSpPr/>
          <p:nvPr/>
        </p:nvSpPr>
        <p:spPr>
          <a:xfrm>
            <a:off x="6546600" y="3924000"/>
            <a:ext cx="1041480" cy="48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977"/>
              </a:lnSpc>
              <a:tabLst>
                <a:tab pos="0" algn="l"/>
              </a:tabLst>
            </a:pPr>
            <a:r>
              <a:rPr lang="en-US" sz="28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02</a:t>
            </a:r>
            <a:endParaRPr lang="en-GB" sz="2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27"/>
          <p:cNvSpPr/>
          <p:nvPr/>
        </p:nvSpPr>
        <p:spPr>
          <a:xfrm>
            <a:off x="2013840" y="720000"/>
            <a:ext cx="14259960" cy="126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10329"/>
              </a:lnSpc>
              <a:tabLst>
                <a:tab pos="0" algn="l"/>
              </a:tabLst>
            </a:pPr>
            <a:r>
              <a:rPr lang="en-US" sz="738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PANNEAU D'ADMINISTRATION</a:t>
            </a:r>
            <a:endParaRPr lang="en-GB" sz="7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2" name="Group 3"/>
          <p:cNvGrpSpPr/>
          <p:nvPr/>
        </p:nvGrpSpPr>
        <p:grpSpPr>
          <a:xfrm>
            <a:off x="1656720" y="4421160"/>
            <a:ext cx="12916800" cy="3655800"/>
            <a:chOff x="1656720" y="4421160"/>
            <a:chExt cx="12916800" cy="3655800"/>
          </a:xfrm>
        </p:grpSpPr>
        <p:sp>
          <p:nvSpPr>
            <p:cNvPr id="283" name="Freeform 4"/>
            <p:cNvSpPr/>
            <p:nvPr/>
          </p:nvSpPr>
          <p:spPr>
            <a:xfrm>
              <a:off x="1656720" y="4532040"/>
              <a:ext cx="12916800" cy="3544560"/>
            </a:xfrm>
            <a:custGeom>
              <a:avLst/>
              <a:gdLst>
                <a:gd name="textAreaLeft" fmla="*/ 0 w 12916800"/>
                <a:gd name="textAreaRight" fmla="*/ 12917160 w 12916800"/>
                <a:gd name="textAreaTop" fmla="*/ 0 h 3544560"/>
                <a:gd name="textAreaBottom" fmla="*/ 3544920 h 3544560"/>
              </a:gdLst>
              <a:ahLst/>
              <a:cxnLst/>
              <a:rect l="textAreaLeft" t="textAreaTop" r="textAreaRight" b="textAreaBottom"/>
              <a:pathLst>
                <a:path w="3319444" h="910946">
                  <a:moveTo>
                    <a:pt x="10189" y="0"/>
                  </a:moveTo>
                  <a:lnTo>
                    <a:pt x="3309255" y="0"/>
                  </a:lnTo>
                  <a:cubicBezTo>
                    <a:pt x="3314883" y="0"/>
                    <a:pt x="3319444" y="4562"/>
                    <a:pt x="3319444" y="10189"/>
                  </a:cubicBezTo>
                  <a:lnTo>
                    <a:pt x="3319444" y="900757"/>
                  </a:lnTo>
                  <a:cubicBezTo>
                    <a:pt x="3319444" y="903459"/>
                    <a:pt x="3318371" y="906051"/>
                    <a:pt x="3316460" y="907962"/>
                  </a:cubicBezTo>
                  <a:cubicBezTo>
                    <a:pt x="3314549" y="909872"/>
                    <a:pt x="3311958" y="910946"/>
                    <a:pt x="3309255" y="910946"/>
                  </a:cubicBezTo>
                  <a:lnTo>
                    <a:pt x="10189" y="910946"/>
                  </a:lnTo>
                  <a:cubicBezTo>
                    <a:pt x="7487" y="910946"/>
                    <a:pt x="4895" y="909872"/>
                    <a:pt x="2984" y="907962"/>
                  </a:cubicBezTo>
                  <a:cubicBezTo>
                    <a:pt x="1073" y="906051"/>
                    <a:pt x="0" y="903459"/>
                    <a:pt x="0" y="900757"/>
                  </a:cubicBezTo>
                  <a:lnTo>
                    <a:pt x="0" y="10189"/>
                  </a:lnTo>
                  <a:cubicBezTo>
                    <a:pt x="0" y="7487"/>
                    <a:pt x="1073" y="4895"/>
                    <a:pt x="2984" y="2984"/>
                  </a:cubicBezTo>
                  <a:cubicBezTo>
                    <a:pt x="4895" y="1073"/>
                    <a:pt x="7487" y="0"/>
                    <a:pt x="10189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4" name="TextBox 5"/>
            <p:cNvSpPr/>
            <p:nvPr/>
          </p:nvSpPr>
          <p:spPr>
            <a:xfrm>
              <a:off x="1656720" y="4421160"/>
              <a:ext cx="12916800" cy="365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85" name="TextBox 6"/>
          <p:cNvSpPr/>
          <p:nvPr/>
        </p:nvSpPr>
        <p:spPr>
          <a:xfrm>
            <a:off x="1656720" y="3060000"/>
            <a:ext cx="13463280" cy="99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7835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Sécurité : notre philosophie</a:t>
            </a:r>
            <a:endParaRPr lang="en-GB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7"/>
          <p:cNvSpPr/>
          <p:nvPr/>
        </p:nvSpPr>
        <p:spPr>
          <a:xfrm>
            <a:off x="2307960" y="4817160"/>
            <a:ext cx="9836640" cy="292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"Security by design, not security by afterthought."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Axes de sécurité couverts :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Authentification — Connexion sécurisée, sessions protégées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Autorisation — Contrôle d'accès par rôle (user/admin)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Intégrité des données — Validation et protection des entrées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Upload sécurisé — Vérification multi-couches des fichiers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Protection CSRF — Tokens sur tous les formulaires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Analyse statique — Bandit pour détecter les vulnérabilités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8" name="Group 3"/>
          <p:cNvGrpSpPr/>
          <p:nvPr/>
        </p:nvGrpSpPr>
        <p:grpSpPr>
          <a:xfrm>
            <a:off x="1334520" y="4512600"/>
            <a:ext cx="13239000" cy="2242800"/>
            <a:chOff x="1334520" y="4512600"/>
            <a:chExt cx="13239000" cy="2242800"/>
          </a:xfrm>
        </p:grpSpPr>
        <p:sp>
          <p:nvSpPr>
            <p:cNvPr id="289" name="Freeform 4"/>
            <p:cNvSpPr/>
            <p:nvPr/>
          </p:nvSpPr>
          <p:spPr>
            <a:xfrm>
              <a:off x="1334520" y="4623840"/>
              <a:ext cx="13239000" cy="2131560"/>
            </a:xfrm>
            <a:custGeom>
              <a:avLst/>
              <a:gdLst>
                <a:gd name="textAreaLeft" fmla="*/ 0 w 13239000"/>
                <a:gd name="textAreaRight" fmla="*/ 13239360 w 13239000"/>
                <a:gd name="textAreaTop" fmla="*/ 0 h 2131560"/>
                <a:gd name="textAreaBottom" fmla="*/ 2131920 h 2131560"/>
              </a:gdLst>
              <a:ahLst/>
              <a:cxnLst/>
              <a:rect l="textAreaLeft" t="textAreaTop" r="textAreaRight" b="textAreaBottom"/>
              <a:pathLst>
                <a:path w="3402255" h="547854">
                  <a:moveTo>
                    <a:pt x="9941" y="0"/>
                  </a:moveTo>
                  <a:lnTo>
                    <a:pt x="3392314" y="0"/>
                  </a:lnTo>
                  <a:cubicBezTo>
                    <a:pt x="3394950" y="0"/>
                    <a:pt x="3397479" y="1047"/>
                    <a:pt x="3399343" y="2912"/>
                  </a:cubicBezTo>
                  <a:cubicBezTo>
                    <a:pt x="3401208" y="4776"/>
                    <a:pt x="3402255" y="7305"/>
                    <a:pt x="3402255" y="9941"/>
                  </a:cubicBezTo>
                  <a:lnTo>
                    <a:pt x="3402255" y="537913"/>
                  </a:lnTo>
                  <a:cubicBezTo>
                    <a:pt x="3402255" y="540550"/>
                    <a:pt x="3401208" y="543078"/>
                    <a:pt x="3399343" y="544943"/>
                  </a:cubicBezTo>
                  <a:cubicBezTo>
                    <a:pt x="3397479" y="546807"/>
                    <a:pt x="3394950" y="547854"/>
                    <a:pt x="3392314" y="547854"/>
                  </a:cubicBezTo>
                  <a:lnTo>
                    <a:pt x="9941" y="547854"/>
                  </a:lnTo>
                  <a:cubicBezTo>
                    <a:pt x="7305" y="547854"/>
                    <a:pt x="4776" y="546807"/>
                    <a:pt x="2912" y="544943"/>
                  </a:cubicBezTo>
                  <a:cubicBezTo>
                    <a:pt x="1047" y="543078"/>
                    <a:pt x="0" y="540550"/>
                    <a:pt x="0" y="537913"/>
                  </a:cubicBezTo>
                  <a:lnTo>
                    <a:pt x="0" y="9941"/>
                  </a:lnTo>
                  <a:cubicBezTo>
                    <a:pt x="0" y="7305"/>
                    <a:pt x="1047" y="4776"/>
                    <a:pt x="2912" y="2912"/>
                  </a:cubicBezTo>
                  <a:cubicBezTo>
                    <a:pt x="4776" y="1047"/>
                    <a:pt x="7305" y="0"/>
                    <a:pt x="9941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0" name="TextBox 5"/>
            <p:cNvSpPr/>
            <p:nvPr/>
          </p:nvSpPr>
          <p:spPr>
            <a:xfrm>
              <a:off x="1334520" y="4512600"/>
              <a:ext cx="13239000" cy="2242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291" name="Group 6"/>
          <p:cNvGrpSpPr/>
          <p:nvPr/>
        </p:nvGrpSpPr>
        <p:grpSpPr>
          <a:xfrm>
            <a:off x="1334520" y="6873120"/>
            <a:ext cx="13239000" cy="2242800"/>
            <a:chOff x="1334520" y="6873120"/>
            <a:chExt cx="13239000" cy="2242800"/>
          </a:xfrm>
        </p:grpSpPr>
        <p:sp>
          <p:nvSpPr>
            <p:cNvPr id="292" name="Freeform 7"/>
            <p:cNvSpPr/>
            <p:nvPr/>
          </p:nvSpPr>
          <p:spPr>
            <a:xfrm>
              <a:off x="1334520" y="6984360"/>
              <a:ext cx="13239000" cy="2131560"/>
            </a:xfrm>
            <a:custGeom>
              <a:avLst/>
              <a:gdLst>
                <a:gd name="textAreaLeft" fmla="*/ 0 w 13239000"/>
                <a:gd name="textAreaRight" fmla="*/ 13239360 w 13239000"/>
                <a:gd name="textAreaTop" fmla="*/ 0 h 2131560"/>
                <a:gd name="textAreaBottom" fmla="*/ 2131920 h 2131560"/>
              </a:gdLst>
              <a:ahLst/>
              <a:cxnLst/>
              <a:rect l="textAreaLeft" t="textAreaTop" r="textAreaRight" b="textAreaBottom"/>
              <a:pathLst>
                <a:path w="3402255" h="547854">
                  <a:moveTo>
                    <a:pt x="9941" y="0"/>
                  </a:moveTo>
                  <a:lnTo>
                    <a:pt x="3392314" y="0"/>
                  </a:lnTo>
                  <a:cubicBezTo>
                    <a:pt x="3394950" y="0"/>
                    <a:pt x="3397479" y="1047"/>
                    <a:pt x="3399343" y="2912"/>
                  </a:cubicBezTo>
                  <a:cubicBezTo>
                    <a:pt x="3401208" y="4776"/>
                    <a:pt x="3402255" y="7305"/>
                    <a:pt x="3402255" y="9941"/>
                  </a:cubicBezTo>
                  <a:lnTo>
                    <a:pt x="3402255" y="537913"/>
                  </a:lnTo>
                  <a:cubicBezTo>
                    <a:pt x="3402255" y="540550"/>
                    <a:pt x="3401208" y="543078"/>
                    <a:pt x="3399343" y="544943"/>
                  </a:cubicBezTo>
                  <a:cubicBezTo>
                    <a:pt x="3397479" y="546807"/>
                    <a:pt x="3394950" y="547854"/>
                    <a:pt x="3392314" y="547854"/>
                  </a:cubicBezTo>
                  <a:lnTo>
                    <a:pt x="9941" y="547854"/>
                  </a:lnTo>
                  <a:cubicBezTo>
                    <a:pt x="7305" y="547854"/>
                    <a:pt x="4776" y="546807"/>
                    <a:pt x="2912" y="544943"/>
                  </a:cubicBezTo>
                  <a:cubicBezTo>
                    <a:pt x="1047" y="543078"/>
                    <a:pt x="0" y="540550"/>
                    <a:pt x="0" y="537913"/>
                  </a:cubicBezTo>
                  <a:lnTo>
                    <a:pt x="0" y="9941"/>
                  </a:lnTo>
                  <a:cubicBezTo>
                    <a:pt x="0" y="7305"/>
                    <a:pt x="1047" y="4776"/>
                    <a:pt x="2912" y="2912"/>
                  </a:cubicBezTo>
                  <a:cubicBezTo>
                    <a:pt x="4776" y="1047"/>
                    <a:pt x="7305" y="0"/>
                    <a:pt x="9941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3" name="TextBox 8"/>
            <p:cNvSpPr/>
            <p:nvPr/>
          </p:nvSpPr>
          <p:spPr>
            <a:xfrm>
              <a:off x="1334520" y="6873120"/>
              <a:ext cx="13239000" cy="2242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94" name="TextBox 9"/>
          <p:cNvSpPr/>
          <p:nvPr/>
        </p:nvSpPr>
        <p:spPr>
          <a:xfrm>
            <a:off x="6241680" y="5052600"/>
            <a:ext cx="7626960" cy="12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415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Flask-WTF avec CSRFProtect activé globalement sur l'application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15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Token CSRF automatiquement injecté dans chaque formulaire HTML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15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Blueprints API exemptés explicitement pour les endpoints REST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15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Toute requête POST sans token valide est rejetée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10"/>
          <p:cNvSpPr/>
          <p:nvPr/>
        </p:nvSpPr>
        <p:spPr>
          <a:xfrm>
            <a:off x="2019600" y="5109840"/>
            <a:ext cx="316044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52"/>
              </a:lnSpc>
              <a:tabLst>
                <a:tab pos="0" algn="l"/>
              </a:tabLst>
            </a:pPr>
            <a:r>
              <a:rPr lang="en-US" sz="253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Protection CSRF</a:t>
            </a:r>
            <a:endParaRPr lang="en-GB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11"/>
          <p:cNvSpPr/>
          <p:nvPr/>
        </p:nvSpPr>
        <p:spPr>
          <a:xfrm>
            <a:off x="6241680" y="7413120"/>
            <a:ext cx="7626960" cy="120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415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bcrypt avec sel automatique généré pour chaque hash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15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Comparaison sécurisée via check_password_hash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15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Aucun mot de passe stocké en clair dans la base ou les logs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15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Protection contre les attaques par timing et rainbow tables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12"/>
          <p:cNvSpPr/>
          <p:nvPr/>
        </p:nvSpPr>
        <p:spPr>
          <a:xfrm>
            <a:off x="2019600" y="7470360"/>
            <a:ext cx="267552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52"/>
              </a:lnSpc>
              <a:tabLst>
                <a:tab pos="0" algn="l"/>
              </a:tabLst>
            </a:pPr>
            <a:r>
              <a:rPr lang="en-US" sz="253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Mots de passe</a:t>
            </a:r>
            <a:endParaRPr lang="en-GB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13"/>
          <p:cNvSpPr/>
          <p:nvPr/>
        </p:nvSpPr>
        <p:spPr>
          <a:xfrm>
            <a:off x="1464840" y="3333960"/>
            <a:ext cx="10848600" cy="61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40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Deux piliers essentiels de la sécurité applicative : protection contre les attaques CSRF et gestion sécurisée des mots de passe avec hachage bcrypt.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14"/>
          <p:cNvSpPr/>
          <p:nvPr/>
        </p:nvSpPr>
        <p:spPr>
          <a:xfrm>
            <a:off x="1464840" y="1230480"/>
            <a:ext cx="10347840" cy="186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7486"/>
              </a:lnSpc>
              <a:tabLst>
                <a:tab pos="0" algn="l"/>
              </a:tabLst>
            </a:pPr>
            <a:r>
              <a:rPr lang="en-US" sz="5980" b="1" u="none" strike="noStrike" spc="65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Sécurité : CSRF &amp; mots de passe</a:t>
            </a:r>
            <a:endParaRPr lang="en-GB" sz="5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01" name="Group 3"/>
          <p:cNvGrpSpPr/>
          <p:nvPr/>
        </p:nvGrpSpPr>
        <p:grpSpPr>
          <a:xfrm>
            <a:off x="7968600" y="1660320"/>
            <a:ext cx="8943120" cy="2200320"/>
            <a:chOff x="7968600" y="1660320"/>
            <a:chExt cx="8943120" cy="2200320"/>
          </a:xfrm>
        </p:grpSpPr>
        <p:sp>
          <p:nvSpPr>
            <p:cNvPr id="302" name="Freeform 4"/>
            <p:cNvSpPr/>
            <p:nvPr/>
          </p:nvSpPr>
          <p:spPr>
            <a:xfrm>
              <a:off x="7968600" y="177408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3" name="TextBox 5"/>
            <p:cNvSpPr/>
            <p:nvPr/>
          </p:nvSpPr>
          <p:spPr>
            <a:xfrm>
              <a:off x="7968600" y="166032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304" name="Group 6"/>
          <p:cNvGrpSpPr/>
          <p:nvPr/>
        </p:nvGrpSpPr>
        <p:grpSpPr>
          <a:xfrm>
            <a:off x="7968600" y="3987000"/>
            <a:ext cx="8943120" cy="2200320"/>
            <a:chOff x="7968600" y="3987000"/>
            <a:chExt cx="8943120" cy="2200320"/>
          </a:xfrm>
        </p:grpSpPr>
        <p:sp>
          <p:nvSpPr>
            <p:cNvPr id="305" name="Freeform 7"/>
            <p:cNvSpPr/>
            <p:nvPr/>
          </p:nvSpPr>
          <p:spPr>
            <a:xfrm>
              <a:off x="7968600" y="410076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TextBox 8"/>
            <p:cNvSpPr/>
            <p:nvPr/>
          </p:nvSpPr>
          <p:spPr>
            <a:xfrm>
              <a:off x="7968600" y="398700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307" name="Group 9"/>
          <p:cNvGrpSpPr/>
          <p:nvPr/>
        </p:nvGrpSpPr>
        <p:grpSpPr>
          <a:xfrm>
            <a:off x="7968600" y="6312240"/>
            <a:ext cx="8943120" cy="2200320"/>
            <a:chOff x="7968600" y="6312240"/>
            <a:chExt cx="8943120" cy="2200320"/>
          </a:xfrm>
        </p:grpSpPr>
        <p:sp>
          <p:nvSpPr>
            <p:cNvPr id="308" name="Freeform 10"/>
            <p:cNvSpPr/>
            <p:nvPr/>
          </p:nvSpPr>
          <p:spPr>
            <a:xfrm>
              <a:off x="7968600" y="642600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9" name="TextBox 11"/>
            <p:cNvSpPr/>
            <p:nvPr/>
          </p:nvSpPr>
          <p:spPr>
            <a:xfrm>
              <a:off x="7968600" y="631224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310" name="TextBox 12"/>
          <p:cNvSpPr/>
          <p:nvPr/>
        </p:nvSpPr>
        <p:spPr>
          <a:xfrm>
            <a:off x="9089640" y="2700000"/>
            <a:ext cx="7470360" cy="73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Seules les extensions autorisées sont acceptées : jpg, jpeg, png, webp, gif. Toute autre extension est rejetée immédiatement côté serveur avant traitement.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311" name="TextBox 13"/>
          <p:cNvSpPr/>
          <p:nvPr/>
        </p:nvSpPr>
        <p:spPr>
          <a:xfrm>
            <a:off x="9089640" y="4721040"/>
            <a:ext cx="7470360" cy="121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Vérification des signatures hexadécimales des fichiers :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PNG = \x89PNG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JPEG = \xFF\xD8\xFF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GIF = GIF89a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Un fichier avec mauvaise extension est détecté et bloqué.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Box 14"/>
          <p:cNvSpPr/>
          <p:nvPr/>
        </p:nvSpPr>
        <p:spPr>
          <a:xfrm>
            <a:off x="9131040" y="7266960"/>
            <a:ext cx="7470360" cy="73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1933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Nom de fichier UUID généré côté serveur (évite injection path). Taille maximale : 2 Mo via MAX_CONTENT_LENGTH Flask. Conclusion : aucun fichier malveillant ne passe ni ne pollue le serveur.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15"/>
          <p:cNvSpPr/>
          <p:nvPr/>
        </p:nvSpPr>
        <p:spPr>
          <a:xfrm>
            <a:off x="826560" y="4959360"/>
            <a:ext cx="5473440" cy="120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378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Problème : risque d'exécuter un fichier malveillant déguisé en image sur le serveur.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378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Solution : protection en 4 couches complémentaires pour garantir l'intégrité.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16"/>
          <p:cNvSpPr/>
          <p:nvPr/>
        </p:nvSpPr>
        <p:spPr>
          <a:xfrm>
            <a:off x="9131040" y="2023920"/>
            <a:ext cx="4548960" cy="36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843"/>
              </a:lnSpc>
              <a:tabLst>
                <a:tab pos="0" algn="l"/>
              </a:tabLst>
            </a:pPr>
            <a:r>
              <a:rPr lang="en-US" sz="2280" b="1" u="none" strike="noStrike" spc="26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Whitelist Extensions</a:t>
            </a:r>
            <a:endParaRPr lang="en-GB" sz="2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17"/>
          <p:cNvSpPr/>
          <p:nvPr/>
        </p:nvSpPr>
        <p:spPr>
          <a:xfrm>
            <a:off x="9131040" y="4350600"/>
            <a:ext cx="4370760" cy="34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843"/>
              </a:lnSpc>
              <a:tabLst>
                <a:tab pos="0" algn="l"/>
              </a:tabLst>
            </a:pPr>
            <a:r>
              <a:rPr lang="en-US" sz="2280" b="1" u="none" strike="noStrike" spc="26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Validation Magic Bytes</a:t>
            </a:r>
            <a:endParaRPr lang="en-GB" sz="2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18"/>
          <p:cNvSpPr/>
          <p:nvPr/>
        </p:nvSpPr>
        <p:spPr>
          <a:xfrm>
            <a:off x="9131040" y="6675840"/>
            <a:ext cx="4368960" cy="36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843"/>
              </a:lnSpc>
              <a:tabLst>
                <a:tab pos="0" algn="l"/>
              </a:tabLst>
            </a:pPr>
            <a:r>
              <a:rPr lang="en-US" sz="2280" b="1" u="none" strike="noStrike" spc="26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UUID &amp; Limite Taille</a:t>
            </a:r>
            <a:endParaRPr lang="en-GB" sz="2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19"/>
          <p:cNvSpPr/>
          <p:nvPr/>
        </p:nvSpPr>
        <p:spPr>
          <a:xfrm>
            <a:off x="8078760" y="2019240"/>
            <a:ext cx="848880" cy="48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912"/>
              </a:lnSpc>
              <a:tabLst>
                <a:tab pos="0" algn="l"/>
              </a:tabLst>
            </a:pPr>
            <a:r>
              <a:rPr lang="en-US" sz="3140" b="1" u="none" strike="noStrike" spc="34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01</a:t>
            </a:r>
            <a:endParaRPr lang="en-GB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20"/>
          <p:cNvSpPr/>
          <p:nvPr/>
        </p:nvSpPr>
        <p:spPr>
          <a:xfrm>
            <a:off x="8078760" y="4345920"/>
            <a:ext cx="848880" cy="48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912"/>
              </a:lnSpc>
              <a:tabLst>
                <a:tab pos="0" algn="l"/>
              </a:tabLst>
            </a:pPr>
            <a:r>
              <a:rPr lang="en-US" sz="3140" b="1" u="none" strike="noStrike" spc="34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02</a:t>
            </a:r>
            <a:endParaRPr lang="en-GB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21"/>
          <p:cNvSpPr/>
          <p:nvPr/>
        </p:nvSpPr>
        <p:spPr>
          <a:xfrm>
            <a:off x="8078760" y="6671160"/>
            <a:ext cx="848880" cy="48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3912"/>
              </a:lnSpc>
              <a:tabLst>
                <a:tab pos="0" algn="l"/>
              </a:tabLst>
            </a:pPr>
            <a:r>
              <a:rPr lang="en-US" sz="3140" b="1" u="none" strike="noStrike" spc="34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03</a:t>
            </a:r>
            <a:endParaRPr lang="en-GB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2"/>
          <p:cNvSpPr/>
          <p:nvPr/>
        </p:nvSpPr>
        <p:spPr>
          <a:xfrm>
            <a:off x="786600" y="2700000"/>
            <a:ext cx="7673400" cy="182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7191"/>
              </a:lnSpc>
              <a:tabLst>
                <a:tab pos="0" algn="l"/>
              </a:tabLst>
            </a:pPr>
            <a:r>
              <a:rPr lang="en-US" sz="5750" b="1" u="none" strike="noStrike" spc="62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Sécurité : Upload d'Images</a:t>
            </a:r>
            <a:endParaRPr lang="en-GB" sz="5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3"/>
          <p:cNvSpPr/>
          <p:nvPr/>
        </p:nvSpPr>
        <p:spPr>
          <a:xfrm>
            <a:off x="1101240" y="1037880"/>
            <a:ext cx="10723680" cy="183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7231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Sécurité : analyse statique avec Bandit</a:t>
            </a:r>
            <a:endParaRPr lang="en-GB" sz="6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" name="Picture 5"/>
          <p:cNvPicPr/>
          <p:nvPr/>
        </p:nvPicPr>
        <p:blipFill>
          <a:blip r:embed="rId3"/>
          <a:srcRect b="14207"/>
          <a:stretch/>
        </p:blipFill>
        <p:spPr>
          <a:xfrm>
            <a:off x="9504000" y="4368600"/>
            <a:ext cx="4716000" cy="46310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24" name="Group 6"/>
          <p:cNvGrpSpPr/>
          <p:nvPr/>
        </p:nvGrpSpPr>
        <p:grpSpPr>
          <a:xfrm>
            <a:off x="756000" y="2933280"/>
            <a:ext cx="8387640" cy="6889320"/>
            <a:chOff x="756000" y="2933280"/>
            <a:chExt cx="8387640" cy="6889320"/>
          </a:xfrm>
        </p:grpSpPr>
        <p:sp>
          <p:nvSpPr>
            <p:cNvPr id="325" name="Freeform 7"/>
            <p:cNvSpPr/>
            <p:nvPr/>
          </p:nvSpPr>
          <p:spPr>
            <a:xfrm>
              <a:off x="756000" y="3044520"/>
              <a:ext cx="8387640" cy="6778080"/>
            </a:xfrm>
            <a:custGeom>
              <a:avLst/>
              <a:gdLst>
                <a:gd name="textAreaLeft" fmla="*/ 0 w 8387640"/>
                <a:gd name="textAreaRight" fmla="*/ 8388000 w 8387640"/>
                <a:gd name="textAreaTop" fmla="*/ 0 h 6778080"/>
                <a:gd name="textAreaBottom" fmla="*/ 6778440 h 6778080"/>
              </a:gdLst>
              <a:ahLst/>
              <a:cxnLst/>
              <a:rect l="textAreaLeft" t="textAreaTop" r="textAreaRight" b="textAreaBottom"/>
              <a:pathLst>
                <a:path w="2155548" h="1741887">
                  <a:moveTo>
                    <a:pt x="15691" y="0"/>
                  </a:moveTo>
                  <a:lnTo>
                    <a:pt x="2139857" y="0"/>
                  </a:lnTo>
                  <a:cubicBezTo>
                    <a:pt x="2144019" y="0"/>
                    <a:pt x="2148010" y="1653"/>
                    <a:pt x="2150952" y="4596"/>
                  </a:cubicBezTo>
                  <a:cubicBezTo>
                    <a:pt x="2153895" y="7538"/>
                    <a:pt x="2155548" y="11529"/>
                    <a:pt x="2155548" y="15691"/>
                  </a:cubicBezTo>
                  <a:lnTo>
                    <a:pt x="2155548" y="1726197"/>
                  </a:lnTo>
                  <a:cubicBezTo>
                    <a:pt x="2155548" y="1734862"/>
                    <a:pt x="2148523" y="1741887"/>
                    <a:pt x="2139857" y="1741887"/>
                  </a:cubicBezTo>
                  <a:lnTo>
                    <a:pt x="15691" y="1741887"/>
                  </a:lnTo>
                  <a:cubicBezTo>
                    <a:pt x="11529" y="1741887"/>
                    <a:pt x="7538" y="1740234"/>
                    <a:pt x="4596" y="1737292"/>
                  </a:cubicBezTo>
                  <a:cubicBezTo>
                    <a:pt x="1653" y="1734349"/>
                    <a:pt x="0" y="1730358"/>
                    <a:pt x="0" y="1726197"/>
                  </a:cubicBezTo>
                  <a:lnTo>
                    <a:pt x="0" y="15691"/>
                  </a:lnTo>
                  <a:cubicBezTo>
                    <a:pt x="0" y="11529"/>
                    <a:pt x="1653" y="7538"/>
                    <a:pt x="4596" y="4596"/>
                  </a:cubicBezTo>
                  <a:cubicBezTo>
                    <a:pt x="7538" y="1653"/>
                    <a:pt x="11529" y="0"/>
                    <a:pt x="15691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6" name="TextBox 8"/>
            <p:cNvSpPr/>
            <p:nvPr/>
          </p:nvSpPr>
          <p:spPr>
            <a:xfrm>
              <a:off x="756000" y="2933280"/>
              <a:ext cx="8387640" cy="688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327" name="TextBox 9"/>
          <p:cNvSpPr/>
          <p:nvPr/>
        </p:nvSpPr>
        <p:spPr>
          <a:xfrm>
            <a:off x="1101240" y="3367440"/>
            <a:ext cx="7556760" cy="104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741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Bandit : outil OWASP d'analyse statique Python. Détecte les injections, mauvaises pratiques, exécutions dangereuses et exposition de secrets. Résultats sur notre code : 0 issue détectée (Low, Medium, High).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10"/>
          <p:cNvSpPr/>
          <p:nvPr/>
        </p:nvSpPr>
        <p:spPr>
          <a:xfrm>
            <a:off x="1101240" y="5370120"/>
            <a:ext cx="7556760" cy="104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741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588 lignes de code analysées, 0 ligne ignorée (#nosec). Commande utilisée : bandit -r routes models app.py. Analyse complète et transparente du projet.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11"/>
          <p:cNvSpPr/>
          <p:nvPr/>
        </p:nvSpPr>
        <p:spPr>
          <a:xfrm>
            <a:off x="1101240" y="7372800"/>
            <a:ext cx="7556760" cy="104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741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Conclusion : notre code respecte les bonnes pratiques de sécurité Python. Aucune vulnérabilité connue détectée par l'outil de référence OWASP. Intégration possible dans pipeline CI/CD.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31" name="Group 3"/>
          <p:cNvGrpSpPr/>
          <p:nvPr/>
        </p:nvGrpSpPr>
        <p:grpSpPr>
          <a:xfrm>
            <a:off x="11477880" y="3354840"/>
            <a:ext cx="5065920" cy="5649840"/>
            <a:chOff x="11477880" y="3354840"/>
            <a:chExt cx="5065920" cy="5649840"/>
          </a:xfrm>
        </p:grpSpPr>
        <p:sp>
          <p:nvSpPr>
            <p:cNvPr id="332" name="Freeform 4"/>
            <p:cNvSpPr/>
            <p:nvPr/>
          </p:nvSpPr>
          <p:spPr>
            <a:xfrm>
              <a:off x="11477880" y="3466080"/>
              <a:ext cx="5065920" cy="5538600"/>
            </a:xfrm>
            <a:custGeom>
              <a:avLst/>
              <a:gdLst>
                <a:gd name="textAreaLeft" fmla="*/ 0 w 5065920"/>
                <a:gd name="textAreaRight" fmla="*/ 5066280 w 5065920"/>
                <a:gd name="textAreaTop" fmla="*/ 0 h 5538600"/>
                <a:gd name="textAreaBottom" fmla="*/ 5538960 h 5538600"/>
              </a:gdLst>
              <a:ahLst/>
              <a:cxnLst/>
              <a:rect l="textAreaLeft" t="textAreaTop" r="textAreaRight" b="textAreaBottom"/>
              <a:pathLst>
                <a:path w="1301964" h="1423386">
                  <a:moveTo>
                    <a:pt x="25978" y="0"/>
                  </a:moveTo>
                  <a:lnTo>
                    <a:pt x="1275986" y="0"/>
                  </a:lnTo>
                  <a:cubicBezTo>
                    <a:pt x="1290333" y="0"/>
                    <a:pt x="1301964" y="11631"/>
                    <a:pt x="1301964" y="25978"/>
                  </a:cubicBezTo>
                  <a:lnTo>
                    <a:pt x="1301964" y="1397408"/>
                  </a:lnTo>
                  <a:cubicBezTo>
                    <a:pt x="1301964" y="1404298"/>
                    <a:pt x="1299227" y="1410905"/>
                    <a:pt x="1294355" y="1415777"/>
                  </a:cubicBezTo>
                  <a:cubicBezTo>
                    <a:pt x="1289483" y="1420649"/>
                    <a:pt x="1282876" y="1423386"/>
                    <a:pt x="1275986" y="1423386"/>
                  </a:cubicBezTo>
                  <a:lnTo>
                    <a:pt x="25978" y="1423386"/>
                  </a:lnTo>
                  <a:cubicBezTo>
                    <a:pt x="19088" y="1423386"/>
                    <a:pt x="12480" y="1420649"/>
                    <a:pt x="7609" y="1415777"/>
                  </a:cubicBezTo>
                  <a:cubicBezTo>
                    <a:pt x="2737" y="1410905"/>
                    <a:pt x="0" y="1404298"/>
                    <a:pt x="0" y="1397408"/>
                  </a:cubicBezTo>
                  <a:lnTo>
                    <a:pt x="0" y="25978"/>
                  </a:lnTo>
                  <a:cubicBezTo>
                    <a:pt x="0" y="19088"/>
                    <a:pt x="2737" y="12480"/>
                    <a:pt x="7609" y="7609"/>
                  </a:cubicBezTo>
                  <a:cubicBezTo>
                    <a:pt x="12480" y="2737"/>
                    <a:pt x="19088" y="0"/>
                    <a:pt x="25978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3" name="TextBox 5"/>
            <p:cNvSpPr/>
            <p:nvPr/>
          </p:nvSpPr>
          <p:spPr>
            <a:xfrm>
              <a:off x="11477880" y="3354840"/>
              <a:ext cx="5065920" cy="564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334" name="TextBox 6"/>
          <p:cNvSpPr/>
          <p:nvPr/>
        </p:nvSpPr>
        <p:spPr>
          <a:xfrm>
            <a:off x="12120480" y="5040000"/>
            <a:ext cx="3708360" cy="255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Authentification : inscription, connexion, accès non autorisé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CRUD livres : création, modification, suppression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Admin : accès refusé non-admins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Images : upload, extensions, magic bytes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7"/>
          <p:cNvSpPr/>
          <p:nvPr/>
        </p:nvSpPr>
        <p:spPr>
          <a:xfrm>
            <a:off x="1304280" y="1989720"/>
            <a:ext cx="12735720" cy="85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6744"/>
              </a:lnSpc>
              <a:tabLst>
                <a:tab pos="0" algn="l"/>
              </a:tabLst>
            </a:pPr>
            <a:r>
              <a:rPr lang="en-US" sz="537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Tests automatisés : stratégie</a:t>
            </a:r>
            <a:endParaRPr lang="en-GB" sz="5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36" name="Group 8"/>
          <p:cNvGrpSpPr/>
          <p:nvPr/>
        </p:nvGrpSpPr>
        <p:grpSpPr>
          <a:xfrm>
            <a:off x="756000" y="3354840"/>
            <a:ext cx="5065920" cy="5649840"/>
            <a:chOff x="756000" y="3354840"/>
            <a:chExt cx="5065920" cy="5649840"/>
          </a:xfrm>
        </p:grpSpPr>
        <p:sp>
          <p:nvSpPr>
            <p:cNvPr id="337" name="Freeform 9"/>
            <p:cNvSpPr/>
            <p:nvPr/>
          </p:nvSpPr>
          <p:spPr>
            <a:xfrm>
              <a:off x="756000" y="3466080"/>
              <a:ext cx="5065920" cy="5538600"/>
            </a:xfrm>
            <a:custGeom>
              <a:avLst/>
              <a:gdLst>
                <a:gd name="textAreaLeft" fmla="*/ 0 w 5065920"/>
                <a:gd name="textAreaRight" fmla="*/ 5066280 w 5065920"/>
                <a:gd name="textAreaTop" fmla="*/ 0 h 5538600"/>
                <a:gd name="textAreaBottom" fmla="*/ 5538960 h 5538600"/>
              </a:gdLst>
              <a:ahLst/>
              <a:cxnLst/>
              <a:rect l="textAreaLeft" t="textAreaTop" r="textAreaRight" b="textAreaBottom"/>
              <a:pathLst>
                <a:path w="1301964" h="1423386">
                  <a:moveTo>
                    <a:pt x="25978" y="0"/>
                  </a:moveTo>
                  <a:lnTo>
                    <a:pt x="1275986" y="0"/>
                  </a:lnTo>
                  <a:cubicBezTo>
                    <a:pt x="1290333" y="0"/>
                    <a:pt x="1301964" y="11631"/>
                    <a:pt x="1301964" y="25978"/>
                  </a:cubicBezTo>
                  <a:lnTo>
                    <a:pt x="1301964" y="1397408"/>
                  </a:lnTo>
                  <a:cubicBezTo>
                    <a:pt x="1301964" y="1404298"/>
                    <a:pt x="1299227" y="1410905"/>
                    <a:pt x="1294355" y="1415777"/>
                  </a:cubicBezTo>
                  <a:cubicBezTo>
                    <a:pt x="1289483" y="1420649"/>
                    <a:pt x="1282876" y="1423386"/>
                    <a:pt x="1275986" y="1423386"/>
                  </a:cubicBezTo>
                  <a:lnTo>
                    <a:pt x="25978" y="1423386"/>
                  </a:lnTo>
                  <a:cubicBezTo>
                    <a:pt x="19088" y="1423386"/>
                    <a:pt x="12480" y="1420649"/>
                    <a:pt x="7609" y="1415777"/>
                  </a:cubicBezTo>
                  <a:cubicBezTo>
                    <a:pt x="2737" y="1410905"/>
                    <a:pt x="0" y="1404298"/>
                    <a:pt x="0" y="1397408"/>
                  </a:cubicBezTo>
                  <a:lnTo>
                    <a:pt x="0" y="25978"/>
                  </a:lnTo>
                  <a:cubicBezTo>
                    <a:pt x="0" y="19088"/>
                    <a:pt x="2737" y="12480"/>
                    <a:pt x="7609" y="7609"/>
                  </a:cubicBezTo>
                  <a:cubicBezTo>
                    <a:pt x="12480" y="2737"/>
                    <a:pt x="19088" y="0"/>
                    <a:pt x="25978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8" name="TextBox 10"/>
            <p:cNvSpPr/>
            <p:nvPr/>
          </p:nvSpPr>
          <p:spPr>
            <a:xfrm>
              <a:off x="756000" y="3354840"/>
              <a:ext cx="5065920" cy="564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339" name="Group 11"/>
          <p:cNvGrpSpPr/>
          <p:nvPr/>
        </p:nvGrpSpPr>
        <p:grpSpPr>
          <a:xfrm>
            <a:off x="6116400" y="3354840"/>
            <a:ext cx="5065920" cy="5649840"/>
            <a:chOff x="6116400" y="3354840"/>
            <a:chExt cx="5065920" cy="5649840"/>
          </a:xfrm>
        </p:grpSpPr>
        <p:sp>
          <p:nvSpPr>
            <p:cNvPr id="340" name="Freeform 12"/>
            <p:cNvSpPr/>
            <p:nvPr/>
          </p:nvSpPr>
          <p:spPr>
            <a:xfrm>
              <a:off x="6116400" y="3466080"/>
              <a:ext cx="5065920" cy="5538600"/>
            </a:xfrm>
            <a:custGeom>
              <a:avLst/>
              <a:gdLst>
                <a:gd name="textAreaLeft" fmla="*/ 0 w 5065920"/>
                <a:gd name="textAreaRight" fmla="*/ 5066280 w 5065920"/>
                <a:gd name="textAreaTop" fmla="*/ 0 h 5538600"/>
                <a:gd name="textAreaBottom" fmla="*/ 5538960 h 5538600"/>
              </a:gdLst>
              <a:ahLst/>
              <a:cxnLst/>
              <a:rect l="textAreaLeft" t="textAreaTop" r="textAreaRight" b="textAreaBottom"/>
              <a:pathLst>
                <a:path w="1301964" h="1423386">
                  <a:moveTo>
                    <a:pt x="25978" y="0"/>
                  </a:moveTo>
                  <a:lnTo>
                    <a:pt x="1275986" y="0"/>
                  </a:lnTo>
                  <a:cubicBezTo>
                    <a:pt x="1290333" y="0"/>
                    <a:pt x="1301964" y="11631"/>
                    <a:pt x="1301964" y="25978"/>
                  </a:cubicBezTo>
                  <a:lnTo>
                    <a:pt x="1301964" y="1397408"/>
                  </a:lnTo>
                  <a:cubicBezTo>
                    <a:pt x="1301964" y="1404298"/>
                    <a:pt x="1299227" y="1410905"/>
                    <a:pt x="1294355" y="1415777"/>
                  </a:cubicBezTo>
                  <a:cubicBezTo>
                    <a:pt x="1289483" y="1420649"/>
                    <a:pt x="1282876" y="1423386"/>
                    <a:pt x="1275986" y="1423386"/>
                  </a:cubicBezTo>
                  <a:lnTo>
                    <a:pt x="25978" y="1423386"/>
                  </a:lnTo>
                  <a:cubicBezTo>
                    <a:pt x="19088" y="1423386"/>
                    <a:pt x="12480" y="1420649"/>
                    <a:pt x="7609" y="1415777"/>
                  </a:cubicBezTo>
                  <a:cubicBezTo>
                    <a:pt x="2737" y="1410905"/>
                    <a:pt x="0" y="1404298"/>
                    <a:pt x="0" y="1397408"/>
                  </a:cubicBezTo>
                  <a:lnTo>
                    <a:pt x="0" y="25978"/>
                  </a:lnTo>
                  <a:cubicBezTo>
                    <a:pt x="0" y="19088"/>
                    <a:pt x="2737" y="12480"/>
                    <a:pt x="7609" y="7609"/>
                  </a:cubicBezTo>
                  <a:cubicBezTo>
                    <a:pt x="12480" y="2737"/>
                    <a:pt x="19088" y="0"/>
                    <a:pt x="25978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1" name="TextBox 13"/>
            <p:cNvSpPr/>
            <p:nvPr/>
          </p:nvSpPr>
          <p:spPr>
            <a:xfrm>
              <a:off x="6116400" y="3354840"/>
              <a:ext cx="5065920" cy="5649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342" name="TextBox 14"/>
          <p:cNvSpPr/>
          <p:nvPr/>
        </p:nvSpPr>
        <p:spPr>
          <a:xfrm>
            <a:off x="1389960" y="4188960"/>
            <a:ext cx="249444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61"/>
              </a:lnSpc>
              <a:tabLst>
                <a:tab pos="0" algn="l"/>
              </a:tabLst>
            </a:pPr>
            <a:r>
              <a:rPr lang="en-US" sz="25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Frameworks</a:t>
            </a:r>
            <a:endParaRPr lang="en-GB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5"/>
          <p:cNvSpPr/>
          <p:nvPr/>
        </p:nvSpPr>
        <p:spPr>
          <a:xfrm>
            <a:off x="12120480" y="4188960"/>
            <a:ext cx="370836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61"/>
              </a:lnSpc>
              <a:tabLst>
                <a:tab pos="0" algn="l"/>
              </a:tabLst>
            </a:pPr>
            <a:r>
              <a:rPr lang="en-US" sz="25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Tests principaux</a:t>
            </a:r>
            <a:endParaRPr lang="en-GB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16"/>
          <p:cNvSpPr/>
          <p:nvPr/>
        </p:nvSpPr>
        <p:spPr>
          <a:xfrm>
            <a:off x="6750720" y="4188960"/>
            <a:ext cx="370836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61"/>
              </a:lnSpc>
              <a:tabLst>
                <a:tab pos="0" algn="l"/>
              </a:tabLst>
            </a:pPr>
            <a:r>
              <a:rPr lang="en-US" sz="25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Philosophie</a:t>
            </a:r>
            <a:endParaRPr lang="en-GB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17"/>
          <p:cNvSpPr/>
          <p:nvPr/>
        </p:nvSpPr>
        <p:spPr>
          <a:xfrm>
            <a:off x="1389960" y="5073840"/>
            <a:ext cx="3708360" cy="182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pytest : framework de test Python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pytest-cov : couverture de code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Base de données en mémoire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Isolation totale des tests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Exécution rapide et fiable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18"/>
          <p:cNvSpPr/>
          <p:nvPr/>
        </p:nvSpPr>
        <p:spPr>
          <a:xfrm>
            <a:off x="6750720" y="5073840"/>
            <a:ext cx="3708360" cy="182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Tests écrits avant merge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Chaque fonctionnalité = tests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Pas de merge sans tests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Base en mémoire pour isolation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• Reproductibilité garantie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3"/>
          <p:cNvSpPr/>
          <p:nvPr/>
        </p:nvSpPr>
        <p:spPr>
          <a:xfrm>
            <a:off x="1101240" y="1037880"/>
            <a:ext cx="10723680" cy="183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7231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Tests automatisés : résultats</a:t>
            </a:r>
            <a:endParaRPr lang="en-GB" sz="6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4"/>
          <p:cNvPicPr/>
          <p:nvPr/>
        </p:nvPicPr>
        <p:blipFill>
          <a:blip r:embed="rId3"/>
          <a:srcRect b="26381"/>
          <a:stretch/>
        </p:blipFill>
        <p:spPr>
          <a:xfrm>
            <a:off x="13325760" y="2071800"/>
            <a:ext cx="4373640" cy="296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0" name="Picture 5"/>
          <p:cNvPicPr/>
          <p:nvPr/>
        </p:nvPicPr>
        <p:blipFill>
          <a:blip r:embed="rId4"/>
          <a:srcRect b="14479"/>
          <a:stretch/>
        </p:blipFill>
        <p:spPr>
          <a:xfrm>
            <a:off x="9010080" y="4348080"/>
            <a:ext cx="4579920" cy="46515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51" name="Group 6"/>
          <p:cNvGrpSpPr/>
          <p:nvPr/>
        </p:nvGrpSpPr>
        <p:grpSpPr>
          <a:xfrm>
            <a:off x="756000" y="2933280"/>
            <a:ext cx="8387640" cy="6889320"/>
            <a:chOff x="756000" y="2933280"/>
            <a:chExt cx="8387640" cy="6889320"/>
          </a:xfrm>
        </p:grpSpPr>
        <p:sp>
          <p:nvSpPr>
            <p:cNvPr id="352" name="Freeform 7"/>
            <p:cNvSpPr/>
            <p:nvPr/>
          </p:nvSpPr>
          <p:spPr>
            <a:xfrm>
              <a:off x="756000" y="3044520"/>
              <a:ext cx="8387640" cy="6778080"/>
            </a:xfrm>
            <a:custGeom>
              <a:avLst/>
              <a:gdLst>
                <a:gd name="textAreaLeft" fmla="*/ 0 w 8387640"/>
                <a:gd name="textAreaRight" fmla="*/ 8388000 w 8387640"/>
                <a:gd name="textAreaTop" fmla="*/ 0 h 6778080"/>
                <a:gd name="textAreaBottom" fmla="*/ 6778440 h 6778080"/>
              </a:gdLst>
              <a:ahLst/>
              <a:cxnLst/>
              <a:rect l="textAreaLeft" t="textAreaTop" r="textAreaRight" b="textAreaBottom"/>
              <a:pathLst>
                <a:path w="2155548" h="1741887">
                  <a:moveTo>
                    <a:pt x="15691" y="0"/>
                  </a:moveTo>
                  <a:lnTo>
                    <a:pt x="2139857" y="0"/>
                  </a:lnTo>
                  <a:cubicBezTo>
                    <a:pt x="2144019" y="0"/>
                    <a:pt x="2148010" y="1653"/>
                    <a:pt x="2150952" y="4596"/>
                  </a:cubicBezTo>
                  <a:cubicBezTo>
                    <a:pt x="2153895" y="7538"/>
                    <a:pt x="2155548" y="11529"/>
                    <a:pt x="2155548" y="15691"/>
                  </a:cubicBezTo>
                  <a:lnTo>
                    <a:pt x="2155548" y="1726197"/>
                  </a:lnTo>
                  <a:cubicBezTo>
                    <a:pt x="2155548" y="1734862"/>
                    <a:pt x="2148523" y="1741887"/>
                    <a:pt x="2139857" y="1741887"/>
                  </a:cubicBezTo>
                  <a:lnTo>
                    <a:pt x="15691" y="1741887"/>
                  </a:lnTo>
                  <a:cubicBezTo>
                    <a:pt x="11529" y="1741887"/>
                    <a:pt x="7538" y="1740234"/>
                    <a:pt x="4596" y="1737292"/>
                  </a:cubicBezTo>
                  <a:cubicBezTo>
                    <a:pt x="1653" y="1734349"/>
                    <a:pt x="0" y="1730358"/>
                    <a:pt x="0" y="1726197"/>
                  </a:cubicBezTo>
                  <a:lnTo>
                    <a:pt x="0" y="15691"/>
                  </a:lnTo>
                  <a:cubicBezTo>
                    <a:pt x="0" y="11529"/>
                    <a:pt x="1653" y="7538"/>
                    <a:pt x="4596" y="4596"/>
                  </a:cubicBezTo>
                  <a:cubicBezTo>
                    <a:pt x="7538" y="1653"/>
                    <a:pt x="11529" y="0"/>
                    <a:pt x="15691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3" name="TextBox 8"/>
            <p:cNvSpPr/>
            <p:nvPr/>
          </p:nvSpPr>
          <p:spPr>
            <a:xfrm>
              <a:off x="756000" y="2933280"/>
              <a:ext cx="8387640" cy="688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354" name="TextBox 9"/>
          <p:cNvSpPr/>
          <p:nvPr/>
        </p:nvSpPr>
        <p:spPr>
          <a:xfrm>
            <a:off x="1101240" y="3367440"/>
            <a:ext cx="7556760" cy="104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741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92 tests réalisés avec 0 échec et 0 régression. Couverture complète sur : authentification, livres, réservations, admin, images. Tests rapides exécutés en quelques secondes.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Box 10"/>
          <p:cNvSpPr/>
          <p:nvPr/>
        </p:nvSpPr>
        <p:spPr>
          <a:xfrm>
            <a:off x="1101240" y="5370120"/>
            <a:ext cx="7556760" cy="104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741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Tests relancés automatiquement à chaque Pull Request. En cas d'échec, le merge est bloqué — garantissant la qualité du code sur la branche main.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11"/>
          <p:cNvSpPr/>
          <p:nvPr/>
        </p:nvSpPr>
        <p:spPr>
          <a:xfrm>
            <a:off x="1101240" y="7372800"/>
            <a:ext cx="7556760" cy="69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914400">
              <a:lnSpc>
                <a:spcPts val="2741"/>
              </a:lnSpc>
              <a:tabLst>
                <a:tab pos="0" algn="l"/>
              </a:tabLst>
            </a:pPr>
            <a:r>
              <a:rPr lang="en-US" sz="1600" b="0" u="none" strike="noStrike" spc="20">
                <a:solidFill>
                  <a:srgbClr val="FFFFFF"/>
                </a:solidFill>
                <a:effectLst/>
                <a:uFillTx/>
                <a:latin typeface="Montserrat Light"/>
                <a:ea typeface="Montserrat Light"/>
              </a:rPr>
              <a:t>Résultat : une base de code stable, fiable et maintenable. Chaque fonctionnalité est validée avant intégration, éliminant les régressions.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58" name="Group 3"/>
          <p:cNvGrpSpPr/>
          <p:nvPr/>
        </p:nvGrpSpPr>
        <p:grpSpPr>
          <a:xfrm>
            <a:off x="1007640" y="3546000"/>
            <a:ext cx="3813840" cy="4137840"/>
            <a:chOff x="1007640" y="3546000"/>
            <a:chExt cx="3813840" cy="4137840"/>
          </a:xfrm>
        </p:grpSpPr>
        <p:sp>
          <p:nvSpPr>
            <p:cNvPr id="359" name="Freeform 4"/>
            <p:cNvSpPr/>
            <p:nvPr/>
          </p:nvSpPr>
          <p:spPr>
            <a:xfrm>
              <a:off x="100764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0" name="TextBox 5"/>
            <p:cNvSpPr/>
            <p:nvPr/>
          </p:nvSpPr>
          <p:spPr>
            <a:xfrm>
              <a:off x="100764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361" name="TextBox 6"/>
          <p:cNvSpPr/>
          <p:nvPr/>
        </p:nvSpPr>
        <p:spPr>
          <a:xfrm>
            <a:off x="1459440" y="5400000"/>
            <a:ext cx="2910240" cy="189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Navigation depuis la page d'accueil vers le catalogue complet des livres. Affichage des miniatures, recherche et filtres par disponibilité.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Box 7"/>
          <p:cNvSpPr/>
          <p:nvPr/>
        </p:nvSpPr>
        <p:spPr>
          <a:xfrm>
            <a:off x="1258560" y="4801680"/>
            <a:ext cx="3312720" cy="3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2710"/>
              </a:lnSpc>
              <a:tabLst>
                <a:tab pos="0" algn="l"/>
              </a:tabLst>
            </a:pPr>
            <a:r>
              <a:rPr lang="en-US" sz="19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Accueil &amp; Catalogue</a:t>
            </a:r>
            <a:endParaRPr lang="en-GB" sz="19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8"/>
          <p:cNvSpPr/>
          <p:nvPr/>
        </p:nvSpPr>
        <p:spPr>
          <a:xfrm>
            <a:off x="2394000" y="3925440"/>
            <a:ext cx="1041480" cy="60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5017"/>
              </a:lnSpc>
              <a:tabLst>
                <a:tab pos="0" algn="l"/>
              </a:tabLst>
            </a:pPr>
            <a:r>
              <a:rPr lang="en-US" sz="359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01</a:t>
            </a:r>
            <a:endParaRPr lang="en-GB" sz="3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64" name="Group 9"/>
          <p:cNvGrpSpPr/>
          <p:nvPr/>
        </p:nvGrpSpPr>
        <p:grpSpPr>
          <a:xfrm>
            <a:off x="13465800" y="3546000"/>
            <a:ext cx="3813840" cy="4137840"/>
            <a:chOff x="13465800" y="3546000"/>
            <a:chExt cx="3813840" cy="4137840"/>
          </a:xfrm>
        </p:grpSpPr>
        <p:sp>
          <p:nvSpPr>
            <p:cNvPr id="365" name="Freeform 10"/>
            <p:cNvSpPr/>
            <p:nvPr/>
          </p:nvSpPr>
          <p:spPr>
            <a:xfrm>
              <a:off x="134658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6" name="TextBox 11"/>
            <p:cNvSpPr/>
            <p:nvPr/>
          </p:nvSpPr>
          <p:spPr>
            <a:xfrm>
              <a:off x="134658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367" name="TextBox 12"/>
          <p:cNvSpPr/>
          <p:nvPr/>
        </p:nvSpPr>
        <p:spPr>
          <a:xfrm>
            <a:off x="13917960" y="5339880"/>
            <a:ext cx="2910240" cy="168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Accès au dashboard administrateur. Gestion des utilisateurs : promotion/rétrogradation des rôles admin et suppression de comptes.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368" name="TextBox 13"/>
          <p:cNvSpPr/>
          <p:nvPr/>
        </p:nvSpPr>
        <p:spPr>
          <a:xfrm>
            <a:off x="14220000" y="4785120"/>
            <a:ext cx="2374560" cy="34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2710"/>
              </a:lnSpc>
              <a:tabLst>
                <a:tab pos="0" algn="l"/>
              </a:tabLst>
            </a:pPr>
            <a:r>
              <a:rPr lang="en-US" sz="19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Panneau Admin</a:t>
            </a:r>
            <a:endParaRPr lang="en-GB" sz="19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14"/>
          <p:cNvSpPr/>
          <p:nvPr/>
        </p:nvSpPr>
        <p:spPr>
          <a:xfrm>
            <a:off x="14852160" y="3965400"/>
            <a:ext cx="1041480" cy="60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5017"/>
              </a:lnSpc>
              <a:tabLst>
                <a:tab pos="0" algn="l"/>
              </a:tabLst>
            </a:pPr>
            <a:r>
              <a:rPr lang="en-US" sz="359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04</a:t>
            </a:r>
            <a:endParaRPr lang="en-GB" sz="3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70" name="Group 15"/>
          <p:cNvGrpSpPr/>
          <p:nvPr/>
        </p:nvGrpSpPr>
        <p:grpSpPr>
          <a:xfrm>
            <a:off x="9313200" y="3546000"/>
            <a:ext cx="3813840" cy="4137840"/>
            <a:chOff x="9313200" y="3546000"/>
            <a:chExt cx="3813840" cy="4137840"/>
          </a:xfrm>
        </p:grpSpPr>
        <p:sp>
          <p:nvSpPr>
            <p:cNvPr id="371" name="Freeform 16"/>
            <p:cNvSpPr/>
            <p:nvPr/>
          </p:nvSpPr>
          <p:spPr>
            <a:xfrm>
              <a:off x="93132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2" name="TextBox 17"/>
            <p:cNvSpPr/>
            <p:nvPr/>
          </p:nvSpPr>
          <p:spPr>
            <a:xfrm>
              <a:off x="93132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373" name="TextBox 18"/>
          <p:cNvSpPr/>
          <p:nvPr/>
        </p:nvSpPr>
        <p:spPr>
          <a:xfrm>
            <a:off x="9765000" y="5367960"/>
            <a:ext cx="2910240" cy="168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Création d'un nouveau livre avec upload d'image de couverture. Validation des champs, vérification magic bytes et génération UUID du fichier.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19"/>
          <p:cNvSpPr/>
          <p:nvPr/>
        </p:nvSpPr>
        <p:spPr>
          <a:xfrm>
            <a:off x="10108800" y="4801680"/>
            <a:ext cx="2222640" cy="3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2710"/>
              </a:lnSpc>
              <a:tabLst>
                <a:tab pos="0" algn="l"/>
              </a:tabLst>
            </a:pPr>
            <a:r>
              <a:rPr lang="en-US" sz="19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Ajout de Livre</a:t>
            </a:r>
            <a:endParaRPr lang="en-GB" sz="19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20"/>
          <p:cNvSpPr/>
          <p:nvPr/>
        </p:nvSpPr>
        <p:spPr>
          <a:xfrm>
            <a:off x="10699560" y="3914640"/>
            <a:ext cx="1041480" cy="60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5017"/>
              </a:lnSpc>
              <a:tabLst>
                <a:tab pos="0" algn="l"/>
              </a:tabLst>
            </a:pPr>
            <a:r>
              <a:rPr lang="en-US" sz="359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03</a:t>
            </a:r>
            <a:endParaRPr lang="en-GB" sz="3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76" name="Group 21"/>
          <p:cNvGrpSpPr/>
          <p:nvPr/>
        </p:nvGrpSpPr>
        <p:grpSpPr>
          <a:xfrm>
            <a:off x="5160600" y="3546000"/>
            <a:ext cx="3813840" cy="4137840"/>
            <a:chOff x="5160600" y="3546000"/>
            <a:chExt cx="3813840" cy="4137840"/>
          </a:xfrm>
        </p:grpSpPr>
        <p:sp>
          <p:nvSpPr>
            <p:cNvPr id="377" name="Freeform 22"/>
            <p:cNvSpPr/>
            <p:nvPr/>
          </p:nvSpPr>
          <p:spPr>
            <a:xfrm>
              <a:off x="5160600" y="3657240"/>
              <a:ext cx="3813840" cy="4026600"/>
            </a:xfrm>
            <a:custGeom>
              <a:avLst/>
              <a:gdLst>
                <a:gd name="textAreaLeft" fmla="*/ 0 w 3813840"/>
                <a:gd name="textAreaRight" fmla="*/ 3814200 w 3813840"/>
                <a:gd name="textAreaTop" fmla="*/ 0 h 4026600"/>
                <a:gd name="textAreaBottom" fmla="*/ 4026960 h 4026600"/>
              </a:gdLst>
              <a:ahLst/>
              <a:cxnLst/>
              <a:rect l="textAreaLeft" t="textAreaTop" r="textAreaRight" b="textAreaBottom"/>
              <a:pathLst>
                <a:path w="980199" h="1034814">
                  <a:moveTo>
                    <a:pt x="34505" y="0"/>
                  </a:moveTo>
                  <a:lnTo>
                    <a:pt x="945694" y="0"/>
                  </a:lnTo>
                  <a:cubicBezTo>
                    <a:pt x="964751" y="0"/>
                    <a:pt x="980199" y="15448"/>
                    <a:pt x="980199" y="34505"/>
                  </a:cubicBezTo>
                  <a:lnTo>
                    <a:pt x="980199" y="1000309"/>
                  </a:lnTo>
                  <a:cubicBezTo>
                    <a:pt x="980199" y="1009460"/>
                    <a:pt x="976564" y="1018237"/>
                    <a:pt x="970093" y="1024708"/>
                  </a:cubicBezTo>
                  <a:cubicBezTo>
                    <a:pt x="963622" y="1031179"/>
                    <a:pt x="954846" y="1034814"/>
                    <a:pt x="945694" y="1034814"/>
                  </a:cubicBezTo>
                  <a:lnTo>
                    <a:pt x="34505" y="1034814"/>
                  </a:lnTo>
                  <a:cubicBezTo>
                    <a:pt x="15448" y="1034814"/>
                    <a:pt x="0" y="1019365"/>
                    <a:pt x="0" y="1000309"/>
                  </a:cubicBezTo>
                  <a:lnTo>
                    <a:pt x="0" y="34505"/>
                  </a:lnTo>
                  <a:cubicBezTo>
                    <a:pt x="0" y="15448"/>
                    <a:pt x="15448" y="0"/>
                    <a:pt x="34505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8" name="TextBox 23"/>
            <p:cNvSpPr/>
            <p:nvPr/>
          </p:nvSpPr>
          <p:spPr>
            <a:xfrm>
              <a:off x="5160600" y="3546000"/>
              <a:ext cx="3813840" cy="41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379" name="TextBox 24"/>
          <p:cNvSpPr/>
          <p:nvPr/>
        </p:nvSpPr>
        <p:spPr>
          <a:xfrm>
            <a:off x="5612400" y="5400000"/>
            <a:ext cx="2910240" cy="168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Authentification sécurisée via Flask-Login. Sélection d'un livre disponible et processus d'emprunt avec mise à jour du statut en temps réel.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25"/>
          <p:cNvSpPr/>
          <p:nvPr/>
        </p:nvSpPr>
        <p:spPr>
          <a:xfrm>
            <a:off x="5292000" y="4785120"/>
            <a:ext cx="3550680" cy="3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2710"/>
              </a:lnSpc>
              <a:tabLst>
                <a:tab pos="0" algn="l"/>
              </a:tabLst>
            </a:pPr>
            <a:r>
              <a:rPr lang="en-US" sz="194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Connexion &amp; Emprunt</a:t>
            </a:r>
            <a:endParaRPr lang="en-GB" sz="19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Box 26"/>
          <p:cNvSpPr/>
          <p:nvPr/>
        </p:nvSpPr>
        <p:spPr>
          <a:xfrm>
            <a:off x="6546600" y="3914640"/>
            <a:ext cx="1041480" cy="60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5017"/>
              </a:lnSpc>
              <a:tabLst>
                <a:tab pos="0" algn="l"/>
              </a:tabLst>
            </a:pPr>
            <a:r>
              <a:rPr lang="en-US" sz="359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02</a:t>
            </a:r>
            <a:endParaRPr lang="en-GB" sz="3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27"/>
          <p:cNvSpPr/>
          <p:nvPr/>
        </p:nvSpPr>
        <p:spPr>
          <a:xfrm>
            <a:off x="2013840" y="1192320"/>
            <a:ext cx="14259960" cy="134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11030"/>
              </a:lnSpc>
              <a:tabLst>
                <a:tab pos="0" algn="l"/>
              </a:tabLst>
            </a:pPr>
            <a:r>
              <a:rPr lang="en-US" sz="788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DÉMONSTRATION LIVE</a:t>
            </a:r>
            <a:endParaRPr lang="en-GB" sz="7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84" name="Group 3"/>
          <p:cNvGrpSpPr/>
          <p:nvPr/>
        </p:nvGrpSpPr>
        <p:grpSpPr>
          <a:xfrm>
            <a:off x="7968600" y="1660320"/>
            <a:ext cx="8943120" cy="2200320"/>
            <a:chOff x="7968600" y="1660320"/>
            <a:chExt cx="8943120" cy="2200320"/>
          </a:xfrm>
        </p:grpSpPr>
        <p:sp>
          <p:nvSpPr>
            <p:cNvPr id="385" name="Freeform 4"/>
            <p:cNvSpPr/>
            <p:nvPr/>
          </p:nvSpPr>
          <p:spPr>
            <a:xfrm>
              <a:off x="7968600" y="177408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6" name="TextBox 5"/>
            <p:cNvSpPr/>
            <p:nvPr/>
          </p:nvSpPr>
          <p:spPr>
            <a:xfrm>
              <a:off x="7968600" y="166032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387" name="Group 6"/>
          <p:cNvGrpSpPr/>
          <p:nvPr/>
        </p:nvGrpSpPr>
        <p:grpSpPr>
          <a:xfrm>
            <a:off x="7968600" y="3987000"/>
            <a:ext cx="8943120" cy="2200320"/>
            <a:chOff x="7968600" y="3987000"/>
            <a:chExt cx="8943120" cy="2200320"/>
          </a:xfrm>
        </p:grpSpPr>
        <p:sp>
          <p:nvSpPr>
            <p:cNvPr id="388" name="Freeform 7"/>
            <p:cNvSpPr/>
            <p:nvPr/>
          </p:nvSpPr>
          <p:spPr>
            <a:xfrm>
              <a:off x="7968600" y="410076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9" name="TextBox 8"/>
            <p:cNvSpPr/>
            <p:nvPr/>
          </p:nvSpPr>
          <p:spPr>
            <a:xfrm>
              <a:off x="7968600" y="398700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390" name="Group 9"/>
          <p:cNvGrpSpPr/>
          <p:nvPr/>
        </p:nvGrpSpPr>
        <p:grpSpPr>
          <a:xfrm>
            <a:off x="7968600" y="6312240"/>
            <a:ext cx="8943120" cy="2200320"/>
            <a:chOff x="7968600" y="6312240"/>
            <a:chExt cx="8943120" cy="2200320"/>
          </a:xfrm>
        </p:grpSpPr>
        <p:sp>
          <p:nvSpPr>
            <p:cNvPr id="391" name="Freeform 10"/>
            <p:cNvSpPr/>
            <p:nvPr/>
          </p:nvSpPr>
          <p:spPr>
            <a:xfrm>
              <a:off x="7968600" y="6426000"/>
              <a:ext cx="8943120" cy="2086560"/>
            </a:xfrm>
            <a:custGeom>
              <a:avLst/>
              <a:gdLst>
                <a:gd name="textAreaLeft" fmla="*/ 0 w 8943120"/>
                <a:gd name="textAreaRight" fmla="*/ 8943480 w 8943120"/>
                <a:gd name="textAreaTop" fmla="*/ 0 h 2086560"/>
                <a:gd name="textAreaBottom" fmla="*/ 2086920 h 2086560"/>
              </a:gdLst>
              <a:ahLst/>
              <a:cxnLst/>
              <a:rect l="textAreaLeft" t="textAreaTop" r="textAreaRight" b="textAreaBottom"/>
              <a:pathLst>
                <a:path w="2249203" h="524870">
                  <a:moveTo>
                    <a:pt x="14716" y="0"/>
                  </a:moveTo>
                  <a:lnTo>
                    <a:pt x="2234487" y="0"/>
                  </a:lnTo>
                  <a:cubicBezTo>
                    <a:pt x="2238390" y="0"/>
                    <a:pt x="2242133" y="1550"/>
                    <a:pt x="2244893" y="4310"/>
                  </a:cubicBezTo>
                  <a:cubicBezTo>
                    <a:pt x="2247653" y="7070"/>
                    <a:pt x="2249203" y="10813"/>
                    <a:pt x="2249203" y="14716"/>
                  </a:cubicBezTo>
                  <a:lnTo>
                    <a:pt x="2249203" y="510154"/>
                  </a:lnTo>
                  <a:cubicBezTo>
                    <a:pt x="2249203" y="514057"/>
                    <a:pt x="2247653" y="517800"/>
                    <a:pt x="2244893" y="520560"/>
                  </a:cubicBezTo>
                  <a:cubicBezTo>
                    <a:pt x="2242133" y="523320"/>
                    <a:pt x="2238390" y="524870"/>
                    <a:pt x="2234487" y="524870"/>
                  </a:cubicBezTo>
                  <a:lnTo>
                    <a:pt x="14716" y="524870"/>
                  </a:lnTo>
                  <a:cubicBezTo>
                    <a:pt x="10813" y="524870"/>
                    <a:pt x="7070" y="523320"/>
                    <a:pt x="4310" y="520560"/>
                  </a:cubicBezTo>
                  <a:cubicBezTo>
                    <a:pt x="1550" y="517800"/>
                    <a:pt x="0" y="514057"/>
                    <a:pt x="0" y="510154"/>
                  </a:cubicBezTo>
                  <a:lnTo>
                    <a:pt x="0" y="14716"/>
                  </a:lnTo>
                  <a:cubicBezTo>
                    <a:pt x="0" y="10813"/>
                    <a:pt x="1550" y="7070"/>
                    <a:pt x="4310" y="4310"/>
                  </a:cubicBezTo>
                  <a:cubicBezTo>
                    <a:pt x="7070" y="1550"/>
                    <a:pt x="10813" y="0"/>
                    <a:pt x="14716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2" name="TextBox 11"/>
            <p:cNvSpPr/>
            <p:nvPr/>
          </p:nvSpPr>
          <p:spPr>
            <a:xfrm>
              <a:off x="7968600" y="6312240"/>
              <a:ext cx="8943120" cy="220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393" name="TextBox 12"/>
          <p:cNvSpPr/>
          <p:nvPr/>
        </p:nvSpPr>
        <p:spPr>
          <a:xfrm>
            <a:off x="9131040" y="2615040"/>
            <a:ext cx="7470360" cy="83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Git/GitHub utilisés comme une vraie équipe pro, pas comme une simple clé USB. La méthode Agile structure le travail et évite de se perdre dans la complexité du projet.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Box 13"/>
          <p:cNvSpPr/>
          <p:nvPr/>
        </p:nvSpPr>
        <p:spPr>
          <a:xfrm>
            <a:off x="9131040" y="4941720"/>
            <a:ext cx="7470360" cy="83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Sécurité pensée dès le début du développement, pas ajoutée à la fin. Les tests protègent le code — ce n'est pas juste une formalité, c'est une assurance qualité.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14"/>
          <p:cNvSpPr/>
          <p:nvPr/>
        </p:nvSpPr>
        <p:spPr>
          <a:xfrm>
            <a:off x="9131040" y="7266960"/>
            <a:ext cx="7470360" cy="83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Chaque bug = une issue, chaque issue = une branche, chaque branche = une PR. Cette discipline garantit traçabilité et qualité à chaque étape du développement.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15"/>
          <p:cNvSpPr/>
          <p:nvPr/>
        </p:nvSpPr>
        <p:spPr>
          <a:xfrm>
            <a:off x="1440000" y="6120000"/>
            <a:ext cx="5473440" cy="945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57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Ce projet a transformé notre façon de travailler. Chaque apprentissage nous rapproche des standards professionnels du développement logiciel.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Box 16"/>
          <p:cNvSpPr/>
          <p:nvPr/>
        </p:nvSpPr>
        <p:spPr>
          <a:xfrm>
            <a:off x="9131040" y="2033280"/>
            <a:ext cx="5268960" cy="37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962"/>
              </a:lnSpc>
              <a:tabLst>
                <a:tab pos="0" algn="l"/>
              </a:tabLst>
            </a:pPr>
            <a:r>
              <a:rPr lang="en-US" sz="2380" b="1" u="none" strike="noStrike" spc="26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Git &amp; Méthode Agile</a:t>
            </a:r>
            <a:endParaRPr lang="en-GB" sz="2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17"/>
          <p:cNvSpPr/>
          <p:nvPr/>
        </p:nvSpPr>
        <p:spPr>
          <a:xfrm>
            <a:off x="9131040" y="4359960"/>
            <a:ext cx="4370760" cy="357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962"/>
              </a:lnSpc>
              <a:tabLst>
                <a:tab pos="0" algn="l"/>
              </a:tabLst>
            </a:pPr>
            <a:r>
              <a:rPr lang="en-US" sz="2380" b="1" u="none" strike="noStrike" spc="26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Sécurité &amp; Tests</a:t>
            </a:r>
            <a:endParaRPr lang="en-GB" sz="2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18"/>
          <p:cNvSpPr/>
          <p:nvPr/>
        </p:nvSpPr>
        <p:spPr>
          <a:xfrm>
            <a:off x="9131040" y="6685200"/>
            <a:ext cx="4368960" cy="37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962"/>
              </a:lnSpc>
              <a:tabLst>
                <a:tab pos="0" algn="l"/>
              </a:tabLst>
            </a:pPr>
            <a:r>
              <a:rPr lang="en-US" sz="2380" b="1" u="none" strike="noStrike" spc="26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Workflow Structuré</a:t>
            </a:r>
            <a:endParaRPr lang="en-GB" sz="2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19"/>
          <p:cNvSpPr/>
          <p:nvPr/>
        </p:nvSpPr>
        <p:spPr>
          <a:xfrm>
            <a:off x="8078760" y="2028600"/>
            <a:ext cx="848880" cy="50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4073"/>
              </a:lnSpc>
              <a:tabLst>
                <a:tab pos="0" algn="l"/>
              </a:tabLst>
            </a:pPr>
            <a:r>
              <a:rPr lang="en-US" sz="3270" b="1" u="none" strike="noStrike" spc="37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01</a:t>
            </a:r>
            <a:endParaRPr lang="en-GB" sz="3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Box 20"/>
          <p:cNvSpPr/>
          <p:nvPr/>
        </p:nvSpPr>
        <p:spPr>
          <a:xfrm>
            <a:off x="8078760" y="4355280"/>
            <a:ext cx="848880" cy="50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4073"/>
              </a:lnSpc>
              <a:tabLst>
                <a:tab pos="0" algn="l"/>
              </a:tabLst>
            </a:pPr>
            <a:r>
              <a:rPr lang="en-US" sz="3270" b="1" u="none" strike="noStrike" spc="37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02</a:t>
            </a:r>
            <a:endParaRPr lang="en-GB" sz="3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1"/>
          <p:cNvSpPr/>
          <p:nvPr/>
        </p:nvSpPr>
        <p:spPr>
          <a:xfrm>
            <a:off x="8078760" y="6680520"/>
            <a:ext cx="848880" cy="50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ts val="4073"/>
              </a:lnSpc>
              <a:tabLst>
                <a:tab pos="0" algn="l"/>
              </a:tabLst>
            </a:pPr>
            <a:r>
              <a:rPr lang="en-US" sz="3270" b="1" u="none" strike="noStrike" spc="37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03</a:t>
            </a:r>
            <a:endParaRPr lang="en-GB" sz="32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22"/>
          <p:cNvSpPr/>
          <p:nvPr/>
        </p:nvSpPr>
        <p:spPr>
          <a:xfrm>
            <a:off x="1457640" y="3048480"/>
            <a:ext cx="6510600" cy="183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7319"/>
              </a:lnSpc>
              <a:tabLst>
                <a:tab pos="0" algn="l"/>
              </a:tabLst>
            </a:pPr>
            <a:r>
              <a:rPr lang="en-US" sz="5850" b="1" u="none" strike="noStrike" spc="65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Ce que ce projet nous a appris</a:t>
            </a:r>
            <a:endParaRPr lang="en-GB" sz="5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05" name="Group 3"/>
          <p:cNvGrpSpPr/>
          <p:nvPr/>
        </p:nvGrpSpPr>
        <p:grpSpPr>
          <a:xfrm>
            <a:off x="1334520" y="4512600"/>
            <a:ext cx="13239000" cy="2242800"/>
            <a:chOff x="1334520" y="4512600"/>
            <a:chExt cx="13239000" cy="2242800"/>
          </a:xfrm>
        </p:grpSpPr>
        <p:sp>
          <p:nvSpPr>
            <p:cNvPr id="406" name="Freeform 4"/>
            <p:cNvSpPr/>
            <p:nvPr/>
          </p:nvSpPr>
          <p:spPr>
            <a:xfrm>
              <a:off x="1334520" y="4623840"/>
              <a:ext cx="13239000" cy="2131560"/>
            </a:xfrm>
            <a:custGeom>
              <a:avLst/>
              <a:gdLst>
                <a:gd name="textAreaLeft" fmla="*/ 0 w 13239000"/>
                <a:gd name="textAreaRight" fmla="*/ 13239360 w 13239000"/>
                <a:gd name="textAreaTop" fmla="*/ 0 h 2131560"/>
                <a:gd name="textAreaBottom" fmla="*/ 2131920 h 2131560"/>
              </a:gdLst>
              <a:ahLst/>
              <a:cxnLst/>
              <a:rect l="textAreaLeft" t="textAreaTop" r="textAreaRight" b="textAreaBottom"/>
              <a:pathLst>
                <a:path w="3402255" h="547854">
                  <a:moveTo>
                    <a:pt x="9941" y="0"/>
                  </a:moveTo>
                  <a:lnTo>
                    <a:pt x="3392314" y="0"/>
                  </a:lnTo>
                  <a:cubicBezTo>
                    <a:pt x="3394950" y="0"/>
                    <a:pt x="3397479" y="1047"/>
                    <a:pt x="3399343" y="2912"/>
                  </a:cubicBezTo>
                  <a:cubicBezTo>
                    <a:pt x="3401208" y="4776"/>
                    <a:pt x="3402255" y="7305"/>
                    <a:pt x="3402255" y="9941"/>
                  </a:cubicBezTo>
                  <a:lnTo>
                    <a:pt x="3402255" y="537913"/>
                  </a:lnTo>
                  <a:cubicBezTo>
                    <a:pt x="3402255" y="540550"/>
                    <a:pt x="3401208" y="543078"/>
                    <a:pt x="3399343" y="544943"/>
                  </a:cubicBezTo>
                  <a:cubicBezTo>
                    <a:pt x="3397479" y="546807"/>
                    <a:pt x="3394950" y="547854"/>
                    <a:pt x="3392314" y="547854"/>
                  </a:cubicBezTo>
                  <a:lnTo>
                    <a:pt x="9941" y="547854"/>
                  </a:lnTo>
                  <a:cubicBezTo>
                    <a:pt x="7305" y="547854"/>
                    <a:pt x="4776" y="546807"/>
                    <a:pt x="2912" y="544943"/>
                  </a:cubicBezTo>
                  <a:cubicBezTo>
                    <a:pt x="1047" y="543078"/>
                    <a:pt x="0" y="540550"/>
                    <a:pt x="0" y="537913"/>
                  </a:cubicBezTo>
                  <a:lnTo>
                    <a:pt x="0" y="9941"/>
                  </a:lnTo>
                  <a:cubicBezTo>
                    <a:pt x="0" y="7305"/>
                    <a:pt x="1047" y="4776"/>
                    <a:pt x="2912" y="2912"/>
                  </a:cubicBezTo>
                  <a:cubicBezTo>
                    <a:pt x="4776" y="1047"/>
                    <a:pt x="7305" y="0"/>
                    <a:pt x="9941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7" name="TextBox 5"/>
            <p:cNvSpPr/>
            <p:nvPr/>
          </p:nvSpPr>
          <p:spPr>
            <a:xfrm>
              <a:off x="1334520" y="4512600"/>
              <a:ext cx="13239000" cy="2242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408" name="Group 6"/>
          <p:cNvGrpSpPr/>
          <p:nvPr/>
        </p:nvGrpSpPr>
        <p:grpSpPr>
          <a:xfrm>
            <a:off x="1334520" y="6873120"/>
            <a:ext cx="13239000" cy="2242800"/>
            <a:chOff x="1334520" y="6873120"/>
            <a:chExt cx="13239000" cy="2242800"/>
          </a:xfrm>
        </p:grpSpPr>
        <p:sp>
          <p:nvSpPr>
            <p:cNvPr id="409" name="Freeform 7"/>
            <p:cNvSpPr/>
            <p:nvPr/>
          </p:nvSpPr>
          <p:spPr>
            <a:xfrm>
              <a:off x="1334520" y="6984360"/>
              <a:ext cx="13239000" cy="2131560"/>
            </a:xfrm>
            <a:custGeom>
              <a:avLst/>
              <a:gdLst>
                <a:gd name="textAreaLeft" fmla="*/ 0 w 13239000"/>
                <a:gd name="textAreaRight" fmla="*/ 13239360 w 13239000"/>
                <a:gd name="textAreaTop" fmla="*/ 0 h 2131560"/>
                <a:gd name="textAreaBottom" fmla="*/ 2131920 h 2131560"/>
              </a:gdLst>
              <a:ahLst/>
              <a:cxnLst/>
              <a:rect l="textAreaLeft" t="textAreaTop" r="textAreaRight" b="textAreaBottom"/>
              <a:pathLst>
                <a:path w="3402255" h="547854">
                  <a:moveTo>
                    <a:pt x="9941" y="0"/>
                  </a:moveTo>
                  <a:lnTo>
                    <a:pt x="3392314" y="0"/>
                  </a:lnTo>
                  <a:cubicBezTo>
                    <a:pt x="3394950" y="0"/>
                    <a:pt x="3397479" y="1047"/>
                    <a:pt x="3399343" y="2912"/>
                  </a:cubicBezTo>
                  <a:cubicBezTo>
                    <a:pt x="3401208" y="4776"/>
                    <a:pt x="3402255" y="7305"/>
                    <a:pt x="3402255" y="9941"/>
                  </a:cubicBezTo>
                  <a:lnTo>
                    <a:pt x="3402255" y="537913"/>
                  </a:lnTo>
                  <a:cubicBezTo>
                    <a:pt x="3402255" y="540550"/>
                    <a:pt x="3401208" y="543078"/>
                    <a:pt x="3399343" y="544943"/>
                  </a:cubicBezTo>
                  <a:cubicBezTo>
                    <a:pt x="3397479" y="546807"/>
                    <a:pt x="3394950" y="547854"/>
                    <a:pt x="3392314" y="547854"/>
                  </a:cubicBezTo>
                  <a:lnTo>
                    <a:pt x="9941" y="547854"/>
                  </a:lnTo>
                  <a:cubicBezTo>
                    <a:pt x="7305" y="547854"/>
                    <a:pt x="4776" y="546807"/>
                    <a:pt x="2912" y="544943"/>
                  </a:cubicBezTo>
                  <a:cubicBezTo>
                    <a:pt x="1047" y="543078"/>
                    <a:pt x="0" y="540550"/>
                    <a:pt x="0" y="537913"/>
                  </a:cubicBezTo>
                  <a:lnTo>
                    <a:pt x="0" y="9941"/>
                  </a:lnTo>
                  <a:cubicBezTo>
                    <a:pt x="0" y="7305"/>
                    <a:pt x="1047" y="4776"/>
                    <a:pt x="2912" y="2912"/>
                  </a:cubicBezTo>
                  <a:cubicBezTo>
                    <a:pt x="4776" y="1047"/>
                    <a:pt x="7305" y="0"/>
                    <a:pt x="9941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0" name="TextBox 8"/>
            <p:cNvSpPr/>
            <p:nvPr/>
          </p:nvSpPr>
          <p:spPr>
            <a:xfrm>
              <a:off x="1334520" y="6873120"/>
              <a:ext cx="13239000" cy="2242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411" name="TextBox 9"/>
          <p:cNvSpPr/>
          <p:nvPr/>
        </p:nvSpPr>
        <p:spPr>
          <a:xfrm>
            <a:off x="6241680" y="5052600"/>
            <a:ext cx="7626960" cy="131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✓ Application complète, fonctionnelle, sécurisée et testée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✓ Workflow GitHub professionnel appliqué du début à la fin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✓ 0 vulnérabilité détectée par Bandit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✓ 92 tests passants avec couverture complète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✓ Architecture modulaire avec Blueprints Flask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10"/>
          <p:cNvSpPr/>
          <p:nvPr/>
        </p:nvSpPr>
        <p:spPr>
          <a:xfrm>
            <a:off x="2019600" y="5109840"/>
            <a:ext cx="316044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52"/>
              </a:lnSpc>
              <a:tabLst>
                <a:tab pos="0" algn="l"/>
              </a:tabLst>
            </a:pPr>
            <a:r>
              <a:rPr lang="en-US" sz="253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Réussites</a:t>
            </a:r>
            <a:endParaRPr lang="en-GB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11"/>
          <p:cNvSpPr/>
          <p:nvPr/>
        </p:nvSpPr>
        <p:spPr>
          <a:xfrm>
            <a:off x="6241680" y="7413120"/>
            <a:ext cx="7626960" cy="131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→ Déploiement serveur (Heroku, Railway, VPS)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→ CI/CD automatisé avec GitHub Actions (tests + Bandit)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→ Système de notation et avis des livres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→ API REST pour application mobile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→ Notifications email pour réservations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12"/>
          <p:cNvSpPr/>
          <p:nvPr/>
        </p:nvSpPr>
        <p:spPr>
          <a:xfrm>
            <a:off x="2019600" y="7470360"/>
            <a:ext cx="2675520" cy="39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3152"/>
              </a:lnSpc>
              <a:tabLst>
                <a:tab pos="0" algn="l"/>
              </a:tabLst>
            </a:pPr>
            <a:r>
              <a:rPr lang="en-US" sz="2530" b="1" u="none" strike="noStrike" spc="28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Évolutions</a:t>
            </a:r>
            <a:endParaRPr lang="en-GB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13"/>
          <p:cNvSpPr/>
          <p:nvPr/>
        </p:nvSpPr>
        <p:spPr>
          <a:xfrm>
            <a:off x="1464840" y="3333960"/>
            <a:ext cx="10848600" cy="61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407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Un projet scolaire mené avec des pratiques professionnelles, de la conception au déploiement. Voici nos accomplissements et les pistes d'évolution pour The Library.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14"/>
          <p:cNvSpPr/>
          <p:nvPr/>
        </p:nvSpPr>
        <p:spPr>
          <a:xfrm>
            <a:off x="1464840" y="1230480"/>
            <a:ext cx="10347840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7486"/>
              </a:lnSpc>
              <a:tabLst>
                <a:tab pos="0" algn="l"/>
              </a:tabLst>
            </a:pPr>
            <a:r>
              <a:rPr lang="en-US" sz="5980" b="1" u="none" strike="noStrike" spc="65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Bilan &amp; perspectives</a:t>
            </a:r>
            <a:endParaRPr lang="en-GB" sz="5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Freeform 2"/>
          <p:cNvSpPr/>
          <p:nvPr/>
        </p:nvSpPr>
        <p:spPr>
          <a:xfrm>
            <a:off x="0" y="0"/>
            <a:ext cx="18287640" cy="10286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0286640"/>
              <a:gd name="textAreaBottom" fmla="*/ 10287000 h 10286640"/>
            </a:gdLst>
            <a:ahLst/>
            <a:cxnLst/>
            <a:rect l="textAreaLeft" t="textAreaTop" r="textAreaRight" b="textAreaBottom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18" name="Group 3"/>
          <p:cNvGrpSpPr/>
          <p:nvPr/>
        </p:nvGrpSpPr>
        <p:grpSpPr>
          <a:xfrm>
            <a:off x="10226520" y="6628320"/>
            <a:ext cx="5253480" cy="3091680"/>
            <a:chOff x="10226520" y="6628320"/>
            <a:chExt cx="5253480" cy="3091680"/>
          </a:xfrm>
        </p:grpSpPr>
        <p:sp>
          <p:nvSpPr>
            <p:cNvPr id="419" name="Freeform 4"/>
            <p:cNvSpPr/>
            <p:nvPr/>
          </p:nvSpPr>
          <p:spPr>
            <a:xfrm>
              <a:off x="10226520" y="6909480"/>
              <a:ext cx="5253480" cy="2810520"/>
            </a:xfrm>
            <a:custGeom>
              <a:avLst/>
              <a:gdLst>
                <a:gd name="textAreaLeft" fmla="*/ 0 w 5253480"/>
                <a:gd name="textAreaRight" fmla="*/ 5253840 w 5253480"/>
                <a:gd name="textAreaTop" fmla="*/ 0 h 2810520"/>
                <a:gd name="textAreaBottom" fmla="*/ 2810880 h 2810520"/>
              </a:gdLst>
              <a:ahLst/>
              <a:cxnLst/>
              <a:rect l="textAreaLeft" t="textAreaTop" r="textAreaRight" b="textAreaBottom"/>
              <a:pathLst>
                <a:path w="1072643" h="285840">
                  <a:moveTo>
                    <a:pt x="31531" y="0"/>
                  </a:moveTo>
                  <a:lnTo>
                    <a:pt x="1041111" y="0"/>
                  </a:lnTo>
                  <a:cubicBezTo>
                    <a:pt x="1058526" y="0"/>
                    <a:pt x="1072643" y="14117"/>
                    <a:pt x="1072643" y="31531"/>
                  </a:cubicBezTo>
                  <a:lnTo>
                    <a:pt x="1072643" y="254309"/>
                  </a:lnTo>
                  <a:cubicBezTo>
                    <a:pt x="1072643" y="271723"/>
                    <a:pt x="1058526" y="285840"/>
                    <a:pt x="1041111" y="285840"/>
                  </a:cubicBezTo>
                  <a:lnTo>
                    <a:pt x="31531" y="285840"/>
                  </a:lnTo>
                  <a:cubicBezTo>
                    <a:pt x="14117" y="285840"/>
                    <a:pt x="0" y="271723"/>
                    <a:pt x="0" y="254309"/>
                  </a:cubicBezTo>
                  <a:lnTo>
                    <a:pt x="0" y="31531"/>
                  </a:lnTo>
                  <a:cubicBezTo>
                    <a:pt x="0" y="14117"/>
                    <a:pt x="14117" y="0"/>
                    <a:pt x="31531" y="0"/>
                  </a:cubicBezTo>
                  <a:close/>
                </a:path>
              </a:pathLst>
            </a:custGeom>
            <a:solidFill>
              <a:srgbClr val="022F76">
                <a:alpha val="51000"/>
              </a:srgbClr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GB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0" name="TextBox 5"/>
            <p:cNvSpPr/>
            <p:nvPr/>
          </p:nvSpPr>
          <p:spPr>
            <a:xfrm>
              <a:off x="10226520" y="6628320"/>
              <a:ext cx="5253480" cy="309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50760" tIns="50760" rIns="50760" bIns="50760" anchor="ctr">
              <a:noAutofit/>
            </a:bodyPr>
            <a:lstStyle/>
            <a:p>
              <a:pPr algn="ctr" defTabSz="914400">
                <a:lnSpc>
                  <a:spcPts val="2378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421" name="TextBox 6"/>
          <p:cNvSpPr/>
          <p:nvPr/>
        </p:nvSpPr>
        <p:spPr>
          <a:xfrm>
            <a:off x="1440000" y="796680"/>
            <a:ext cx="8587800" cy="26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21314"/>
              </a:lnSpc>
              <a:tabLst>
                <a:tab pos="0" algn="l"/>
              </a:tabLst>
            </a:pPr>
            <a:r>
              <a:rPr lang="en-US" sz="1522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Merci</a:t>
            </a:r>
            <a:endParaRPr lang="en-GB" sz="15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Box 7"/>
          <p:cNvSpPr/>
          <p:nvPr/>
        </p:nvSpPr>
        <p:spPr>
          <a:xfrm>
            <a:off x="4857480" y="3780000"/>
            <a:ext cx="12062520" cy="23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ts val="18799"/>
              </a:lnSpc>
              <a:tabLst>
                <a:tab pos="0" algn="l"/>
              </a:tabLst>
            </a:pPr>
            <a:r>
              <a:rPr lang="en-US" sz="13430" b="1" u="none" strike="noStrike">
                <a:solidFill>
                  <a:srgbClr val="FFFFFF"/>
                </a:solidFill>
                <a:effectLst/>
                <a:uFillTx/>
                <a:latin typeface="Garet Bold"/>
                <a:ea typeface="Garet Bold"/>
              </a:rPr>
              <a:t>Questions ?</a:t>
            </a:r>
            <a:endParaRPr lang="en-GB" sz="13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8"/>
          <p:cNvSpPr/>
          <p:nvPr/>
        </p:nvSpPr>
        <p:spPr>
          <a:xfrm>
            <a:off x="10788480" y="7475400"/>
            <a:ext cx="3971520" cy="170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914400">
              <a:lnSpc>
                <a:spcPts val="1678"/>
              </a:lnSpc>
              <a:tabLst>
                <a:tab pos="0" algn="l"/>
              </a:tabLst>
            </a:pPr>
            <a:r>
              <a:rPr lang="en-US" sz="1600" b="0" u="none" strike="noStrike" spc="201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"THE LIBRARY : UN PROJET SCOLAIRE DÉVELOPPÉ AVEC DES PRATIQUES PROFESSIONNELLES."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algn="r" defTabSz="914400">
              <a:lnSpc>
                <a:spcPts val="1678"/>
              </a:lnSpc>
              <a:tabLst>
                <a:tab pos="0" algn="l"/>
              </a:tabLst>
            </a:pPr>
            <a:r>
              <a:rPr lang="en-US" sz="1600" b="0" u="none" strike="noStrike" spc="201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AGILE · GITHUB · SÉCURITÉ · TESTS · CLEAN CODE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algn="r" defTabSz="914400">
              <a:lnSpc>
                <a:spcPts val="1678"/>
              </a:lnSpc>
              <a:tabLst>
                <a:tab pos="0" algn="l"/>
              </a:tabLst>
            </a:pPr>
            <a:r>
              <a:rPr lang="en-US" sz="1600" b="0" u="none" strike="noStrike" spc="201">
                <a:solidFill>
                  <a:srgbClr val="FFFFFF"/>
                </a:solidFill>
                <a:effectLst/>
                <a:uFillTx/>
                <a:latin typeface="Montserrat"/>
                <a:ea typeface="Montserrat"/>
              </a:rPr>
              <a:t>GITHUB.COM/M1D0B4N/THE-LIBRARY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2138</Words>
  <Application>Microsoft Office PowerPoint</Application>
  <PresentationFormat>Personnalisé</PresentationFormat>
  <Paragraphs>237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32" baseType="lpstr">
      <vt:lpstr>Calibri</vt:lpstr>
      <vt:lpstr>Garet Ultra-Bold</vt:lpstr>
      <vt:lpstr>Symbol</vt:lpstr>
      <vt:lpstr>Arial</vt:lpstr>
      <vt:lpstr>Wingdings</vt:lpstr>
      <vt:lpstr>Montserrat</vt:lpstr>
      <vt:lpstr>Montserrat Light</vt:lpstr>
      <vt:lpstr>Garet Bold</vt:lpstr>
      <vt:lpstr>Times New Roman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Library: Projet Web Bibliothèque
</dc:title>
  <dc:subject/>
  <dc:creator/>
  <dc:description/>
  <cp:lastModifiedBy>m1d0b4n _</cp:lastModifiedBy>
  <cp:revision>3</cp:revision>
  <dcterms:created xsi:type="dcterms:W3CDTF">2006-08-16T00:00:00Z</dcterms:created>
  <dcterms:modified xsi:type="dcterms:W3CDTF">2026-05-27T11:47:13Z</dcterms:modified>
  <dc:identifier>DAHK2AVqFzc</dc:identifier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