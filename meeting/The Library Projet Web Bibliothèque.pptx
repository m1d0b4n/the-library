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4.svg" ContentType="image/sv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8288000" cy="10287000"/>
  <p:notesSz cx="7559675" cy="10691813"/>
  <p:embeddedFontLst>
    <p:embeddedFont>
      <p:font typeface="Montserrat" panose="020F0502020204030204" pitchFamily="2" charset="0"/>
      <p:regular r:id="rId24"/>
    </p:embeddedFont>
    <p:embeddedFont>
      <p:font typeface="Montserrat Light" panose="00000400000000000000" pitchFamily="2" charset="0"/>
      <p:regular r:id="rId25"/>
    </p:embeddedFont>
  </p:embeddedFontLst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7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font" Target="fonts/font1.fntdata"/><Relationship Id="rId25" Type="http://schemas.openxmlformats.org/officeDocument/2006/relationships/font" Target="fonts/font2.fntdata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847C31A-5144-48F9-8EBE-EAF5B58BBFB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‹N°›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0DD7C03-6269-43D3-BBB5-12045552CF0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‹N°›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B149CDB-30AD-4658-B48A-EE71875A903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‹N°›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CCDF470-3C5A-4B3E-A0C8-F2E825B807C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‹N°›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 Head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E99043B-0D13-480F-B275-844A5981C13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‹N°›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1545FFA-08F3-41F7-A603-93655915842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‹N°›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is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B869845-A9BF-4209-A62A-9F85A8AA744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‹N°›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6189C28-198D-4558-B892-F4274D19C9F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‹N°›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540D18B-DCEB-4800-AAEF-C05F403A803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‹N°›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A88F304-514B-442B-98AD-A42FB485414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‹N°›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B0AD743-8C6E-40A1-B3BF-BCA3C4CD5B7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‹N°›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2.png"/><Relationship Id="rId3" Type="http://schemas.openxmlformats.org/officeDocument/2006/relationships/image" Target="../media/image4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2.png"/><Relationship Id="rId3" Type="http://schemas.openxmlformats.org/officeDocument/2006/relationships/image" Target="../media/image4.sv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Freeform 2"/>
          <p:cNvSpPr/>
          <p:nvPr/>
        </p:nvSpPr>
        <p:spPr>
          <a:xfrm>
            <a:off x="0" y="0"/>
            <a:ext cx="18287640" cy="10286640"/>
          </a:xfrm>
          <a:custGeom>
            <a:avLst/>
            <a:gdLst>
              <a:gd name="textAreaLeft" fmla="*/ 0 w 18287640"/>
              <a:gd name="textAreaRight" fmla="*/ 18288000 w 18287640"/>
              <a:gd name="textAreaTop" fmla="*/ 0 h 10286640"/>
              <a:gd name="textAreaBottom" fmla="*/ 10287000 h 10286640"/>
            </a:gdLst>
            <a:ahLst/>
            <a:cxnLst/>
            <a:rect l="textAreaLeft" t="textAreaTop" r="textAreaRight" b="textAreaBottom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62" name="Group 3"/>
          <p:cNvGrpSpPr/>
          <p:nvPr/>
        </p:nvGrpSpPr>
        <p:grpSpPr>
          <a:xfrm>
            <a:off x="9878040" y="6628320"/>
            <a:ext cx="4173480" cy="1223280"/>
            <a:chOff x="9878040" y="6628320"/>
            <a:chExt cx="4173480" cy="1223280"/>
          </a:xfrm>
        </p:grpSpPr>
        <p:sp>
          <p:nvSpPr>
            <p:cNvPr id="63" name="Freeform 4"/>
            <p:cNvSpPr/>
            <p:nvPr/>
          </p:nvSpPr>
          <p:spPr>
            <a:xfrm>
              <a:off x="9878040" y="6739560"/>
              <a:ext cx="4173480" cy="1112040"/>
            </a:xfrm>
            <a:custGeom>
              <a:avLst/>
              <a:gdLst>
                <a:gd name="textAreaLeft" fmla="*/ 0 w 4173480"/>
                <a:gd name="textAreaRight" fmla="*/ 4173840 w 4173480"/>
                <a:gd name="textAreaTop" fmla="*/ 0 h 1112040"/>
                <a:gd name="textAreaBottom" fmla="*/ 1112400 h 1112040"/>
              </a:gdLst>
              <a:ahLst/>
              <a:cxnLst/>
              <a:rect l="textAreaLeft" t="textAreaTop" r="textAreaRight" b="textAreaBottom"/>
              <a:pathLst>
                <a:path w="1072643" h="285840">
                  <a:moveTo>
                    <a:pt x="31531" y="0"/>
                  </a:moveTo>
                  <a:lnTo>
                    <a:pt x="1041111" y="0"/>
                  </a:lnTo>
                  <a:cubicBezTo>
                    <a:pt x="1058526" y="0"/>
                    <a:pt x="1072643" y="14117"/>
                    <a:pt x="1072643" y="31531"/>
                  </a:cubicBezTo>
                  <a:lnTo>
                    <a:pt x="1072643" y="254309"/>
                  </a:lnTo>
                  <a:cubicBezTo>
                    <a:pt x="1072643" y="271723"/>
                    <a:pt x="1058526" y="285840"/>
                    <a:pt x="1041111" y="285840"/>
                  </a:cubicBezTo>
                  <a:lnTo>
                    <a:pt x="31531" y="285840"/>
                  </a:lnTo>
                  <a:cubicBezTo>
                    <a:pt x="14117" y="285840"/>
                    <a:pt x="0" y="271723"/>
                    <a:pt x="0" y="254309"/>
                  </a:cubicBezTo>
                  <a:lnTo>
                    <a:pt x="0" y="31531"/>
                  </a:lnTo>
                  <a:cubicBezTo>
                    <a:pt x="0" y="14117"/>
                    <a:pt x="14117" y="0"/>
                    <a:pt x="31531" y="0"/>
                  </a:cubicBezTo>
                  <a:close/>
                </a:path>
              </a:pathLst>
            </a:custGeom>
            <a:solidFill>
              <a:srgbClr val="022F76">
                <a:alpha val="5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GB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" name="TextBox 5"/>
            <p:cNvSpPr/>
            <p:nvPr/>
          </p:nvSpPr>
          <p:spPr>
            <a:xfrm>
              <a:off x="9878040" y="6628320"/>
              <a:ext cx="4173480" cy="1223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50760" tIns="50760" rIns="50760" bIns="50760" anchor="ctr">
              <a:noAutofit/>
            </a:bodyPr>
            <a:lstStyle/>
            <a:p>
              <a:pPr algn="ctr" defTabSz="914400">
                <a:lnSpc>
                  <a:spcPts val="2378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65" name="TextBox 6"/>
          <p:cNvSpPr/>
          <p:nvPr/>
        </p:nvSpPr>
        <p:spPr>
          <a:xfrm>
            <a:off x="4076640" y="1739880"/>
            <a:ext cx="10863360" cy="204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16067"/>
              </a:lnSpc>
              <a:tabLst>
                <a:tab pos="0" algn="l"/>
              </a:tabLst>
            </a:pPr>
            <a:r>
              <a:rPr lang="en-US" sz="11470" b="1" u="none" strike="noStrike">
                <a:solidFill>
                  <a:srgbClr val="FFFFFF"/>
                </a:solidFill>
                <a:effectLst/>
                <a:uFillTx/>
                <a:latin typeface="Garet Bold"/>
                <a:ea typeface="Garet Bold"/>
              </a:rPr>
              <a:t>The Library</a:t>
            </a:r>
            <a:endParaRPr lang="en-GB" sz="114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Box 7"/>
          <p:cNvSpPr/>
          <p:nvPr/>
        </p:nvSpPr>
        <p:spPr>
          <a:xfrm>
            <a:off x="4883040" y="4140000"/>
            <a:ext cx="12062520" cy="2146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8657"/>
              </a:lnSpc>
              <a:tabLst>
                <a:tab pos="0" algn="l"/>
              </a:tabLst>
            </a:pPr>
            <a:r>
              <a:rPr lang="en-US" sz="6190" b="1" u="none" strike="noStrike">
                <a:solidFill>
                  <a:srgbClr val="FFFFFF"/>
                </a:solidFill>
                <a:effectLst/>
                <a:uFillTx/>
                <a:latin typeface="Garet Bold"/>
                <a:ea typeface="Garet Bold"/>
              </a:rPr>
              <a:t>Application web de gestion de bibliothèque</a:t>
            </a:r>
            <a:endParaRPr lang="en-GB" sz="61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Box 8"/>
          <p:cNvSpPr/>
          <p:nvPr/>
        </p:nvSpPr>
        <p:spPr>
          <a:xfrm>
            <a:off x="10477800" y="6840000"/>
            <a:ext cx="2842200" cy="826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r" defTabSz="914400">
              <a:lnSpc>
                <a:spcPts val="1678"/>
              </a:lnSpc>
              <a:tabLst>
                <a:tab pos="0" algn="l"/>
              </a:tabLst>
            </a:pPr>
            <a:r>
              <a:rPr lang="en-US" sz="1200" b="0" u="none" strike="noStrike" spc="201">
                <a:solidFill>
                  <a:srgbClr val="FFFFFF"/>
                </a:solidFill>
                <a:effectLst/>
                <a:uFillTx/>
                <a:latin typeface="Montserrat"/>
                <a:ea typeface="Montserrat"/>
              </a:rPr>
              <a:t>PYTHON · FLASK · SQLITE · TAILWIND CSS · GITHUB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ts val="1678"/>
              </a:lnSpc>
              <a:tabLst>
                <a:tab pos="0" algn="l"/>
              </a:tabLst>
            </a:pPr>
            <a:r>
              <a:rPr lang="en-US" sz="1200" b="0" u="none" strike="noStrike" spc="201">
                <a:solidFill>
                  <a:srgbClr val="FFFFFF"/>
                </a:solidFill>
                <a:effectLst/>
                <a:uFillTx/>
                <a:latin typeface="Montserrat"/>
                <a:ea typeface="Montserrat"/>
              </a:rPr>
              <a:t>AGILE — 5 SPRINTS · 92 TESTS · 10+ PRS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Freeform 2"/>
          <p:cNvSpPr/>
          <p:nvPr/>
        </p:nvSpPr>
        <p:spPr>
          <a:xfrm>
            <a:off x="0" y="0"/>
            <a:ext cx="18287640" cy="10286640"/>
          </a:xfrm>
          <a:custGeom>
            <a:avLst/>
            <a:gdLst>
              <a:gd name="textAreaLeft" fmla="*/ 0 w 18287640"/>
              <a:gd name="textAreaRight" fmla="*/ 18288000 w 18287640"/>
              <a:gd name="textAreaTop" fmla="*/ 0 h 10286640"/>
              <a:gd name="textAreaBottom" fmla="*/ 10287000 h 10286640"/>
            </a:gdLst>
            <a:ahLst/>
            <a:cxnLst/>
            <a:rect l="textAreaLeft" t="textAreaTop" r="textAreaRight" b="textAreaBottom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69" name="Group 3"/>
          <p:cNvGrpSpPr/>
          <p:nvPr/>
        </p:nvGrpSpPr>
        <p:grpSpPr>
          <a:xfrm>
            <a:off x="7968600" y="1660320"/>
            <a:ext cx="8943120" cy="2200320"/>
            <a:chOff x="7968600" y="1660320"/>
            <a:chExt cx="8943120" cy="2200320"/>
          </a:xfrm>
        </p:grpSpPr>
        <p:sp>
          <p:nvSpPr>
            <p:cNvPr id="70" name="Freeform 4"/>
            <p:cNvSpPr/>
            <p:nvPr/>
          </p:nvSpPr>
          <p:spPr>
            <a:xfrm>
              <a:off x="7968600" y="1774080"/>
              <a:ext cx="8943120" cy="2086560"/>
            </a:xfrm>
            <a:custGeom>
              <a:avLst/>
              <a:gdLst>
                <a:gd name="textAreaLeft" fmla="*/ 0 w 8943120"/>
                <a:gd name="textAreaRight" fmla="*/ 8943480 w 8943120"/>
                <a:gd name="textAreaTop" fmla="*/ 0 h 2086560"/>
                <a:gd name="textAreaBottom" fmla="*/ 2086920 h 2086560"/>
              </a:gdLst>
              <a:ahLst/>
              <a:cxnLst/>
              <a:rect l="textAreaLeft" t="textAreaTop" r="textAreaRight" b="textAreaBottom"/>
              <a:pathLst>
                <a:path w="2249203" h="524870">
                  <a:moveTo>
                    <a:pt x="14716" y="0"/>
                  </a:moveTo>
                  <a:lnTo>
                    <a:pt x="2234487" y="0"/>
                  </a:lnTo>
                  <a:cubicBezTo>
                    <a:pt x="2238390" y="0"/>
                    <a:pt x="2242133" y="1550"/>
                    <a:pt x="2244893" y="4310"/>
                  </a:cubicBezTo>
                  <a:cubicBezTo>
                    <a:pt x="2247653" y="7070"/>
                    <a:pt x="2249203" y="10813"/>
                    <a:pt x="2249203" y="14716"/>
                  </a:cubicBezTo>
                  <a:lnTo>
                    <a:pt x="2249203" y="510154"/>
                  </a:lnTo>
                  <a:cubicBezTo>
                    <a:pt x="2249203" y="514057"/>
                    <a:pt x="2247653" y="517800"/>
                    <a:pt x="2244893" y="520560"/>
                  </a:cubicBezTo>
                  <a:cubicBezTo>
                    <a:pt x="2242133" y="523320"/>
                    <a:pt x="2238390" y="524870"/>
                    <a:pt x="2234487" y="524870"/>
                  </a:cubicBezTo>
                  <a:lnTo>
                    <a:pt x="14716" y="524870"/>
                  </a:lnTo>
                  <a:cubicBezTo>
                    <a:pt x="10813" y="524870"/>
                    <a:pt x="7070" y="523320"/>
                    <a:pt x="4310" y="520560"/>
                  </a:cubicBezTo>
                  <a:cubicBezTo>
                    <a:pt x="1550" y="517800"/>
                    <a:pt x="0" y="514057"/>
                    <a:pt x="0" y="510154"/>
                  </a:cubicBezTo>
                  <a:lnTo>
                    <a:pt x="0" y="14716"/>
                  </a:lnTo>
                  <a:cubicBezTo>
                    <a:pt x="0" y="10813"/>
                    <a:pt x="1550" y="7070"/>
                    <a:pt x="4310" y="4310"/>
                  </a:cubicBezTo>
                  <a:cubicBezTo>
                    <a:pt x="7070" y="1550"/>
                    <a:pt x="10813" y="0"/>
                    <a:pt x="14716" y="0"/>
                  </a:cubicBezTo>
                  <a:close/>
                </a:path>
              </a:pathLst>
            </a:custGeom>
            <a:solidFill>
              <a:srgbClr val="022F76">
                <a:alpha val="5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GB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" name="TextBox 5"/>
            <p:cNvSpPr/>
            <p:nvPr/>
          </p:nvSpPr>
          <p:spPr>
            <a:xfrm>
              <a:off x="7968600" y="1660320"/>
              <a:ext cx="8943120" cy="2200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50760" tIns="50760" rIns="50760" bIns="50760" anchor="ctr">
              <a:noAutofit/>
            </a:bodyPr>
            <a:lstStyle/>
            <a:p>
              <a:pPr algn="ctr" defTabSz="914400">
                <a:lnSpc>
                  <a:spcPts val="2378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grpSp>
        <p:nvGrpSpPr>
          <p:cNvPr id="72" name="Group 6"/>
          <p:cNvGrpSpPr/>
          <p:nvPr/>
        </p:nvGrpSpPr>
        <p:grpSpPr>
          <a:xfrm>
            <a:off x="7968600" y="3987000"/>
            <a:ext cx="8943120" cy="2200320"/>
            <a:chOff x="7968600" y="3987000"/>
            <a:chExt cx="8943120" cy="2200320"/>
          </a:xfrm>
        </p:grpSpPr>
        <p:sp>
          <p:nvSpPr>
            <p:cNvPr id="73" name="Freeform 7"/>
            <p:cNvSpPr/>
            <p:nvPr/>
          </p:nvSpPr>
          <p:spPr>
            <a:xfrm>
              <a:off x="7968600" y="4100760"/>
              <a:ext cx="8943120" cy="2086560"/>
            </a:xfrm>
            <a:custGeom>
              <a:avLst/>
              <a:gdLst>
                <a:gd name="textAreaLeft" fmla="*/ 0 w 8943120"/>
                <a:gd name="textAreaRight" fmla="*/ 8943480 w 8943120"/>
                <a:gd name="textAreaTop" fmla="*/ 0 h 2086560"/>
                <a:gd name="textAreaBottom" fmla="*/ 2086920 h 2086560"/>
              </a:gdLst>
              <a:ahLst/>
              <a:cxnLst/>
              <a:rect l="textAreaLeft" t="textAreaTop" r="textAreaRight" b="textAreaBottom"/>
              <a:pathLst>
                <a:path w="2249203" h="524870">
                  <a:moveTo>
                    <a:pt x="14716" y="0"/>
                  </a:moveTo>
                  <a:lnTo>
                    <a:pt x="2234487" y="0"/>
                  </a:lnTo>
                  <a:cubicBezTo>
                    <a:pt x="2238390" y="0"/>
                    <a:pt x="2242133" y="1550"/>
                    <a:pt x="2244893" y="4310"/>
                  </a:cubicBezTo>
                  <a:cubicBezTo>
                    <a:pt x="2247653" y="7070"/>
                    <a:pt x="2249203" y="10813"/>
                    <a:pt x="2249203" y="14716"/>
                  </a:cubicBezTo>
                  <a:lnTo>
                    <a:pt x="2249203" y="510154"/>
                  </a:lnTo>
                  <a:cubicBezTo>
                    <a:pt x="2249203" y="514057"/>
                    <a:pt x="2247653" y="517800"/>
                    <a:pt x="2244893" y="520560"/>
                  </a:cubicBezTo>
                  <a:cubicBezTo>
                    <a:pt x="2242133" y="523320"/>
                    <a:pt x="2238390" y="524870"/>
                    <a:pt x="2234487" y="524870"/>
                  </a:cubicBezTo>
                  <a:lnTo>
                    <a:pt x="14716" y="524870"/>
                  </a:lnTo>
                  <a:cubicBezTo>
                    <a:pt x="10813" y="524870"/>
                    <a:pt x="7070" y="523320"/>
                    <a:pt x="4310" y="520560"/>
                  </a:cubicBezTo>
                  <a:cubicBezTo>
                    <a:pt x="1550" y="517800"/>
                    <a:pt x="0" y="514057"/>
                    <a:pt x="0" y="510154"/>
                  </a:cubicBezTo>
                  <a:lnTo>
                    <a:pt x="0" y="14716"/>
                  </a:lnTo>
                  <a:cubicBezTo>
                    <a:pt x="0" y="10813"/>
                    <a:pt x="1550" y="7070"/>
                    <a:pt x="4310" y="4310"/>
                  </a:cubicBezTo>
                  <a:cubicBezTo>
                    <a:pt x="7070" y="1550"/>
                    <a:pt x="10813" y="0"/>
                    <a:pt x="14716" y="0"/>
                  </a:cubicBezTo>
                  <a:close/>
                </a:path>
              </a:pathLst>
            </a:custGeom>
            <a:solidFill>
              <a:srgbClr val="022F76">
                <a:alpha val="5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GB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4" name="TextBox 8"/>
            <p:cNvSpPr/>
            <p:nvPr/>
          </p:nvSpPr>
          <p:spPr>
            <a:xfrm>
              <a:off x="7968600" y="3987000"/>
              <a:ext cx="8943120" cy="2200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50760" tIns="50760" rIns="50760" bIns="50760" anchor="ctr">
              <a:noAutofit/>
            </a:bodyPr>
            <a:lstStyle/>
            <a:p>
              <a:pPr algn="ctr" defTabSz="914400">
                <a:lnSpc>
                  <a:spcPts val="2378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grpSp>
        <p:nvGrpSpPr>
          <p:cNvPr id="75" name="Group 9"/>
          <p:cNvGrpSpPr/>
          <p:nvPr/>
        </p:nvGrpSpPr>
        <p:grpSpPr>
          <a:xfrm>
            <a:off x="7968600" y="6312240"/>
            <a:ext cx="8943120" cy="2200320"/>
            <a:chOff x="7968600" y="6312240"/>
            <a:chExt cx="8943120" cy="2200320"/>
          </a:xfrm>
        </p:grpSpPr>
        <p:sp>
          <p:nvSpPr>
            <p:cNvPr id="76" name="Freeform 10"/>
            <p:cNvSpPr/>
            <p:nvPr/>
          </p:nvSpPr>
          <p:spPr>
            <a:xfrm>
              <a:off x="7968600" y="6426000"/>
              <a:ext cx="8943120" cy="2086560"/>
            </a:xfrm>
            <a:custGeom>
              <a:avLst/>
              <a:gdLst>
                <a:gd name="textAreaLeft" fmla="*/ 0 w 8943120"/>
                <a:gd name="textAreaRight" fmla="*/ 8943480 w 8943120"/>
                <a:gd name="textAreaTop" fmla="*/ 0 h 2086560"/>
                <a:gd name="textAreaBottom" fmla="*/ 2086920 h 2086560"/>
              </a:gdLst>
              <a:ahLst/>
              <a:cxnLst/>
              <a:rect l="textAreaLeft" t="textAreaTop" r="textAreaRight" b="textAreaBottom"/>
              <a:pathLst>
                <a:path w="2249203" h="524870">
                  <a:moveTo>
                    <a:pt x="14716" y="0"/>
                  </a:moveTo>
                  <a:lnTo>
                    <a:pt x="2234487" y="0"/>
                  </a:lnTo>
                  <a:cubicBezTo>
                    <a:pt x="2238390" y="0"/>
                    <a:pt x="2242133" y="1550"/>
                    <a:pt x="2244893" y="4310"/>
                  </a:cubicBezTo>
                  <a:cubicBezTo>
                    <a:pt x="2247653" y="7070"/>
                    <a:pt x="2249203" y="10813"/>
                    <a:pt x="2249203" y="14716"/>
                  </a:cubicBezTo>
                  <a:lnTo>
                    <a:pt x="2249203" y="510154"/>
                  </a:lnTo>
                  <a:cubicBezTo>
                    <a:pt x="2249203" y="514057"/>
                    <a:pt x="2247653" y="517800"/>
                    <a:pt x="2244893" y="520560"/>
                  </a:cubicBezTo>
                  <a:cubicBezTo>
                    <a:pt x="2242133" y="523320"/>
                    <a:pt x="2238390" y="524870"/>
                    <a:pt x="2234487" y="524870"/>
                  </a:cubicBezTo>
                  <a:lnTo>
                    <a:pt x="14716" y="524870"/>
                  </a:lnTo>
                  <a:cubicBezTo>
                    <a:pt x="10813" y="524870"/>
                    <a:pt x="7070" y="523320"/>
                    <a:pt x="4310" y="520560"/>
                  </a:cubicBezTo>
                  <a:cubicBezTo>
                    <a:pt x="1550" y="517800"/>
                    <a:pt x="0" y="514057"/>
                    <a:pt x="0" y="510154"/>
                  </a:cubicBezTo>
                  <a:lnTo>
                    <a:pt x="0" y="14716"/>
                  </a:lnTo>
                  <a:cubicBezTo>
                    <a:pt x="0" y="10813"/>
                    <a:pt x="1550" y="7070"/>
                    <a:pt x="4310" y="4310"/>
                  </a:cubicBezTo>
                  <a:cubicBezTo>
                    <a:pt x="7070" y="1550"/>
                    <a:pt x="10813" y="0"/>
                    <a:pt x="14716" y="0"/>
                  </a:cubicBezTo>
                  <a:close/>
                </a:path>
              </a:pathLst>
            </a:custGeom>
            <a:solidFill>
              <a:srgbClr val="022F76">
                <a:alpha val="5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GB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7" name="TextBox 11"/>
            <p:cNvSpPr/>
            <p:nvPr/>
          </p:nvSpPr>
          <p:spPr>
            <a:xfrm>
              <a:off x="7968600" y="6312240"/>
              <a:ext cx="8943120" cy="2200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50760" tIns="50760" rIns="50760" bIns="50760" anchor="ctr">
              <a:noAutofit/>
            </a:bodyPr>
            <a:lstStyle/>
            <a:p>
              <a:pPr algn="ctr" defTabSz="914400">
                <a:lnSpc>
                  <a:spcPts val="2378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78" name="TextBox 12"/>
          <p:cNvSpPr/>
          <p:nvPr/>
        </p:nvSpPr>
        <p:spPr>
          <a:xfrm>
            <a:off x="9131040" y="2615040"/>
            <a:ext cx="7470360" cy="796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2092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Montserrat"/>
                <a:ea typeface="Montserrat"/>
              </a:rPr>
              <a:t>Le contexte et les objectifs du projet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092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Montserrat"/>
                <a:ea typeface="Montserrat"/>
              </a:rPr>
              <a:t>Organisation Agile &amp; GitHub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092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Montserrat"/>
                <a:ea typeface="Montserrat"/>
              </a:rPr>
              <a:t>Workflow de développement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Box 13"/>
          <p:cNvSpPr/>
          <p:nvPr/>
        </p:nvSpPr>
        <p:spPr>
          <a:xfrm>
            <a:off x="9131040" y="4941720"/>
            <a:ext cx="7470360" cy="796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2092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Montserrat"/>
                <a:ea typeface="Montserrat"/>
              </a:rPr>
              <a:t>Architecture technique (Flask, SQLite, Tailwind)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092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Montserrat"/>
                <a:ea typeface="Montserrat"/>
              </a:rPr>
              <a:t>Fonctionnalités de l'application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092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Montserrat"/>
                <a:ea typeface="Montserrat"/>
              </a:rPr>
              <a:t>Sécurité intégrée dès la conception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Box 14"/>
          <p:cNvSpPr/>
          <p:nvPr/>
        </p:nvSpPr>
        <p:spPr>
          <a:xfrm>
            <a:off x="9131040" y="7266960"/>
            <a:ext cx="7470360" cy="796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2092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Montserrat"/>
                <a:ea typeface="Montserrat"/>
              </a:rPr>
              <a:t>Tests automatisés (92 tests, 0 échec)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092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Montserrat"/>
                <a:ea typeface="Montserrat"/>
              </a:rPr>
              <a:t>Démonstration live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092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Montserrat"/>
                <a:ea typeface="Montserrat"/>
              </a:rPr>
              <a:t>Bilan &amp; apprentissages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Box 15"/>
          <p:cNvSpPr/>
          <p:nvPr/>
        </p:nvSpPr>
        <p:spPr>
          <a:xfrm>
            <a:off x="1457640" y="5309280"/>
            <a:ext cx="5473440" cy="98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2574"/>
              </a:lnSpc>
              <a:tabLst>
                <a:tab pos="0" algn="l"/>
              </a:tabLst>
            </a:pPr>
            <a:r>
              <a:rPr lang="en-US" sz="2100" b="0" u="none" strike="noStrike">
                <a:solidFill>
                  <a:srgbClr val="FFFFFF"/>
                </a:solidFill>
                <a:effectLst/>
                <a:uFillTx/>
                <a:latin typeface="Montserrat"/>
                <a:ea typeface="Montserrat"/>
              </a:rPr>
              <a:t>Plan de la présentation en trois grandes parties pour découvrir The Library, de la conception à la démonstration finale.</a:t>
            </a:r>
            <a:endParaRPr lang="en-GB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Box 16"/>
          <p:cNvSpPr/>
          <p:nvPr/>
        </p:nvSpPr>
        <p:spPr>
          <a:xfrm>
            <a:off x="9131040" y="2033280"/>
            <a:ext cx="4368960" cy="300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2367"/>
              </a:lnSpc>
              <a:tabLst>
                <a:tab pos="0" algn="l"/>
              </a:tabLst>
            </a:pPr>
            <a:r>
              <a:rPr lang="en-US" sz="1900" b="1" u="none" strike="noStrike" spc="20">
                <a:solidFill>
                  <a:srgbClr val="FFFFFF"/>
                </a:solidFill>
                <a:effectLst/>
                <a:uFillTx/>
                <a:latin typeface="Garet Bold"/>
                <a:ea typeface="Garet Bold"/>
              </a:rPr>
              <a:t>Contexte &amp; Organisation</a:t>
            </a:r>
            <a:endParaRPr lang="en-GB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Box 17"/>
          <p:cNvSpPr/>
          <p:nvPr/>
        </p:nvSpPr>
        <p:spPr>
          <a:xfrm>
            <a:off x="9131040" y="4359960"/>
            <a:ext cx="4370760" cy="284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2367"/>
              </a:lnSpc>
              <a:tabLst>
                <a:tab pos="0" algn="l"/>
              </a:tabLst>
            </a:pPr>
            <a:r>
              <a:rPr lang="en-US" sz="1900" b="1" u="none" strike="noStrike" spc="20">
                <a:solidFill>
                  <a:srgbClr val="FFFFFF"/>
                </a:solidFill>
                <a:effectLst/>
                <a:uFillTx/>
                <a:latin typeface="Garet Bold"/>
                <a:ea typeface="Garet Bold"/>
              </a:rPr>
              <a:t>Architecture &amp; Fonctionnalités</a:t>
            </a:r>
            <a:endParaRPr lang="en-GB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Box 18"/>
          <p:cNvSpPr/>
          <p:nvPr/>
        </p:nvSpPr>
        <p:spPr>
          <a:xfrm>
            <a:off x="9131040" y="6685200"/>
            <a:ext cx="3193560" cy="284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2367"/>
              </a:lnSpc>
              <a:tabLst>
                <a:tab pos="0" algn="l"/>
              </a:tabLst>
            </a:pPr>
            <a:r>
              <a:rPr lang="en-US" sz="1900" b="1" u="none" strike="noStrike" spc="20">
                <a:solidFill>
                  <a:srgbClr val="FFFFFF"/>
                </a:solidFill>
                <a:effectLst/>
                <a:uFillTx/>
                <a:latin typeface="Garet Bold"/>
                <a:ea typeface="Garet Bold"/>
              </a:rPr>
              <a:t>Tests &amp; Bilan</a:t>
            </a:r>
            <a:endParaRPr lang="en-GB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Box 19"/>
          <p:cNvSpPr/>
          <p:nvPr/>
        </p:nvSpPr>
        <p:spPr>
          <a:xfrm>
            <a:off x="8078760" y="2028600"/>
            <a:ext cx="848880" cy="553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4448"/>
              </a:lnSpc>
              <a:tabLst>
                <a:tab pos="0" algn="l"/>
              </a:tabLst>
            </a:pPr>
            <a:r>
              <a:rPr lang="en-US" sz="3570" b="1" u="none" strike="noStrike" spc="40">
                <a:solidFill>
                  <a:srgbClr val="FFFFFF"/>
                </a:solidFill>
                <a:effectLst/>
                <a:uFillTx/>
                <a:latin typeface="Garet Bold"/>
                <a:ea typeface="Garet Bold"/>
              </a:rPr>
              <a:t>01</a:t>
            </a:r>
            <a:endParaRPr lang="en-GB" sz="3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Box 20"/>
          <p:cNvSpPr/>
          <p:nvPr/>
        </p:nvSpPr>
        <p:spPr>
          <a:xfrm>
            <a:off x="8078760" y="4355280"/>
            <a:ext cx="848880" cy="553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4448"/>
              </a:lnSpc>
              <a:tabLst>
                <a:tab pos="0" algn="l"/>
              </a:tabLst>
            </a:pPr>
            <a:r>
              <a:rPr lang="en-US" sz="3570" b="1" u="none" strike="noStrike" spc="40">
                <a:solidFill>
                  <a:srgbClr val="FFFFFF"/>
                </a:solidFill>
                <a:effectLst/>
                <a:uFillTx/>
                <a:latin typeface="Garet Bold"/>
                <a:ea typeface="Garet Bold"/>
              </a:rPr>
              <a:t>02</a:t>
            </a:r>
            <a:endParaRPr lang="en-GB" sz="3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Box 21"/>
          <p:cNvSpPr/>
          <p:nvPr/>
        </p:nvSpPr>
        <p:spPr>
          <a:xfrm>
            <a:off x="8078760" y="6680520"/>
            <a:ext cx="848880" cy="553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4448"/>
              </a:lnSpc>
              <a:tabLst>
                <a:tab pos="0" algn="l"/>
              </a:tabLst>
            </a:pPr>
            <a:r>
              <a:rPr lang="en-US" sz="3570" b="1" u="none" strike="noStrike" spc="40">
                <a:solidFill>
                  <a:srgbClr val="FFFFFF"/>
                </a:solidFill>
                <a:effectLst/>
                <a:uFillTx/>
                <a:latin typeface="Garet Bold"/>
                <a:ea typeface="Garet Bold"/>
              </a:rPr>
              <a:t>03</a:t>
            </a:r>
            <a:endParaRPr lang="en-GB" sz="3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Box 22"/>
          <p:cNvSpPr/>
          <p:nvPr/>
        </p:nvSpPr>
        <p:spPr>
          <a:xfrm>
            <a:off x="1457640" y="3038760"/>
            <a:ext cx="6510600" cy="101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8039"/>
              </a:lnSpc>
              <a:tabLst>
                <a:tab pos="0" algn="l"/>
              </a:tabLst>
            </a:pPr>
            <a:r>
              <a:rPr lang="en-US" sz="6430" b="1" u="none" strike="noStrike" spc="71">
                <a:solidFill>
                  <a:srgbClr val="FFFFFF"/>
                </a:solidFill>
                <a:effectLst/>
                <a:uFillTx/>
                <a:latin typeface="Garet Bold"/>
                <a:ea typeface="Garet Bold"/>
              </a:rPr>
              <a:t>Sommaire</a:t>
            </a:r>
            <a:endParaRPr lang="en-GB" sz="6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Freeform 2"/>
          <p:cNvSpPr/>
          <p:nvPr/>
        </p:nvSpPr>
        <p:spPr>
          <a:xfrm>
            <a:off x="0" y="0"/>
            <a:ext cx="18287640" cy="10286640"/>
          </a:xfrm>
          <a:custGeom>
            <a:avLst/>
            <a:gdLst>
              <a:gd name="textAreaLeft" fmla="*/ 0 w 18287640"/>
              <a:gd name="textAreaRight" fmla="*/ 18288000 w 18287640"/>
              <a:gd name="textAreaTop" fmla="*/ 0 h 10286640"/>
              <a:gd name="textAreaBottom" fmla="*/ 10287000 h 10286640"/>
            </a:gdLst>
            <a:ahLst/>
            <a:cxnLst/>
            <a:rect l="textAreaLeft" t="textAreaTop" r="textAreaRight" b="textAreaBottom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90" name="Group 3"/>
          <p:cNvGrpSpPr/>
          <p:nvPr/>
        </p:nvGrpSpPr>
        <p:grpSpPr>
          <a:xfrm>
            <a:off x="1603800" y="3078360"/>
            <a:ext cx="15080400" cy="5396040"/>
            <a:chOff x="1603800" y="3078360"/>
            <a:chExt cx="15080400" cy="5396040"/>
          </a:xfrm>
        </p:grpSpPr>
        <p:sp>
          <p:nvSpPr>
            <p:cNvPr id="91" name="Freeform 4"/>
            <p:cNvSpPr/>
            <p:nvPr/>
          </p:nvSpPr>
          <p:spPr>
            <a:xfrm>
              <a:off x="1603800" y="3189240"/>
              <a:ext cx="15080400" cy="5285160"/>
            </a:xfrm>
            <a:custGeom>
              <a:avLst/>
              <a:gdLst>
                <a:gd name="textAreaLeft" fmla="*/ 0 w 15080400"/>
                <a:gd name="textAreaRight" fmla="*/ 15080760 w 15080400"/>
                <a:gd name="textAreaTop" fmla="*/ 0 h 5285160"/>
                <a:gd name="textAreaBottom" fmla="*/ 5285520 h 5285160"/>
              </a:gdLst>
              <a:ahLst/>
              <a:cxnLst/>
              <a:rect l="textAreaLeft" t="textAreaTop" r="textAreaRight" b="textAreaBottom"/>
              <a:pathLst>
                <a:path w="3875457" h="1358233">
                  <a:moveTo>
                    <a:pt x="8727" y="0"/>
                  </a:moveTo>
                  <a:lnTo>
                    <a:pt x="3866729" y="0"/>
                  </a:lnTo>
                  <a:cubicBezTo>
                    <a:pt x="3871550" y="0"/>
                    <a:pt x="3875457" y="3907"/>
                    <a:pt x="3875457" y="8727"/>
                  </a:cubicBezTo>
                  <a:lnTo>
                    <a:pt x="3875457" y="1349506"/>
                  </a:lnTo>
                  <a:cubicBezTo>
                    <a:pt x="3875457" y="1351821"/>
                    <a:pt x="3874538" y="1354040"/>
                    <a:pt x="3872901" y="1355677"/>
                  </a:cubicBezTo>
                  <a:cubicBezTo>
                    <a:pt x="3871264" y="1357314"/>
                    <a:pt x="3869044" y="1358233"/>
                    <a:pt x="3866729" y="1358233"/>
                  </a:cubicBezTo>
                  <a:lnTo>
                    <a:pt x="8727" y="1358233"/>
                  </a:lnTo>
                  <a:cubicBezTo>
                    <a:pt x="3907" y="1358233"/>
                    <a:pt x="0" y="1354326"/>
                    <a:pt x="0" y="1349506"/>
                  </a:cubicBezTo>
                  <a:lnTo>
                    <a:pt x="0" y="8727"/>
                  </a:lnTo>
                  <a:cubicBezTo>
                    <a:pt x="0" y="6413"/>
                    <a:pt x="919" y="4193"/>
                    <a:pt x="2556" y="2556"/>
                  </a:cubicBezTo>
                  <a:cubicBezTo>
                    <a:pt x="4193" y="919"/>
                    <a:pt x="6413" y="0"/>
                    <a:pt x="8727" y="0"/>
                  </a:cubicBezTo>
                  <a:close/>
                </a:path>
              </a:pathLst>
            </a:custGeom>
            <a:solidFill>
              <a:srgbClr val="022F76">
                <a:alpha val="5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GB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2" name="TextBox 5"/>
            <p:cNvSpPr/>
            <p:nvPr/>
          </p:nvSpPr>
          <p:spPr>
            <a:xfrm>
              <a:off x="1603800" y="3078360"/>
              <a:ext cx="15080400" cy="5396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50760" tIns="50760" rIns="50760" bIns="50760" anchor="ctr">
              <a:noAutofit/>
            </a:bodyPr>
            <a:lstStyle/>
            <a:p>
              <a:pPr algn="ctr" defTabSz="914400">
                <a:lnSpc>
                  <a:spcPts val="2378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93" name="TextBox 6"/>
          <p:cNvSpPr/>
          <p:nvPr/>
        </p:nvSpPr>
        <p:spPr>
          <a:xfrm>
            <a:off x="4695480" y="1362960"/>
            <a:ext cx="8896680" cy="1329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10908"/>
              </a:lnSpc>
              <a:tabLst>
                <a:tab pos="0" algn="l"/>
              </a:tabLst>
            </a:pPr>
            <a:r>
              <a:rPr lang="en-US" sz="7790" b="1" u="none" strike="noStrike" spc="62">
                <a:solidFill>
                  <a:srgbClr val="FFFFFF"/>
                </a:solidFill>
                <a:effectLst/>
                <a:uFillTx/>
                <a:latin typeface="Garet Ultra-Bold"/>
                <a:ea typeface="Garet Ultra-Bold"/>
              </a:rPr>
              <a:t>Le contexte</a:t>
            </a:r>
            <a:endParaRPr lang="en-GB" sz="7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Box 7"/>
          <p:cNvSpPr/>
          <p:nvPr/>
        </p:nvSpPr>
        <p:spPr>
          <a:xfrm>
            <a:off x="3134160" y="4264560"/>
            <a:ext cx="12018960" cy="95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2509"/>
              </a:lnSpc>
              <a:tabLst>
                <a:tab pos="0" algn="l"/>
              </a:tabLst>
            </a:pPr>
            <a:r>
              <a:rPr lang="en-US" sz="2100" b="0" u="none" strike="noStrike">
                <a:solidFill>
                  <a:srgbClr val="FFFFFF"/>
                </a:solidFill>
                <a:effectLst/>
                <a:uFillTx/>
                <a:latin typeface="Montserrat"/>
                <a:ea typeface="Montserrat"/>
              </a:rPr>
              <a:t>Projet scolaire : développer une application web complète de A à Z, seul ou en équipe, avec des pratiques professionnelles. Contraintes imposées : Python/Flask, Git/GitHub, application fonctionnelle, sécurisée et testée.</a:t>
            </a:r>
            <a:endParaRPr lang="en-GB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Box 8"/>
          <p:cNvSpPr/>
          <p:nvPr/>
        </p:nvSpPr>
        <p:spPr>
          <a:xfrm>
            <a:off x="3134160" y="6094440"/>
            <a:ext cx="12018960" cy="95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2509"/>
              </a:lnSpc>
              <a:tabLst>
                <a:tab pos="0" algn="l"/>
              </a:tabLst>
            </a:pPr>
            <a:r>
              <a:rPr lang="en-US" sz="2100" b="0" u="none" strike="noStrike">
                <a:solidFill>
                  <a:srgbClr val="FFFFFF"/>
                </a:solidFill>
                <a:effectLst/>
                <a:uFillTx/>
                <a:latin typeface="Montserrat"/>
                <a:ea typeface="Montserrat"/>
              </a:rPr>
              <a:t>Objectif personnel : dépasser le minimum requis et appliquer une vraie méthode de développement professionnelle — workflow Git structuré, méthode Agile, tests automatisés et sécurité intégrée dès la conception.</a:t>
            </a:r>
            <a:endParaRPr lang="en-GB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Freeform 2"/>
          <p:cNvSpPr/>
          <p:nvPr/>
        </p:nvSpPr>
        <p:spPr>
          <a:xfrm>
            <a:off x="0" y="0"/>
            <a:ext cx="18287640" cy="10286640"/>
          </a:xfrm>
          <a:custGeom>
            <a:avLst/>
            <a:gdLst>
              <a:gd name="textAreaLeft" fmla="*/ 0 w 18287640"/>
              <a:gd name="textAreaRight" fmla="*/ 18288000 w 18287640"/>
              <a:gd name="textAreaTop" fmla="*/ 0 h 10286640"/>
              <a:gd name="textAreaBottom" fmla="*/ 10287000 h 10286640"/>
            </a:gdLst>
            <a:ahLst/>
            <a:cxnLst/>
            <a:rect l="textAreaLeft" t="textAreaTop" r="textAreaRight" b="textAreaBottom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Box 3"/>
          <p:cNvSpPr/>
          <p:nvPr/>
        </p:nvSpPr>
        <p:spPr>
          <a:xfrm>
            <a:off x="1101240" y="1037880"/>
            <a:ext cx="10723680" cy="183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7231"/>
              </a:lnSpc>
              <a:tabLst>
                <a:tab pos="0" algn="l"/>
              </a:tabLst>
            </a:pPr>
            <a:r>
              <a:rPr lang="en-US" sz="6400" b="1" u="none" strike="noStrike">
                <a:solidFill>
                  <a:srgbClr val="FFFFFF"/>
                </a:solidFill>
                <a:effectLst/>
                <a:uFillTx/>
                <a:latin typeface="Garet Bold"/>
                <a:ea typeface="Garet Bold"/>
              </a:rPr>
              <a:t>L'application en un coup d'œil</a:t>
            </a:r>
            <a:endParaRPr lang="en-GB" sz="6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00" name="Group 6"/>
          <p:cNvGrpSpPr/>
          <p:nvPr/>
        </p:nvGrpSpPr>
        <p:grpSpPr>
          <a:xfrm>
            <a:off x="756000" y="2933280"/>
            <a:ext cx="8387640" cy="6889320"/>
            <a:chOff x="756000" y="2933280"/>
            <a:chExt cx="8387640" cy="6889320"/>
          </a:xfrm>
        </p:grpSpPr>
        <p:sp>
          <p:nvSpPr>
            <p:cNvPr id="101" name="Freeform 7"/>
            <p:cNvSpPr/>
            <p:nvPr/>
          </p:nvSpPr>
          <p:spPr>
            <a:xfrm>
              <a:off x="756000" y="3044520"/>
              <a:ext cx="8387640" cy="6778080"/>
            </a:xfrm>
            <a:custGeom>
              <a:avLst/>
              <a:gdLst>
                <a:gd name="textAreaLeft" fmla="*/ 0 w 8387640"/>
                <a:gd name="textAreaRight" fmla="*/ 8388000 w 8387640"/>
                <a:gd name="textAreaTop" fmla="*/ 0 h 6778080"/>
                <a:gd name="textAreaBottom" fmla="*/ 6778440 h 6778080"/>
              </a:gdLst>
              <a:ahLst/>
              <a:cxnLst/>
              <a:rect l="textAreaLeft" t="textAreaTop" r="textAreaRight" b="textAreaBottom"/>
              <a:pathLst>
                <a:path w="2155548" h="1741887">
                  <a:moveTo>
                    <a:pt x="15691" y="0"/>
                  </a:moveTo>
                  <a:lnTo>
                    <a:pt x="2139857" y="0"/>
                  </a:lnTo>
                  <a:cubicBezTo>
                    <a:pt x="2144019" y="0"/>
                    <a:pt x="2148010" y="1653"/>
                    <a:pt x="2150952" y="4596"/>
                  </a:cubicBezTo>
                  <a:cubicBezTo>
                    <a:pt x="2153895" y="7538"/>
                    <a:pt x="2155548" y="11529"/>
                    <a:pt x="2155548" y="15691"/>
                  </a:cubicBezTo>
                  <a:lnTo>
                    <a:pt x="2155548" y="1726197"/>
                  </a:lnTo>
                  <a:cubicBezTo>
                    <a:pt x="2155548" y="1734862"/>
                    <a:pt x="2148523" y="1741887"/>
                    <a:pt x="2139857" y="1741887"/>
                  </a:cubicBezTo>
                  <a:lnTo>
                    <a:pt x="15691" y="1741887"/>
                  </a:lnTo>
                  <a:cubicBezTo>
                    <a:pt x="11529" y="1741887"/>
                    <a:pt x="7538" y="1740234"/>
                    <a:pt x="4596" y="1737292"/>
                  </a:cubicBezTo>
                  <a:cubicBezTo>
                    <a:pt x="1653" y="1734349"/>
                    <a:pt x="0" y="1730358"/>
                    <a:pt x="0" y="1726197"/>
                  </a:cubicBezTo>
                  <a:lnTo>
                    <a:pt x="0" y="15691"/>
                  </a:lnTo>
                  <a:cubicBezTo>
                    <a:pt x="0" y="11529"/>
                    <a:pt x="1653" y="7538"/>
                    <a:pt x="4596" y="4596"/>
                  </a:cubicBezTo>
                  <a:cubicBezTo>
                    <a:pt x="7538" y="1653"/>
                    <a:pt x="11529" y="0"/>
                    <a:pt x="15691" y="0"/>
                  </a:cubicBezTo>
                  <a:close/>
                </a:path>
              </a:pathLst>
            </a:custGeom>
            <a:solidFill>
              <a:srgbClr val="022F76">
                <a:alpha val="5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GB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2" name="TextBox 8"/>
            <p:cNvSpPr/>
            <p:nvPr/>
          </p:nvSpPr>
          <p:spPr>
            <a:xfrm>
              <a:off x="756000" y="2933280"/>
              <a:ext cx="8387640" cy="6888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50760" tIns="50760" rIns="50760" bIns="50760" anchor="ctr">
              <a:noAutofit/>
            </a:bodyPr>
            <a:lstStyle/>
            <a:p>
              <a:pPr algn="ctr" defTabSz="914400">
                <a:lnSpc>
                  <a:spcPts val="2378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103" name="TextBox 9"/>
          <p:cNvSpPr/>
          <p:nvPr/>
        </p:nvSpPr>
        <p:spPr>
          <a:xfrm>
            <a:off x="1101240" y="3367440"/>
            <a:ext cx="7556760" cy="1738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just" defTabSz="914400">
              <a:lnSpc>
                <a:spcPts val="2738"/>
              </a:lnSpc>
              <a:tabLst>
                <a:tab pos="0" algn="l"/>
              </a:tabLst>
            </a:pPr>
            <a:r>
              <a:rPr lang="en-US" sz="1600" b="0" u="none" strike="noStrike" spc="20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Fonctionnalités principales :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2738"/>
              </a:lnSpc>
              <a:tabLst>
                <a:tab pos="0" algn="l"/>
              </a:tabLst>
            </a:pPr>
            <a:r>
              <a:rPr lang="en-US" sz="1600" b="0" u="none" strike="noStrike" spc="20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• Consulter le catalogue avec images de couverture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2738"/>
              </a:lnSpc>
              <a:tabLst>
                <a:tab pos="0" algn="l"/>
              </a:tabLst>
            </a:pPr>
            <a:r>
              <a:rPr lang="en-US" sz="1600" b="0" u="none" strike="noStrike" spc="20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• Emprunter et réserver des livres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2738"/>
              </a:lnSpc>
              <a:tabLst>
                <a:tab pos="0" algn="l"/>
              </a:tabLst>
            </a:pPr>
            <a:r>
              <a:rPr lang="en-US" sz="1600" b="0" u="none" strike="noStrike" spc="20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• Créer et gérer son compte utilisateur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2738"/>
              </a:lnSpc>
              <a:tabLst>
                <a:tab pos="0" algn="l"/>
              </a:tabLst>
            </a:pPr>
            <a:r>
              <a:rPr lang="en-US" sz="1600" b="0" u="none" strike="noStrike" spc="20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• Administration complète (livres, utilisateurs, rôles)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Box 10"/>
          <p:cNvSpPr/>
          <p:nvPr/>
        </p:nvSpPr>
        <p:spPr>
          <a:xfrm>
            <a:off x="1101240" y="5370120"/>
            <a:ext cx="7556760" cy="104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just" defTabSz="914400">
              <a:lnSpc>
                <a:spcPts val="2738"/>
              </a:lnSpc>
              <a:tabLst>
                <a:tab pos="0" algn="l"/>
              </a:tabLst>
            </a:pPr>
            <a:r>
              <a:rPr lang="en-US" sz="1600" b="0" u="none" strike="noStrike" spc="20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Une application web complète développée avec Flask et SQLite, offrant une expérience utilisateur moderne grâce à Tailwind CSS. Interface responsive et intuitive pour tous les types d'utilisateurs.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Box 11"/>
          <p:cNvSpPr/>
          <p:nvPr/>
        </p:nvSpPr>
        <p:spPr>
          <a:xfrm>
            <a:off x="1101240" y="7372800"/>
            <a:ext cx="7556760" cy="104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just" defTabSz="914400">
              <a:lnSpc>
                <a:spcPts val="2738"/>
              </a:lnSpc>
              <a:tabLst>
                <a:tab pos="0" algn="l"/>
              </a:tabLst>
            </a:pPr>
            <a:r>
              <a:rPr lang="en-US" sz="1600" b="0" u="none" strike="noStrike" spc="20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Architecture modulaire avec Blueprints Flask pour une maintenance facilitée. Système d'authentification sécurisé avec gestion des rôles et permissions. Upload d'images sécurisé avec validation multi-couches.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Freeform 2"/>
          <p:cNvSpPr/>
          <p:nvPr/>
        </p:nvSpPr>
        <p:spPr>
          <a:xfrm>
            <a:off x="0" y="0"/>
            <a:ext cx="18287640" cy="10286640"/>
          </a:xfrm>
          <a:custGeom>
            <a:avLst/>
            <a:gdLst>
              <a:gd name="textAreaLeft" fmla="*/ 0 w 18287640"/>
              <a:gd name="textAreaRight" fmla="*/ 18288000 w 18287640"/>
              <a:gd name="textAreaTop" fmla="*/ 0 h 10286640"/>
              <a:gd name="textAreaBottom" fmla="*/ 10287000 h 10286640"/>
            </a:gdLst>
            <a:ahLst/>
            <a:cxnLst/>
            <a:rect l="textAreaLeft" t="textAreaTop" r="textAreaRight" b="textAreaBottom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07" name="Group 3"/>
          <p:cNvGrpSpPr/>
          <p:nvPr/>
        </p:nvGrpSpPr>
        <p:grpSpPr>
          <a:xfrm>
            <a:off x="1382760" y="4899600"/>
            <a:ext cx="4982400" cy="4137840"/>
            <a:chOff x="1382760" y="4899600"/>
            <a:chExt cx="4982400" cy="4137840"/>
          </a:xfrm>
        </p:grpSpPr>
        <p:sp>
          <p:nvSpPr>
            <p:cNvPr id="108" name="Freeform 4"/>
            <p:cNvSpPr/>
            <p:nvPr/>
          </p:nvSpPr>
          <p:spPr>
            <a:xfrm>
              <a:off x="1382760" y="5010840"/>
              <a:ext cx="4982400" cy="4026600"/>
            </a:xfrm>
            <a:custGeom>
              <a:avLst/>
              <a:gdLst>
                <a:gd name="textAreaLeft" fmla="*/ 0 w 4982400"/>
                <a:gd name="textAreaRight" fmla="*/ 4982760 w 4982400"/>
                <a:gd name="textAreaTop" fmla="*/ 0 h 4026600"/>
                <a:gd name="textAreaBottom" fmla="*/ 4026960 h 4026600"/>
              </a:gdLst>
              <a:ahLst/>
              <a:cxnLst/>
              <a:rect l="textAreaLeft" t="textAreaTop" r="textAreaRight" b="textAreaBottom"/>
              <a:pathLst>
                <a:path w="1280520" h="1034814">
                  <a:moveTo>
                    <a:pt x="26413" y="0"/>
                  </a:moveTo>
                  <a:lnTo>
                    <a:pt x="1254108" y="0"/>
                  </a:lnTo>
                  <a:cubicBezTo>
                    <a:pt x="1261113" y="0"/>
                    <a:pt x="1267831" y="2783"/>
                    <a:pt x="1272784" y="7736"/>
                  </a:cubicBezTo>
                  <a:cubicBezTo>
                    <a:pt x="1277738" y="12689"/>
                    <a:pt x="1280520" y="19408"/>
                    <a:pt x="1280520" y="26413"/>
                  </a:cubicBezTo>
                  <a:lnTo>
                    <a:pt x="1280520" y="1008401"/>
                  </a:lnTo>
                  <a:cubicBezTo>
                    <a:pt x="1280520" y="1015406"/>
                    <a:pt x="1277738" y="1022124"/>
                    <a:pt x="1272784" y="1027078"/>
                  </a:cubicBezTo>
                  <a:cubicBezTo>
                    <a:pt x="1267831" y="1032031"/>
                    <a:pt x="1261113" y="1034814"/>
                    <a:pt x="1254108" y="1034814"/>
                  </a:cubicBezTo>
                  <a:lnTo>
                    <a:pt x="26413" y="1034814"/>
                  </a:lnTo>
                  <a:cubicBezTo>
                    <a:pt x="19408" y="1034814"/>
                    <a:pt x="12689" y="1032031"/>
                    <a:pt x="7736" y="1027078"/>
                  </a:cubicBezTo>
                  <a:cubicBezTo>
                    <a:pt x="2783" y="1022124"/>
                    <a:pt x="0" y="1015406"/>
                    <a:pt x="0" y="1008401"/>
                  </a:cubicBezTo>
                  <a:lnTo>
                    <a:pt x="0" y="26413"/>
                  </a:lnTo>
                  <a:cubicBezTo>
                    <a:pt x="0" y="19408"/>
                    <a:pt x="2783" y="12689"/>
                    <a:pt x="7736" y="7736"/>
                  </a:cubicBezTo>
                  <a:cubicBezTo>
                    <a:pt x="12689" y="2783"/>
                    <a:pt x="19408" y="0"/>
                    <a:pt x="26413" y="0"/>
                  </a:cubicBezTo>
                  <a:close/>
                </a:path>
              </a:pathLst>
            </a:custGeom>
            <a:solidFill>
              <a:srgbClr val="022F76">
                <a:alpha val="5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GB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9" name="TextBox 5"/>
            <p:cNvSpPr/>
            <p:nvPr/>
          </p:nvSpPr>
          <p:spPr>
            <a:xfrm>
              <a:off x="1382760" y="4899600"/>
              <a:ext cx="4982400" cy="4137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50760" tIns="50760" rIns="50760" bIns="50760" anchor="ctr">
              <a:noAutofit/>
            </a:bodyPr>
            <a:lstStyle/>
            <a:p>
              <a:pPr algn="ctr" defTabSz="914400">
                <a:lnSpc>
                  <a:spcPts val="2378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grpSp>
        <p:nvGrpSpPr>
          <p:cNvPr id="110" name="Group 6"/>
          <p:cNvGrpSpPr/>
          <p:nvPr/>
        </p:nvGrpSpPr>
        <p:grpSpPr>
          <a:xfrm>
            <a:off x="6654600" y="4899600"/>
            <a:ext cx="4982400" cy="4137840"/>
            <a:chOff x="6654600" y="4899600"/>
            <a:chExt cx="4982400" cy="4137840"/>
          </a:xfrm>
        </p:grpSpPr>
        <p:sp>
          <p:nvSpPr>
            <p:cNvPr id="111" name="Freeform 7"/>
            <p:cNvSpPr/>
            <p:nvPr/>
          </p:nvSpPr>
          <p:spPr>
            <a:xfrm>
              <a:off x="6654600" y="5010840"/>
              <a:ext cx="4982400" cy="4026600"/>
            </a:xfrm>
            <a:custGeom>
              <a:avLst/>
              <a:gdLst>
                <a:gd name="textAreaLeft" fmla="*/ 0 w 4982400"/>
                <a:gd name="textAreaRight" fmla="*/ 4982760 w 4982400"/>
                <a:gd name="textAreaTop" fmla="*/ 0 h 4026600"/>
                <a:gd name="textAreaBottom" fmla="*/ 4026960 h 4026600"/>
              </a:gdLst>
              <a:ahLst/>
              <a:cxnLst/>
              <a:rect l="textAreaLeft" t="textAreaTop" r="textAreaRight" b="textAreaBottom"/>
              <a:pathLst>
                <a:path w="1280520" h="1034814">
                  <a:moveTo>
                    <a:pt x="26413" y="0"/>
                  </a:moveTo>
                  <a:lnTo>
                    <a:pt x="1254108" y="0"/>
                  </a:lnTo>
                  <a:cubicBezTo>
                    <a:pt x="1261113" y="0"/>
                    <a:pt x="1267831" y="2783"/>
                    <a:pt x="1272784" y="7736"/>
                  </a:cubicBezTo>
                  <a:cubicBezTo>
                    <a:pt x="1277738" y="12689"/>
                    <a:pt x="1280520" y="19408"/>
                    <a:pt x="1280520" y="26413"/>
                  </a:cubicBezTo>
                  <a:lnTo>
                    <a:pt x="1280520" y="1008401"/>
                  </a:lnTo>
                  <a:cubicBezTo>
                    <a:pt x="1280520" y="1015406"/>
                    <a:pt x="1277738" y="1022124"/>
                    <a:pt x="1272784" y="1027078"/>
                  </a:cubicBezTo>
                  <a:cubicBezTo>
                    <a:pt x="1267831" y="1032031"/>
                    <a:pt x="1261113" y="1034814"/>
                    <a:pt x="1254108" y="1034814"/>
                  </a:cubicBezTo>
                  <a:lnTo>
                    <a:pt x="26413" y="1034814"/>
                  </a:lnTo>
                  <a:cubicBezTo>
                    <a:pt x="19408" y="1034814"/>
                    <a:pt x="12689" y="1032031"/>
                    <a:pt x="7736" y="1027078"/>
                  </a:cubicBezTo>
                  <a:cubicBezTo>
                    <a:pt x="2783" y="1022124"/>
                    <a:pt x="0" y="1015406"/>
                    <a:pt x="0" y="1008401"/>
                  </a:cubicBezTo>
                  <a:lnTo>
                    <a:pt x="0" y="26413"/>
                  </a:lnTo>
                  <a:cubicBezTo>
                    <a:pt x="0" y="19408"/>
                    <a:pt x="2783" y="12689"/>
                    <a:pt x="7736" y="7736"/>
                  </a:cubicBezTo>
                  <a:cubicBezTo>
                    <a:pt x="12689" y="2783"/>
                    <a:pt x="19408" y="0"/>
                    <a:pt x="26413" y="0"/>
                  </a:cubicBezTo>
                  <a:close/>
                </a:path>
              </a:pathLst>
            </a:custGeom>
            <a:solidFill>
              <a:srgbClr val="022F76">
                <a:alpha val="5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GB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2" name="TextBox 8"/>
            <p:cNvSpPr/>
            <p:nvPr/>
          </p:nvSpPr>
          <p:spPr>
            <a:xfrm>
              <a:off x="6654600" y="4899600"/>
              <a:ext cx="4982400" cy="4137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50760" tIns="50760" rIns="50760" bIns="50760" anchor="ctr">
              <a:noAutofit/>
            </a:bodyPr>
            <a:lstStyle/>
            <a:p>
              <a:pPr algn="ctr" defTabSz="914400">
                <a:lnSpc>
                  <a:spcPts val="2378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grpSp>
        <p:nvGrpSpPr>
          <p:cNvPr id="113" name="Group 9"/>
          <p:cNvGrpSpPr/>
          <p:nvPr/>
        </p:nvGrpSpPr>
        <p:grpSpPr>
          <a:xfrm>
            <a:off x="11922480" y="4899600"/>
            <a:ext cx="4982400" cy="4137840"/>
            <a:chOff x="11922480" y="4899600"/>
            <a:chExt cx="4982400" cy="4137840"/>
          </a:xfrm>
        </p:grpSpPr>
        <p:sp>
          <p:nvSpPr>
            <p:cNvPr id="114" name="Freeform 10"/>
            <p:cNvSpPr/>
            <p:nvPr/>
          </p:nvSpPr>
          <p:spPr>
            <a:xfrm>
              <a:off x="11922480" y="5010840"/>
              <a:ext cx="4982400" cy="4026600"/>
            </a:xfrm>
            <a:custGeom>
              <a:avLst/>
              <a:gdLst>
                <a:gd name="textAreaLeft" fmla="*/ 0 w 4982400"/>
                <a:gd name="textAreaRight" fmla="*/ 4982760 w 4982400"/>
                <a:gd name="textAreaTop" fmla="*/ 0 h 4026600"/>
                <a:gd name="textAreaBottom" fmla="*/ 4026960 h 4026600"/>
              </a:gdLst>
              <a:ahLst/>
              <a:cxnLst/>
              <a:rect l="textAreaLeft" t="textAreaTop" r="textAreaRight" b="textAreaBottom"/>
              <a:pathLst>
                <a:path w="1280520" h="1034814">
                  <a:moveTo>
                    <a:pt x="26413" y="0"/>
                  </a:moveTo>
                  <a:lnTo>
                    <a:pt x="1254108" y="0"/>
                  </a:lnTo>
                  <a:cubicBezTo>
                    <a:pt x="1261113" y="0"/>
                    <a:pt x="1267831" y="2783"/>
                    <a:pt x="1272784" y="7736"/>
                  </a:cubicBezTo>
                  <a:cubicBezTo>
                    <a:pt x="1277738" y="12689"/>
                    <a:pt x="1280520" y="19408"/>
                    <a:pt x="1280520" y="26413"/>
                  </a:cubicBezTo>
                  <a:lnTo>
                    <a:pt x="1280520" y="1008401"/>
                  </a:lnTo>
                  <a:cubicBezTo>
                    <a:pt x="1280520" y="1015406"/>
                    <a:pt x="1277738" y="1022124"/>
                    <a:pt x="1272784" y="1027078"/>
                  </a:cubicBezTo>
                  <a:cubicBezTo>
                    <a:pt x="1267831" y="1032031"/>
                    <a:pt x="1261113" y="1034814"/>
                    <a:pt x="1254108" y="1034814"/>
                  </a:cubicBezTo>
                  <a:lnTo>
                    <a:pt x="26413" y="1034814"/>
                  </a:lnTo>
                  <a:cubicBezTo>
                    <a:pt x="19408" y="1034814"/>
                    <a:pt x="12689" y="1032031"/>
                    <a:pt x="7736" y="1027078"/>
                  </a:cubicBezTo>
                  <a:cubicBezTo>
                    <a:pt x="2783" y="1022124"/>
                    <a:pt x="0" y="1015406"/>
                    <a:pt x="0" y="1008401"/>
                  </a:cubicBezTo>
                  <a:lnTo>
                    <a:pt x="0" y="26413"/>
                  </a:lnTo>
                  <a:cubicBezTo>
                    <a:pt x="0" y="19408"/>
                    <a:pt x="2783" y="12689"/>
                    <a:pt x="7736" y="7736"/>
                  </a:cubicBezTo>
                  <a:cubicBezTo>
                    <a:pt x="12689" y="2783"/>
                    <a:pt x="19408" y="0"/>
                    <a:pt x="26413" y="0"/>
                  </a:cubicBezTo>
                  <a:close/>
                </a:path>
              </a:pathLst>
            </a:custGeom>
            <a:solidFill>
              <a:srgbClr val="022F76">
                <a:alpha val="5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GB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5" name="TextBox 11"/>
            <p:cNvSpPr/>
            <p:nvPr/>
          </p:nvSpPr>
          <p:spPr>
            <a:xfrm>
              <a:off x="11922480" y="4899600"/>
              <a:ext cx="4982400" cy="4137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50760" tIns="50760" rIns="50760" bIns="50760" anchor="ctr">
              <a:noAutofit/>
            </a:bodyPr>
            <a:lstStyle/>
            <a:p>
              <a:pPr algn="ctr" defTabSz="914400">
                <a:lnSpc>
                  <a:spcPts val="2378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116" name="Freeform 12"/>
          <p:cNvSpPr/>
          <p:nvPr/>
        </p:nvSpPr>
        <p:spPr>
          <a:xfrm>
            <a:off x="17077320" y="1515960"/>
            <a:ext cx="181440" cy="332640"/>
          </a:xfrm>
          <a:custGeom>
            <a:avLst/>
            <a:gdLst>
              <a:gd name="textAreaLeft" fmla="*/ 0 w 181440"/>
              <a:gd name="textAreaRight" fmla="*/ 181800 w 181440"/>
              <a:gd name="textAreaTop" fmla="*/ 0 h 332640"/>
              <a:gd name="textAreaBottom" fmla="*/ 333000 h 332640"/>
            </a:gdLst>
            <a:ahLst/>
            <a:cxnLst/>
            <a:rect l="textAreaLeft" t="textAreaTop" r="textAreaRight" b="textAreaBottom"/>
            <a:pathLst>
              <a:path w="181881" h="332964">
                <a:moveTo>
                  <a:pt x="0" y="0"/>
                </a:moveTo>
                <a:lnTo>
                  <a:pt x="181881" y="0"/>
                </a:lnTo>
                <a:lnTo>
                  <a:pt x="181881" y="332963"/>
                </a:lnTo>
                <a:lnTo>
                  <a:pt x="0" y="332963"/>
                </a:lnTo>
                <a:lnTo>
                  <a:pt x="0" y="0"/>
                </a:lnTo>
                <a:close/>
              </a:path>
            </a:pathLst>
          </a:custGeom>
          <a:blipFill rotWithShape="0"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Box 13"/>
          <p:cNvSpPr/>
          <p:nvPr/>
        </p:nvSpPr>
        <p:spPr>
          <a:xfrm>
            <a:off x="1464840" y="3333960"/>
            <a:ext cx="13008240" cy="61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2407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Montserrat"/>
                <a:ea typeface="Montserrat"/>
              </a:rPr>
              <a:t>Sprints successifs avec livraisons partielles fonctionnelles. Chaque sprint = développement → tests → merge sur main. Sprints 4-5 : UI Tailwind responsive + Admin panel avec images de couverture.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Box 14"/>
          <p:cNvSpPr/>
          <p:nvPr/>
        </p:nvSpPr>
        <p:spPr>
          <a:xfrm>
            <a:off x="1883160" y="6825240"/>
            <a:ext cx="3875400" cy="130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2061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Montserrat"/>
                <a:ea typeface="Montserrat"/>
              </a:rPr>
              <a:t>Mise en place des fondations du projet : modèles de données, configuration de la base SQLite, structure de routing Flask. Première livraison testée et mergée sur main.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Box 15"/>
          <p:cNvSpPr/>
          <p:nvPr/>
        </p:nvSpPr>
        <p:spPr>
          <a:xfrm>
            <a:off x="7155000" y="6825240"/>
            <a:ext cx="3875400" cy="1046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2061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Montserrat"/>
                <a:ea typeface="Montserrat"/>
              </a:rPr>
              <a:t>Système d'authentification sécurisé : inscription, connexion, sessions Flask-Login, mots de passe hachés bcrypt. Tests complets avant merge.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Box 16"/>
          <p:cNvSpPr/>
          <p:nvPr/>
        </p:nvSpPr>
        <p:spPr>
          <a:xfrm>
            <a:off x="12423240" y="6825240"/>
            <a:ext cx="3875400" cy="130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2061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Montserrat"/>
                <a:ea typeface="Montserrat"/>
              </a:rPr>
              <a:t>Gestion complète des livres : création, lecture, modification, suppression. Protection CSRF activée sur tous les formulaires. Validation et tests automatisés.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Box 17"/>
          <p:cNvSpPr/>
          <p:nvPr/>
        </p:nvSpPr>
        <p:spPr>
          <a:xfrm>
            <a:off x="1883160" y="5782680"/>
            <a:ext cx="3875400" cy="320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2690"/>
              </a:lnSpc>
              <a:tabLst>
                <a:tab pos="0" algn="l"/>
              </a:tabLst>
            </a:pPr>
            <a:r>
              <a:rPr lang="en-US" sz="2160" b="1" u="none" strike="noStrike" spc="23">
                <a:solidFill>
                  <a:srgbClr val="FFFFFF"/>
                </a:solidFill>
                <a:effectLst/>
                <a:uFillTx/>
                <a:latin typeface="Garet Bold"/>
                <a:ea typeface="Garet Bold"/>
              </a:rPr>
              <a:t>Sprint 1 : Infrastructure</a:t>
            </a:r>
            <a:endParaRPr lang="en-GB" sz="21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Box 18"/>
          <p:cNvSpPr/>
          <p:nvPr/>
        </p:nvSpPr>
        <p:spPr>
          <a:xfrm>
            <a:off x="7155000" y="5782680"/>
            <a:ext cx="3258720" cy="654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2690"/>
              </a:lnSpc>
              <a:tabLst>
                <a:tab pos="0" algn="l"/>
              </a:tabLst>
            </a:pPr>
            <a:r>
              <a:rPr lang="en-US" sz="2160" b="1" u="none" strike="noStrike" spc="23">
                <a:solidFill>
                  <a:srgbClr val="FFFFFF"/>
                </a:solidFill>
                <a:effectLst/>
                <a:uFillTx/>
                <a:latin typeface="Garet Bold"/>
                <a:ea typeface="Garet Bold"/>
              </a:rPr>
              <a:t>Sprint 2 : Authentification</a:t>
            </a:r>
            <a:endParaRPr lang="en-GB" sz="21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Box 19"/>
          <p:cNvSpPr/>
          <p:nvPr/>
        </p:nvSpPr>
        <p:spPr>
          <a:xfrm>
            <a:off x="12423240" y="5782680"/>
            <a:ext cx="3258720" cy="320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2690"/>
              </a:lnSpc>
              <a:tabLst>
                <a:tab pos="0" algn="l"/>
              </a:tabLst>
            </a:pPr>
            <a:r>
              <a:rPr lang="en-US" sz="2160" b="1" u="none" strike="noStrike" spc="23">
                <a:solidFill>
                  <a:srgbClr val="FFFFFF"/>
                </a:solidFill>
                <a:effectLst/>
                <a:uFillTx/>
                <a:latin typeface="Garet Bold"/>
                <a:ea typeface="Garet Bold"/>
              </a:rPr>
              <a:t>Sprint 3 : CRUD &amp; CSRF</a:t>
            </a:r>
            <a:endParaRPr lang="en-GB" sz="21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Box 20"/>
          <p:cNvSpPr/>
          <p:nvPr/>
        </p:nvSpPr>
        <p:spPr>
          <a:xfrm>
            <a:off x="1464840" y="1683000"/>
            <a:ext cx="109580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5170"/>
              </a:lnSpc>
              <a:tabLst>
                <a:tab pos="0" algn="l"/>
              </a:tabLst>
            </a:pPr>
            <a:r>
              <a:rPr lang="en-US" sz="4130" b="1" u="none" strike="noStrike" spc="45">
                <a:solidFill>
                  <a:srgbClr val="FFFFFF"/>
                </a:solidFill>
                <a:effectLst/>
                <a:uFillTx/>
                <a:latin typeface="Garet Bold"/>
                <a:ea typeface="Garet Bold"/>
              </a:rPr>
              <a:t>La méthode Agile : principes appliqués</a:t>
            </a:r>
            <a:endParaRPr lang="en-GB" sz="4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Freeform 2"/>
          <p:cNvSpPr/>
          <p:nvPr/>
        </p:nvSpPr>
        <p:spPr>
          <a:xfrm>
            <a:off x="0" y="0"/>
            <a:ext cx="18287640" cy="10286640"/>
          </a:xfrm>
          <a:custGeom>
            <a:avLst/>
            <a:gdLst>
              <a:gd name="textAreaLeft" fmla="*/ 0 w 18287640"/>
              <a:gd name="textAreaRight" fmla="*/ 18288000 w 18287640"/>
              <a:gd name="textAreaTop" fmla="*/ 0 h 10286640"/>
              <a:gd name="textAreaBottom" fmla="*/ 10287000 h 10286640"/>
            </a:gdLst>
            <a:ahLst/>
            <a:cxnLst/>
            <a:rect l="textAreaLeft" t="textAreaTop" r="textAreaRight" b="textAreaBottom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26" name="Group 3"/>
          <p:cNvGrpSpPr/>
          <p:nvPr/>
        </p:nvGrpSpPr>
        <p:grpSpPr>
          <a:xfrm>
            <a:off x="1007640" y="3546000"/>
            <a:ext cx="3813840" cy="4137840"/>
            <a:chOff x="1007640" y="3546000"/>
            <a:chExt cx="3813840" cy="4137840"/>
          </a:xfrm>
        </p:grpSpPr>
        <p:sp>
          <p:nvSpPr>
            <p:cNvPr id="127" name="Freeform 4"/>
            <p:cNvSpPr/>
            <p:nvPr/>
          </p:nvSpPr>
          <p:spPr>
            <a:xfrm>
              <a:off x="1007640" y="3657240"/>
              <a:ext cx="3813840" cy="4026600"/>
            </a:xfrm>
            <a:custGeom>
              <a:avLst/>
              <a:gdLst>
                <a:gd name="textAreaLeft" fmla="*/ 0 w 3813840"/>
                <a:gd name="textAreaRight" fmla="*/ 3814200 w 3813840"/>
                <a:gd name="textAreaTop" fmla="*/ 0 h 4026600"/>
                <a:gd name="textAreaBottom" fmla="*/ 4026960 h 4026600"/>
              </a:gdLst>
              <a:ahLst/>
              <a:cxnLst/>
              <a:rect l="textAreaLeft" t="textAreaTop" r="textAreaRight" b="textAreaBottom"/>
              <a:pathLst>
                <a:path w="980199" h="1034814">
                  <a:moveTo>
                    <a:pt x="34505" y="0"/>
                  </a:moveTo>
                  <a:lnTo>
                    <a:pt x="945694" y="0"/>
                  </a:lnTo>
                  <a:cubicBezTo>
                    <a:pt x="964751" y="0"/>
                    <a:pt x="980199" y="15448"/>
                    <a:pt x="980199" y="34505"/>
                  </a:cubicBezTo>
                  <a:lnTo>
                    <a:pt x="980199" y="1000309"/>
                  </a:lnTo>
                  <a:cubicBezTo>
                    <a:pt x="980199" y="1009460"/>
                    <a:pt x="976564" y="1018237"/>
                    <a:pt x="970093" y="1024708"/>
                  </a:cubicBezTo>
                  <a:cubicBezTo>
                    <a:pt x="963622" y="1031179"/>
                    <a:pt x="954846" y="1034814"/>
                    <a:pt x="945694" y="1034814"/>
                  </a:cubicBezTo>
                  <a:lnTo>
                    <a:pt x="34505" y="1034814"/>
                  </a:lnTo>
                  <a:cubicBezTo>
                    <a:pt x="15448" y="1034814"/>
                    <a:pt x="0" y="1019365"/>
                    <a:pt x="0" y="1000309"/>
                  </a:cubicBezTo>
                  <a:lnTo>
                    <a:pt x="0" y="34505"/>
                  </a:lnTo>
                  <a:cubicBezTo>
                    <a:pt x="0" y="15448"/>
                    <a:pt x="15448" y="0"/>
                    <a:pt x="34505" y="0"/>
                  </a:cubicBezTo>
                  <a:close/>
                </a:path>
              </a:pathLst>
            </a:custGeom>
            <a:solidFill>
              <a:srgbClr val="022F76">
                <a:alpha val="5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GB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8" name="TextBox 5"/>
            <p:cNvSpPr/>
            <p:nvPr/>
          </p:nvSpPr>
          <p:spPr>
            <a:xfrm>
              <a:off x="1007640" y="3546000"/>
              <a:ext cx="3813840" cy="4137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50760" tIns="50760" rIns="50760" bIns="50760" anchor="ctr">
              <a:noAutofit/>
            </a:bodyPr>
            <a:lstStyle/>
            <a:p>
              <a:pPr algn="ctr" defTabSz="914400">
                <a:lnSpc>
                  <a:spcPts val="2378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129" name="TextBox 6"/>
          <p:cNvSpPr/>
          <p:nvPr/>
        </p:nvSpPr>
        <p:spPr>
          <a:xfrm>
            <a:off x="1459440" y="5428080"/>
            <a:ext cx="2910240" cy="120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1587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Montserrat"/>
                <a:ea typeface="Montserrat"/>
              </a:rPr>
              <a:t>Fonctionnalités et bugs documentés avec titre, description, critères d'acceptation et labels (enhancement, bug, documentation).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Box 7"/>
          <p:cNvSpPr/>
          <p:nvPr/>
        </p:nvSpPr>
        <p:spPr>
          <a:xfrm>
            <a:off x="1258560" y="4791960"/>
            <a:ext cx="3312720" cy="39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3257"/>
              </a:lnSpc>
              <a:tabLst>
                <a:tab pos="0" algn="l"/>
              </a:tabLst>
            </a:pPr>
            <a:r>
              <a:rPr lang="en-US" sz="2320" b="1" u="none" strike="noStrike">
                <a:solidFill>
                  <a:srgbClr val="FFFFFF"/>
                </a:solidFill>
                <a:effectLst/>
                <a:uFillTx/>
                <a:latin typeface="Garet Bold"/>
                <a:ea typeface="Garet Bold"/>
              </a:rPr>
              <a:t>Issues</a:t>
            </a:r>
            <a:endParaRPr lang="en-GB" sz="2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Box 8"/>
          <p:cNvSpPr/>
          <p:nvPr/>
        </p:nvSpPr>
        <p:spPr>
          <a:xfrm>
            <a:off x="2394000" y="3916080"/>
            <a:ext cx="1041480" cy="728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6029"/>
              </a:lnSpc>
              <a:tabLst>
                <a:tab pos="0" algn="l"/>
              </a:tabLst>
            </a:pPr>
            <a:r>
              <a:rPr lang="en-US" sz="4310" b="1" u="none" strike="noStrike">
                <a:solidFill>
                  <a:srgbClr val="FFFFFF"/>
                </a:solidFill>
                <a:effectLst/>
                <a:uFillTx/>
                <a:latin typeface="Garet Bold"/>
                <a:ea typeface="Garet Bold"/>
              </a:rPr>
              <a:t>01</a:t>
            </a:r>
            <a:endParaRPr lang="en-GB" sz="43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32" name="Group 9"/>
          <p:cNvGrpSpPr/>
          <p:nvPr/>
        </p:nvGrpSpPr>
        <p:grpSpPr>
          <a:xfrm>
            <a:off x="13465800" y="3546000"/>
            <a:ext cx="3813840" cy="4137840"/>
            <a:chOff x="13465800" y="3546000"/>
            <a:chExt cx="3813840" cy="4137840"/>
          </a:xfrm>
        </p:grpSpPr>
        <p:sp>
          <p:nvSpPr>
            <p:cNvPr id="133" name="Freeform 10"/>
            <p:cNvSpPr/>
            <p:nvPr/>
          </p:nvSpPr>
          <p:spPr>
            <a:xfrm>
              <a:off x="13465800" y="3657240"/>
              <a:ext cx="3813840" cy="4026600"/>
            </a:xfrm>
            <a:custGeom>
              <a:avLst/>
              <a:gdLst>
                <a:gd name="textAreaLeft" fmla="*/ 0 w 3813840"/>
                <a:gd name="textAreaRight" fmla="*/ 3814200 w 3813840"/>
                <a:gd name="textAreaTop" fmla="*/ 0 h 4026600"/>
                <a:gd name="textAreaBottom" fmla="*/ 4026960 h 4026600"/>
              </a:gdLst>
              <a:ahLst/>
              <a:cxnLst/>
              <a:rect l="textAreaLeft" t="textAreaTop" r="textAreaRight" b="textAreaBottom"/>
              <a:pathLst>
                <a:path w="980199" h="1034814">
                  <a:moveTo>
                    <a:pt x="34505" y="0"/>
                  </a:moveTo>
                  <a:lnTo>
                    <a:pt x="945694" y="0"/>
                  </a:lnTo>
                  <a:cubicBezTo>
                    <a:pt x="964751" y="0"/>
                    <a:pt x="980199" y="15448"/>
                    <a:pt x="980199" y="34505"/>
                  </a:cubicBezTo>
                  <a:lnTo>
                    <a:pt x="980199" y="1000309"/>
                  </a:lnTo>
                  <a:cubicBezTo>
                    <a:pt x="980199" y="1009460"/>
                    <a:pt x="976564" y="1018237"/>
                    <a:pt x="970093" y="1024708"/>
                  </a:cubicBezTo>
                  <a:cubicBezTo>
                    <a:pt x="963622" y="1031179"/>
                    <a:pt x="954846" y="1034814"/>
                    <a:pt x="945694" y="1034814"/>
                  </a:cubicBezTo>
                  <a:lnTo>
                    <a:pt x="34505" y="1034814"/>
                  </a:lnTo>
                  <a:cubicBezTo>
                    <a:pt x="15448" y="1034814"/>
                    <a:pt x="0" y="1019365"/>
                    <a:pt x="0" y="1000309"/>
                  </a:cubicBezTo>
                  <a:lnTo>
                    <a:pt x="0" y="34505"/>
                  </a:lnTo>
                  <a:cubicBezTo>
                    <a:pt x="0" y="15448"/>
                    <a:pt x="15448" y="0"/>
                    <a:pt x="34505" y="0"/>
                  </a:cubicBezTo>
                  <a:close/>
                </a:path>
              </a:pathLst>
            </a:custGeom>
            <a:solidFill>
              <a:srgbClr val="022F76">
                <a:alpha val="5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GB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4" name="TextBox 11"/>
            <p:cNvSpPr/>
            <p:nvPr/>
          </p:nvSpPr>
          <p:spPr>
            <a:xfrm>
              <a:off x="13465800" y="3546000"/>
              <a:ext cx="3813840" cy="4137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50760" tIns="50760" rIns="50760" bIns="50760" anchor="ctr">
              <a:noAutofit/>
            </a:bodyPr>
            <a:lstStyle/>
            <a:p>
              <a:pPr algn="ctr" defTabSz="914400">
                <a:lnSpc>
                  <a:spcPts val="2378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135" name="TextBox 12"/>
          <p:cNvSpPr/>
          <p:nvPr/>
        </p:nvSpPr>
        <p:spPr>
          <a:xfrm>
            <a:off x="13917960" y="5411880"/>
            <a:ext cx="2910240" cy="1007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1587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Montserrat"/>
                <a:ea typeface="Montserrat"/>
              </a:rPr>
              <a:t>Traçabilité complète de chaque modification. Qui, quand, pourquoi. Retour arrière possible à tout moment.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Box 13"/>
          <p:cNvSpPr/>
          <p:nvPr/>
        </p:nvSpPr>
        <p:spPr>
          <a:xfrm>
            <a:off x="14365440" y="4775760"/>
            <a:ext cx="2015280" cy="39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3257"/>
              </a:lnSpc>
              <a:tabLst>
                <a:tab pos="0" algn="l"/>
              </a:tabLst>
            </a:pPr>
            <a:r>
              <a:rPr lang="en-US" sz="2320" b="1" u="none" strike="noStrike">
                <a:solidFill>
                  <a:srgbClr val="FFFFFF"/>
                </a:solidFill>
                <a:effectLst/>
                <a:uFillTx/>
                <a:latin typeface="Garet Bold"/>
                <a:ea typeface="Garet Bold"/>
              </a:rPr>
              <a:t>Historique</a:t>
            </a:r>
            <a:endParaRPr lang="en-GB" sz="2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Box 14"/>
          <p:cNvSpPr/>
          <p:nvPr/>
        </p:nvSpPr>
        <p:spPr>
          <a:xfrm>
            <a:off x="14852160" y="3955680"/>
            <a:ext cx="1041480" cy="728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6029"/>
              </a:lnSpc>
              <a:tabLst>
                <a:tab pos="0" algn="l"/>
              </a:tabLst>
            </a:pPr>
            <a:r>
              <a:rPr lang="en-US" sz="4310" b="1" u="none" strike="noStrike">
                <a:solidFill>
                  <a:srgbClr val="FFFFFF"/>
                </a:solidFill>
                <a:effectLst/>
                <a:uFillTx/>
                <a:latin typeface="Garet Bold"/>
                <a:ea typeface="Garet Bold"/>
              </a:rPr>
              <a:t>04</a:t>
            </a:r>
            <a:endParaRPr lang="en-GB" sz="43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38" name="Group 15"/>
          <p:cNvGrpSpPr/>
          <p:nvPr/>
        </p:nvGrpSpPr>
        <p:grpSpPr>
          <a:xfrm>
            <a:off x="9313200" y="3546000"/>
            <a:ext cx="3813840" cy="4137840"/>
            <a:chOff x="9313200" y="3546000"/>
            <a:chExt cx="3813840" cy="4137840"/>
          </a:xfrm>
        </p:grpSpPr>
        <p:sp>
          <p:nvSpPr>
            <p:cNvPr id="139" name="Freeform 16"/>
            <p:cNvSpPr/>
            <p:nvPr/>
          </p:nvSpPr>
          <p:spPr>
            <a:xfrm>
              <a:off x="9313200" y="3657240"/>
              <a:ext cx="3813840" cy="4026600"/>
            </a:xfrm>
            <a:custGeom>
              <a:avLst/>
              <a:gdLst>
                <a:gd name="textAreaLeft" fmla="*/ 0 w 3813840"/>
                <a:gd name="textAreaRight" fmla="*/ 3814200 w 3813840"/>
                <a:gd name="textAreaTop" fmla="*/ 0 h 4026600"/>
                <a:gd name="textAreaBottom" fmla="*/ 4026960 h 4026600"/>
              </a:gdLst>
              <a:ahLst/>
              <a:cxnLst/>
              <a:rect l="textAreaLeft" t="textAreaTop" r="textAreaRight" b="textAreaBottom"/>
              <a:pathLst>
                <a:path w="980199" h="1034814">
                  <a:moveTo>
                    <a:pt x="34505" y="0"/>
                  </a:moveTo>
                  <a:lnTo>
                    <a:pt x="945694" y="0"/>
                  </a:lnTo>
                  <a:cubicBezTo>
                    <a:pt x="964751" y="0"/>
                    <a:pt x="980199" y="15448"/>
                    <a:pt x="980199" y="34505"/>
                  </a:cubicBezTo>
                  <a:lnTo>
                    <a:pt x="980199" y="1000309"/>
                  </a:lnTo>
                  <a:cubicBezTo>
                    <a:pt x="980199" y="1009460"/>
                    <a:pt x="976564" y="1018237"/>
                    <a:pt x="970093" y="1024708"/>
                  </a:cubicBezTo>
                  <a:cubicBezTo>
                    <a:pt x="963622" y="1031179"/>
                    <a:pt x="954846" y="1034814"/>
                    <a:pt x="945694" y="1034814"/>
                  </a:cubicBezTo>
                  <a:lnTo>
                    <a:pt x="34505" y="1034814"/>
                  </a:lnTo>
                  <a:cubicBezTo>
                    <a:pt x="15448" y="1034814"/>
                    <a:pt x="0" y="1019365"/>
                    <a:pt x="0" y="1000309"/>
                  </a:cubicBezTo>
                  <a:lnTo>
                    <a:pt x="0" y="34505"/>
                  </a:lnTo>
                  <a:cubicBezTo>
                    <a:pt x="0" y="15448"/>
                    <a:pt x="15448" y="0"/>
                    <a:pt x="34505" y="0"/>
                  </a:cubicBezTo>
                  <a:close/>
                </a:path>
              </a:pathLst>
            </a:custGeom>
            <a:solidFill>
              <a:srgbClr val="022F76">
                <a:alpha val="5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GB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0" name="TextBox 17"/>
            <p:cNvSpPr/>
            <p:nvPr/>
          </p:nvSpPr>
          <p:spPr>
            <a:xfrm>
              <a:off x="9313200" y="3546000"/>
              <a:ext cx="3813840" cy="4137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50760" tIns="50760" rIns="50760" bIns="50760" anchor="ctr">
              <a:noAutofit/>
            </a:bodyPr>
            <a:lstStyle/>
            <a:p>
              <a:pPr algn="ctr" defTabSz="914400">
                <a:lnSpc>
                  <a:spcPts val="2378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141" name="TextBox 18"/>
          <p:cNvSpPr/>
          <p:nvPr/>
        </p:nvSpPr>
        <p:spPr>
          <a:xfrm>
            <a:off x="9765000" y="5428080"/>
            <a:ext cx="2910240" cy="1007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1587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Montserrat"/>
                <a:ea typeface="Montserrat"/>
              </a:rPr>
              <a:t>Revue obligatoire avant merge sur main. Description détaillée : changements, raisons, tests effectués. Qualité contrôlée.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Box 19"/>
          <p:cNvSpPr/>
          <p:nvPr/>
        </p:nvSpPr>
        <p:spPr>
          <a:xfrm>
            <a:off x="10108800" y="4791960"/>
            <a:ext cx="2222640" cy="39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3257"/>
              </a:lnSpc>
              <a:tabLst>
                <a:tab pos="0" algn="l"/>
              </a:tabLst>
            </a:pPr>
            <a:r>
              <a:rPr lang="en-US" sz="2320" b="1" u="none" strike="noStrike">
                <a:solidFill>
                  <a:srgbClr val="FFFFFF"/>
                </a:solidFill>
                <a:effectLst/>
                <a:uFillTx/>
                <a:latin typeface="Garet Bold"/>
                <a:ea typeface="Garet Bold"/>
              </a:rPr>
              <a:t>Pull Requests</a:t>
            </a:r>
            <a:endParaRPr lang="en-GB" sz="2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Box 20"/>
          <p:cNvSpPr/>
          <p:nvPr/>
        </p:nvSpPr>
        <p:spPr>
          <a:xfrm>
            <a:off x="10699560" y="3904920"/>
            <a:ext cx="1041480" cy="728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6029"/>
              </a:lnSpc>
              <a:tabLst>
                <a:tab pos="0" algn="l"/>
              </a:tabLst>
            </a:pPr>
            <a:r>
              <a:rPr lang="en-US" sz="4310" b="1" u="none" strike="noStrike">
                <a:solidFill>
                  <a:srgbClr val="FFFFFF"/>
                </a:solidFill>
                <a:effectLst/>
                <a:uFillTx/>
                <a:latin typeface="Garet Bold"/>
                <a:ea typeface="Garet Bold"/>
              </a:rPr>
              <a:t>03</a:t>
            </a:r>
            <a:endParaRPr lang="en-GB" sz="43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44" name="Group 21"/>
          <p:cNvGrpSpPr/>
          <p:nvPr/>
        </p:nvGrpSpPr>
        <p:grpSpPr>
          <a:xfrm>
            <a:off x="5160600" y="3546000"/>
            <a:ext cx="3813840" cy="4137840"/>
            <a:chOff x="5160600" y="3546000"/>
            <a:chExt cx="3813840" cy="4137840"/>
          </a:xfrm>
        </p:grpSpPr>
        <p:sp>
          <p:nvSpPr>
            <p:cNvPr id="145" name="Freeform 22"/>
            <p:cNvSpPr/>
            <p:nvPr/>
          </p:nvSpPr>
          <p:spPr>
            <a:xfrm>
              <a:off x="5160600" y="3657240"/>
              <a:ext cx="3813840" cy="4026600"/>
            </a:xfrm>
            <a:custGeom>
              <a:avLst/>
              <a:gdLst>
                <a:gd name="textAreaLeft" fmla="*/ 0 w 3813840"/>
                <a:gd name="textAreaRight" fmla="*/ 3814200 w 3813840"/>
                <a:gd name="textAreaTop" fmla="*/ 0 h 4026600"/>
                <a:gd name="textAreaBottom" fmla="*/ 4026960 h 4026600"/>
              </a:gdLst>
              <a:ahLst/>
              <a:cxnLst/>
              <a:rect l="textAreaLeft" t="textAreaTop" r="textAreaRight" b="textAreaBottom"/>
              <a:pathLst>
                <a:path w="980199" h="1034814">
                  <a:moveTo>
                    <a:pt x="34505" y="0"/>
                  </a:moveTo>
                  <a:lnTo>
                    <a:pt x="945694" y="0"/>
                  </a:lnTo>
                  <a:cubicBezTo>
                    <a:pt x="964751" y="0"/>
                    <a:pt x="980199" y="15448"/>
                    <a:pt x="980199" y="34505"/>
                  </a:cubicBezTo>
                  <a:lnTo>
                    <a:pt x="980199" y="1000309"/>
                  </a:lnTo>
                  <a:cubicBezTo>
                    <a:pt x="980199" y="1009460"/>
                    <a:pt x="976564" y="1018237"/>
                    <a:pt x="970093" y="1024708"/>
                  </a:cubicBezTo>
                  <a:cubicBezTo>
                    <a:pt x="963622" y="1031179"/>
                    <a:pt x="954846" y="1034814"/>
                    <a:pt x="945694" y="1034814"/>
                  </a:cubicBezTo>
                  <a:lnTo>
                    <a:pt x="34505" y="1034814"/>
                  </a:lnTo>
                  <a:cubicBezTo>
                    <a:pt x="15448" y="1034814"/>
                    <a:pt x="0" y="1019365"/>
                    <a:pt x="0" y="1000309"/>
                  </a:cubicBezTo>
                  <a:lnTo>
                    <a:pt x="0" y="34505"/>
                  </a:lnTo>
                  <a:cubicBezTo>
                    <a:pt x="0" y="15448"/>
                    <a:pt x="15448" y="0"/>
                    <a:pt x="34505" y="0"/>
                  </a:cubicBezTo>
                  <a:close/>
                </a:path>
              </a:pathLst>
            </a:custGeom>
            <a:solidFill>
              <a:srgbClr val="022F76">
                <a:alpha val="5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GB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6" name="TextBox 23"/>
            <p:cNvSpPr/>
            <p:nvPr/>
          </p:nvSpPr>
          <p:spPr>
            <a:xfrm>
              <a:off x="5160600" y="3546000"/>
              <a:ext cx="3813840" cy="4137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50760" tIns="50760" rIns="50760" bIns="50760" anchor="ctr">
              <a:noAutofit/>
            </a:bodyPr>
            <a:lstStyle/>
            <a:p>
              <a:pPr algn="ctr" defTabSz="914400">
                <a:lnSpc>
                  <a:spcPts val="2378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147" name="TextBox 24"/>
          <p:cNvSpPr/>
          <p:nvPr/>
        </p:nvSpPr>
        <p:spPr>
          <a:xfrm>
            <a:off x="5612400" y="5411880"/>
            <a:ext cx="2910240" cy="1007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1587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Montserrat"/>
                <a:ea typeface="Montserrat"/>
              </a:rPr>
              <a:t>Une branche par issue avec convention stricte. Exemple : feat/image-couverture-issue42. Isolation du travail garantie.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Box 25"/>
          <p:cNvSpPr/>
          <p:nvPr/>
        </p:nvSpPr>
        <p:spPr>
          <a:xfrm>
            <a:off x="5292000" y="4775760"/>
            <a:ext cx="3550680" cy="39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3257"/>
              </a:lnSpc>
              <a:tabLst>
                <a:tab pos="0" algn="l"/>
              </a:tabLst>
            </a:pPr>
            <a:r>
              <a:rPr lang="en-US" sz="2320" b="1" u="none" strike="noStrike">
                <a:solidFill>
                  <a:srgbClr val="FFFFFF"/>
                </a:solidFill>
                <a:effectLst/>
                <a:uFillTx/>
                <a:latin typeface="Garet Bold"/>
                <a:ea typeface="Garet Bold"/>
              </a:rPr>
              <a:t>Branches</a:t>
            </a:r>
            <a:endParaRPr lang="en-GB" sz="2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Box 26"/>
          <p:cNvSpPr/>
          <p:nvPr/>
        </p:nvSpPr>
        <p:spPr>
          <a:xfrm>
            <a:off x="6546600" y="3904920"/>
            <a:ext cx="1041480" cy="728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6029"/>
              </a:lnSpc>
              <a:tabLst>
                <a:tab pos="0" algn="l"/>
              </a:tabLst>
            </a:pPr>
            <a:r>
              <a:rPr lang="en-US" sz="4310" b="1" u="none" strike="noStrike">
                <a:solidFill>
                  <a:srgbClr val="FFFFFF"/>
                </a:solidFill>
                <a:effectLst/>
                <a:uFillTx/>
                <a:latin typeface="Garet Bold"/>
                <a:ea typeface="Garet Bold"/>
              </a:rPr>
              <a:t>02</a:t>
            </a:r>
            <a:endParaRPr lang="en-GB" sz="43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Box 27"/>
          <p:cNvSpPr/>
          <p:nvPr/>
        </p:nvSpPr>
        <p:spPr>
          <a:xfrm>
            <a:off x="2013840" y="1230480"/>
            <a:ext cx="14259960" cy="1035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8481"/>
              </a:lnSpc>
              <a:tabLst>
                <a:tab pos="0" algn="l"/>
              </a:tabLst>
            </a:pPr>
            <a:r>
              <a:rPr lang="en-US" sz="6060" b="1" u="none" strike="noStrike">
                <a:solidFill>
                  <a:srgbClr val="FFFFFF"/>
                </a:solidFill>
                <a:effectLst/>
                <a:uFillTx/>
                <a:latin typeface="Garet Bold"/>
                <a:ea typeface="Garet Bold"/>
              </a:rPr>
              <a:t>GITHUB : NOTRE OUTIL DE PILOTAGE</a:t>
            </a:r>
            <a:endParaRPr lang="en-GB" sz="60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Freeform 2"/>
          <p:cNvSpPr/>
          <p:nvPr/>
        </p:nvSpPr>
        <p:spPr>
          <a:xfrm>
            <a:off x="0" y="0"/>
            <a:ext cx="18287640" cy="10286640"/>
          </a:xfrm>
          <a:custGeom>
            <a:avLst/>
            <a:gdLst>
              <a:gd name="textAreaLeft" fmla="*/ 0 w 18287640"/>
              <a:gd name="textAreaRight" fmla="*/ 18288000 w 18287640"/>
              <a:gd name="textAreaTop" fmla="*/ 0 h 10286640"/>
              <a:gd name="textAreaBottom" fmla="*/ 10287000 h 10286640"/>
            </a:gdLst>
            <a:ahLst/>
            <a:cxnLst/>
            <a:rect l="textAreaLeft" t="textAreaTop" r="textAreaRight" b="textAreaBottom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52" name="Group 3"/>
          <p:cNvGrpSpPr/>
          <p:nvPr/>
        </p:nvGrpSpPr>
        <p:grpSpPr>
          <a:xfrm>
            <a:off x="1382760" y="4899600"/>
            <a:ext cx="4982400" cy="4137840"/>
            <a:chOff x="1382760" y="4899600"/>
            <a:chExt cx="4982400" cy="4137840"/>
          </a:xfrm>
        </p:grpSpPr>
        <p:sp>
          <p:nvSpPr>
            <p:cNvPr id="153" name="Freeform 4"/>
            <p:cNvSpPr/>
            <p:nvPr/>
          </p:nvSpPr>
          <p:spPr>
            <a:xfrm>
              <a:off x="1382760" y="5010840"/>
              <a:ext cx="4982400" cy="4026600"/>
            </a:xfrm>
            <a:custGeom>
              <a:avLst/>
              <a:gdLst>
                <a:gd name="textAreaLeft" fmla="*/ 0 w 4982400"/>
                <a:gd name="textAreaRight" fmla="*/ 4982760 w 4982400"/>
                <a:gd name="textAreaTop" fmla="*/ 0 h 4026600"/>
                <a:gd name="textAreaBottom" fmla="*/ 4026960 h 4026600"/>
              </a:gdLst>
              <a:ahLst/>
              <a:cxnLst/>
              <a:rect l="textAreaLeft" t="textAreaTop" r="textAreaRight" b="textAreaBottom"/>
              <a:pathLst>
                <a:path w="1280520" h="1034814">
                  <a:moveTo>
                    <a:pt x="26413" y="0"/>
                  </a:moveTo>
                  <a:lnTo>
                    <a:pt x="1254108" y="0"/>
                  </a:lnTo>
                  <a:cubicBezTo>
                    <a:pt x="1261113" y="0"/>
                    <a:pt x="1267831" y="2783"/>
                    <a:pt x="1272784" y="7736"/>
                  </a:cubicBezTo>
                  <a:cubicBezTo>
                    <a:pt x="1277738" y="12689"/>
                    <a:pt x="1280520" y="19408"/>
                    <a:pt x="1280520" y="26413"/>
                  </a:cubicBezTo>
                  <a:lnTo>
                    <a:pt x="1280520" y="1008401"/>
                  </a:lnTo>
                  <a:cubicBezTo>
                    <a:pt x="1280520" y="1015406"/>
                    <a:pt x="1277738" y="1022124"/>
                    <a:pt x="1272784" y="1027078"/>
                  </a:cubicBezTo>
                  <a:cubicBezTo>
                    <a:pt x="1267831" y="1032031"/>
                    <a:pt x="1261113" y="1034814"/>
                    <a:pt x="1254108" y="1034814"/>
                  </a:cubicBezTo>
                  <a:lnTo>
                    <a:pt x="26413" y="1034814"/>
                  </a:lnTo>
                  <a:cubicBezTo>
                    <a:pt x="19408" y="1034814"/>
                    <a:pt x="12689" y="1032031"/>
                    <a:pt x="7736" y="1027078"/>
                  </a:cubicBezTo>
                  <a:cubicBezTo>
                    <a:pt x="2783" y="1022124"/>
                    <a:pt x="0" y="1015406"/>
                    <a:pt x="0" y="1008401"/>
                  </a:cubicBezTo>
                  <a:lnTo>
                    <a:pt x="0" y="26413"/>
                  </a:lnTo>
                  <a:cubicBezTo>
                    <a:pt x="0" y="19408"/>
                    <a:pt x="2783" y="12689"/>
                    <a:pt x="7736" y="7736"/>
                  </a:cubicBezTo>
                  <a:cubicBezTo>
                    <a:pt x="12689" y="2783"/>
                    <a:pt x="19408" y="0"/>
                    <a:pt x="26413" y="0"/>
                  </a:cubicBezTo>
                  <a:close/>
                </a:path>
              </a:pathLst>
            </a:custGeom>
            <a:solidFill>
              <a:srgbClr val="022F76">
                <a:alpha val="5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GB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4" name="TextBox 5"/>
            <p:cNvSpPr/>
            <p:nvPr/>
          </p:nvSpPr>
          <p:spPr>
            <a:xfrm>
              <a:off x="1382760" y="4899600"/>
              <a:ext cx="4982400" cy="4137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50760" tIns="50760" rIns="50760" bIns="50760" anchor="ctr">
              <a:noAutofit/>
            </a:bodyPr>
            <a:lstStyle/>
            <a:p>
              <a:pPr algn="ctr" defTabSz="914400">
                <a:lnSpc>
                  <a:spcPts val="2378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grpSp>
        <p:nvGrpSpPr>
          <p:cNvPr id="155" name="Group 6"/>
          <p:cNvGrpSpPr/>
          <p:nvPr/>
        </p:nvGrpSpPr>
        <p:grpSpPr>
          <a:xfrm>
            <a:off x="6654600" y="4899600"/>
            <a:ext cx="4982400" cy="4137840"/>
            <a:chOff x="6654600" y="4899600"/>
            <a:chExt cx="4982400" cy="4137840"/>
          </a:xfrm>
        </p:grpSpPr>
        <p:sp>
          <p:nvSpPr>
            <p:cNvPr id="156" name="Freeform 7"/>
            <p:cNvSpPr/>
            <p:nvPr/>
          </p:nvSpPr>
          <p:spPr>
            <a:xfrm>
              <a:off x="6654600" y="5010840"/>
              <a:ext cx="4982400" cy="4026600"/>
            </a:xfrm>
            <a:custGeom>
              <a:avLst/>
              <a:gdLst>
                <a:gd name="textAreaLeft" fmla="*/ 0 w 4982400"/>
                <a:gd name="textAreaRight" fmla="*/ 4982760 w 4982400"/>
                <a:gd name="textAreaTop" fmla="*/ 0 h 4026600"/>
                <a:gd name="textAreaBottom" fmla="*/ 4026960 h 4026600"/>
              </a:gdLst>
              <a:ahLst/>
              <a:cxnLst/>
              <a:rect l="textAreaLeft" t="textAreaTop" r="textAreaRight" b="textAreaBottom"/>
              <a:pathLst>
                <a:path w="1280520" h="1034814">
                  <a:moveTo>
                    <a:pt x="26413" y="0"/>
                  </a:moveTo>
                  <a:lnTo>
                    <a:pt x="1254108" y="0"/>
                  </a:lnTo>
                  <a:cubicBezTo>
                    <a:pt x="1261113" y="0"/>
                    <a:pt x="1267831" y="2783"/>
                    <a:pt x="1272784" y="7736"/>
                  </a:cubicBezTo>
                  <a:cubicBezTo>
                    <a:pt x="1277738" y="12689"/>
                    <a:pt x="1280520" y="19408"/>
                    <a:pt x="1280520" y="26413"/>
                  </a:cubicBezTo>
                  <a:lnTo>
                    <a:pt x="1280520" y="1008401"/>
                  </a:lnTo>
                  <a:cubicBezTo>
                    <a:pt x="1280520" y="1015406"/>
                    <a:pt x="1277738" y="1022124"/>
                    <a:pt x="1272784" y="1027078"/>
                  </a:cubicBezTo>
                  <a:cubicBezTo>
                    <a:pt x="1267831" y="1032031"/>
                    <a:pt x="1261113" y="1034814"/>
                    <a:pt x="1254108" y="1034814"/>
                  </a:cubicBezTo>
                  <a:lnTo>
                    <a:pt x="26413" y="1034814"/>
                  </a:lnTo>
                  <a:cubicBezTo>
                    <a:pt x="19408" y="1034814"/>
                    <a:pt x="12689" y="1032031"/>
                    <a:pt x="7736" y="1027078"/>
                  </a:cubicBezTo>
                  <a:cubicBezTo>
                    <a:pt x="2783" y="1022124"/>
                    <a:pt x="0" y="1015406"/>
                    <a:pt x="0" y="1008401"/>
                  </a:cubicBezTo>
                  <a:lnTo>
                    <a:pt x="0" y="26413"/>
                  </a:lnTo>
                  <a:cubicBezTo>
                    <a:pt x="0" y="19408"/>
                    <a:pt x="2783" y="12689"/>
                    <a:pt x="7736" y="7736"/>
                  </a:cubicBezTo>
                  <a:cubicBezTo>
                    <a:pt x="12689" y="2783"/>
                    <a:pt x="19408" y="0"/>
                    <a:pt x="26413" y="0"/>
                  </a:cubicBezTo>
                  <a:close/>
                </a:path>
              </a:pathLst>
            </a:custGeom>
            <a:solidFill>
              <a:srgbClr val="022F76">
                <a:alpha val="5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GB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7" name="TextBox 8"/>
            <p:cNvSpPr/>
            <p:nvPr/>
          </p:nvSpPr>
          <p:spPr>
            <a:xfrm>
              <a:off x="6654600" y="4899600"/>
              <a:ext cx="4982400" cy="4137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50760" tIns="50760" rIns="50760" bIns="50760" anchor="ctr">
              <a:noAutofit/>
            </a:bodyPr>
            <a:lstStyle/>
            <a:p>
              <a:pPr algn="ctr" defTabSz="914400">
                <a:lnSpc>
                  <a:spcPts val="2378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grpSp>
        <p:nvGrpSpPr>
          <p:cNvPr id="158" name="Group 9"/>
          <p:cNvGrpSpPr/>
          <p:nvPr/>
        </p:nvGrpSpPr>
        <p:grpSpPr>
          <a:xfrm>
            <a:off x="11922480" y="4899600"/>
            <a:ext cx="4982400" cy="4137840"/>
            <a:chOff x="11922480" y="4899600"/>
            <a:chExt cx="4982400" cy="4137840"/>
          </a:xfrm>
        </p:grpSpPr>
        <p:sp>
          <p:nvSpPr>
            <p:cNvPr id="159" name="Freeform 10"/>
            <p:cNvSpPr/>
            <p:nvPr/>
          </p:nvSpPr>
          <p:spPr>
            <a:xfrm>
              <a:off x="11922480" y="5010840"/>
              <a:ext cx="4982400" cy="4026600"/>
            </a:xfrm>
            <a:custGeom>
              <a:avLst/>
              <a:gdLst>
                <a:gd name="textAreaLeft" fmla="*/ 0 w 4982400"/>
                <a:gd name="textAreaRight" fmla="*/ 4982760 w 4982400"/>
                <a:gd name="textAreaTop" fmla="*/ 0 h 4026600"/>
                <a:gd name="textAreaBottom" fmla="*/ 4026960 h 4026600"/>
              </a:gdLst>
              <a:ahLst/>
              <a:cxnLst/>
              <a:rect l="textAreaLeft" t="textAreaTop" r="textAreaRight" b="textAreaBottom"/>
              <a:pathLst>
                <a:path w="1280520" h="1034814">
                  <a:moveTo>
                    <a:pt x="26413" y="0"/>
                  </a:moveTo>
                  <a:lnTo>
                    <a:pt x="1254108" y="0"/>
                  </a:lnTo>
                  <a:cubicBezTo>
                    <a:pt x="1261113" y="0"/>
                    <a:pt x="1267831" y="2783"/>
                    <a:pt x="1272784" y="7736"/>
                  </a:cubicBezTo>
                  <a:cubicBezTo>
                    <a:pt x="1277738" y="12689"/>
                    <a:pt x="1280520" y="19408"/>
                    <a:pt x="1280520" y="26413"/>
                  </a:cubicBezTo>
                  <a:lnTo>
                    <a:pt x="1280520" y="1008401"/>
                  </a:lnTo>
                  <a:cubicBezTo>
                    <a:pt x="1280520" y="1015406"/>
                    <a:pt x="1277738" y="1022124"/>
                    <a:pt x="1272784" y="1027078"/>
                  </a:cubicBezTo>
                  <a:cubicBezTo>
                    <a:pt x="1267831" y="1032031"/>
                    <a:pt x="1261113" y="1034814"/>
                    <a:pt x="1254108" y="1034814"/>
                  </a:cubicBezTo>
                  <a:lnTo>
                    <a:pt x="26413" y="1034814"/>
                  </a:lnTo>
                  <a:cubicBezTo>
                    <a:pt x="19408" y="1034814"/>
                    <a:pt x="12689" y="1032031"/>
                    <a:pt x="7736" y="1027078"/>
                  </a:cubicBezTo>
                  <a:cubicBezTo>
                    <a:pt x="2783" y="1022124"/>
                    <a:pt x="0" y="1015406"/>
                    <a:pt x="0" y="1008401"/>
                  </a:cubicBezTo>
                  <a:lnTo>
                    <a:pt x="0" y="26413"/>
                  </a:lnTo>
                  <a:cubicBezTo>
                    <a:pt x="0" y="19408"/>
                    <a:pt x="2783" y="12689"/>
                    <a:pt x="7736" y="7736"/>
                  </a:cubicBezTo>
                  <a:cubicBezTo>
                    <a:pt x="12689" y="2783"/>
                    <a:pt x="19408" y="0"/>
                    <a:pt x="26413" y="0"/>
                  </a:cubicBezTo>
                  <a:close/>
                </a:path>
              </a:pathLst>
            </a:custGeom>
            <a:solidFill>
              <a:srgbClr val="022F76">
                <a:alpha val="5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GB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0" name="TextBox 11"/>
            <p:cNvSpPr/>
            <p:nvPr/>
          </p:nvSpPr>
          <p:spPr>
            <a:xfrm>
              <a:off x="11922480" y="4899600"/>
              <a:ext cx="4982400" cy="4137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50760" tIns="50760" rIns="50760" bIns="50760" anchor="ctr">
              <a:noAutofit/>
            </a:bodyPr>
            <a:lstStyle/>
            <a:p>
              <a:pPr algn="ctr" defTabSz="914400">
                <a:lnSpc>
                  <a:spcPts val="2378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161" name="Freeform 12"/>
          <p:cNvSpPr/>
          <p:nvPr/>
        </p:nvSpPr>
        <p:spPr>
          <a:xfrm>
            <a:off x="17077320" y="1515960"/>
            <a:ext cx="181440" cy="332640"/>
          </a:xfrm>
          <a:custGeom>
            <a:avLst/>
            <a:gdLst>
              <a:gd name="textAreaLeft" fmla="*/ 0 w 181440"/>
              <a:gd name="textAreaRight" fmla="*/ 181800 w 181440"/>
              <a:gd name="textAreaTop" fmla="*/ 0 h 332640"/>
              <a:gd name="textAreaBottom" fmla="*/ 333000 h 332640"/>
            </a:gdLst>
            <a:ahLst/>
            <a:cxnLst/>
            <a:rect l="textAreaLeft" t="textAreaTop" r="textAreaRight" b="textAreaBottom"/>
            <a:pathLst>
              <a:path w="181881" h="332964">
                <a:moveTo>
                  <a:pt x="0" y="0"/>
                </a:moveTo>
                <a:lnTo>
                  <a:pt x="181881" y="0"/>
                </a:lnTo>
                <a:lnTo>
                  <a:pt x="181881" y="332963"/>
                </a:lnTo>
                <a:lnTo>
                  <a:pt x="0" y="332963"/>
                </a:lnTo>
                <a:lnTo>
                  <a:pt x="0" y="0"/>
                </a:lnTo>
                <a:close/>
              </a:path>
            </a:pathLst>
          </a:custGeom>
          <a:blipFill rotWithShape="0"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Box 13"/>
          <p:cNvSpPr/>
          <p:nvPr/>
        </p:nvSpPr>
        <p:spPr>
          <a:xfrm>
            <a:off x="1464840" y="3529080"/>
            <a:ext cx="13008240" cy="61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2407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Montserrat"/>
                <a:ea typeface="Montserrat"/>
              </a:rPr>
              <a:t>Issue → Branche → Développement → Tests → PR → Review → Merge → Main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407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Montserrat"/>
                <a:ea typeface="Montserrat"/>
              </a:rPr>
              <a:t>Chaque étape garantit la qualité et la traçabilité du code. Jamais de commit direct sur main.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Box 14"/>
          <p:cNvSpPr/>
          <p:nvPr/>
        </p:nvSpPr>
        <p:spPr>
          <a:xfrm>
            <a:off x="1883160" y="6825240"/>
            <a:ext cx="3875400" cy="130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2061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Montserrat"/>
                <a:ea typeface="Montserrat"/>
              </a:rPr>
              <a:t>Créer une issue avec titre, description et labels (enhancement, bug, documentation). Créer une branche dédiée depuis main avec convention de nommage stricte.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Box 15"/>
          <p:cNvSpPr/>
          <p:nvPr/>
        </p:nvSpPr>
        <p:spPr>
          <a:xfrm>
            <a:off x="7155000" y="6825240"/>
            <a:ext cx="3875400" cy="1046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2061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Montserrat"/>
                <a:ea typeface="Montserrat"/>
              </a:rPr>
              <a:t>Développer la fonctionnalité sur la branche. Écrire et exécuter les tests avant toute PR. Code testé = code prêt pour review.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Box 16"/>
          <p:cNvSpPr/>
          <p:nvPr/>
        </p:nvSpPr>
        <p:spPr>
          <a:xfrm>
            <a:off x="12423240" y="6825240"/>
            <a:ext cx="3875400" cy="130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2061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Montserrat"/>
                <a:ea typeface="Montserrat"/>
              </a:rPr>
              <a:t>Pull Request avec description complète (changement, raison, tests). Review obligatoire avant merge. PR fermée = issue fermée automatiquement.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Box 17"/>
          <p:cNvSpPr/>
          <p:nvPr/>
        </p:nvSpPr>
        <p:spPr>
          <a:xfrm>
            <a:off x="1883160" y="5772960"/>
            <a:ext cx="3875400" cy="394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3152"/>
              </a:lnSpc>
              <a:tabLst>
                <a:tab pos="0" algn="l"/>
              </a:tabLst>
            </a:pPr>
            <a:r>
              <a:rPr lang="en-US" sz="2530" b="1" u="none" strike="noStrike" spc="28">
                <a:solidFill>
                  <a:srgbClr val="FFFFFF"/>
                </a:solidFill>
                <a:effectLst/>
                <a:uFillTx/>
                <a:latin typeface="Garet Bold"/>
                <a:ea typeface="Garet Bold"/>
              </a:rPr>
              <a:t>Issue &amp; Branche</a:t>
            </a:r>
            <a:endParaRPr lang="en-GB" sz="25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Box 18"/>
          <p:cNvSpPr/>
          <p:nvPr/>
        </p:nvSpPr>
        <p:spPr>
          <a:xfrm>
            <a:off x="7155000" y="5772960"/>
            <a:ext cx="3258720" cy="79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3152"/>
              </a:lnSpc>
              <a:tabLst>
                <a:tab pos="0" algn="l"/>
              </a:tabLst>
            </a:pPr>
            <a:r>
              <a:rPr lang="en-US" sz="2530" b="1" u="none" strike="noStrike" spc="28">
                <a:solidFill>
                  <a:srgbClr val="FFFFFF"/>
                </a:solidFill>
                <a:effectLst/>
                <a:uFillTx/>
                <a:latin typeface="Garet Bold"/>
                <a:ea typeface="Garet Bold"/>
              </a:rPr>
              <a:t>Développement &amp; Tests</a:t>
            </a:r>
            <a:endParaRPr lang="en-GB" sz="25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Box 19"/>
          <p:cNvSpPr/>
          <p:nvPr/>
        </p:nvSpPr>
        <p:spPr>
          <a:xfrm>
            <a:off x="12423240" y="5772960"/>
            <a:ext cx="3258720" cy="394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3152"/>
              </a:lnSpc>
              <a:tabLst>
                <a:tab pos="0" algn="l"/>
              </a:tabLst>
            </a:pPr>
            <a:r>
              <a:rPr lang="en-US" sz="2530" b="1" u="none" strike="noStrike" spc="28">
                <a:solidFill>
                  <a:srgbClr val="FFFFFF"/>
                </a:solidFill>
                <a:effectLst/>
                <a:uFillTx/>
                <a:latin typeface="Garet Bold"/>
                <a:ea typeface="Garet Bold"/>
              </a:rPr>
              <a:t>PR → Merge</a:t>
            </a:r>
            <a:endParaRPr lang="en-GB" sz="25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Box 20"/>
          <p:cNvSpPr/>
          <p:nvPr/>
        </p:nvSpPr>
        <p:spPr>
          <a:xfrm>
            <a:off x="1464840" y="1673640"/>
            <a:ext cx="10958040" cy="88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7050"/>
              </a:lnSpc>
              <a:tabLst>
                <a:tab pos="0" algn="l"/>
              </a:tabLst>
            </a:pPr>
            <a:r>
              <a:rPr lang="en-US" sz="5640" b="1" u="none" strike="noStrike" spc="62">
                <a:solidFill>
                  <a:srgbClr val="FFFFFF"/>
                </a:solidFill>
                <a:effectLst/>
                <a:uFillTx/>
                <a:latin typeface="Garet Bold"/>
                <a:ea typeface="Garet Bold"/>
              </a:rPr>
              <a:t>Le workflow GitHub en détail</a:t>
            </a:r>
            <a:endParaRPr lang="en-GB" sz="56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Freeform 2"/>
          <p:cNvSpPr/>
          <p:nvPr/>
        </p:nvSpPr>
        <p:spPr>
          <a:xfrm>
            <a:off x="0" y="0"/>
            <a:ext cx="18287640" cy="10286640"/>
          </a:xfrm>
          <a:custGeom>
            <a:avLst/>
            <a:gdLst>
              <a:gd name="textAreaLeft" fmla="*/ 0 w 18287640"/>
              <a:gd name="textAreaRight" fmla="*/ 18288000 w 18287640"/>
              <a:gd name="textAreaTop" fmla="*/ 0 h 10286640"/>
              <a:gd name="textAreaBottom" fmla="*/ 10287000 h 10286640"/>
            </a:gdLst>
            <a:ahLst/>
            <a:cxnLst/>
            <a:rect l="textAreaLeft" t="textAreaTop" r="textAreaRight" b="textAreaBottom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71" name="Group 3"/>
          <p:cNvGrpSpPr/>
          <p:nvPr/>
        </p:nvGrpSpPr>
        <p:grpSpPr>
          <a:xfrm>
            <a:off x="11477880" y="3354840"/>
            <a:ext cx="5065920" cy="5649840"/>
            <a:chOff x="11477880" y="3354840"/>
            <a:chExt cx="5065920" cy="5649840"/>
          </a:xfrm>
        </p:grpSpPr>
        <p:sp>
          <p:nvSpPr>
            <p:cNvPr id="172" name="Freeform 4"/>
            <p:cNvSpPr/>
            <p:nvPr/>
          </p:nvSpPr>
          <p:spPr>
            <a:xfrm>
              <a:off x="11477880" y="3466080"/>
              <a:ext cx="5065920" cy="5538600"/>
            </a:xfrm>
            <a:custGeom>
              <a:avLst/>
              <a:gdLst>
                <a:gd name="textAreaLeft" fmla="*/ 0 w 5065920"/>
                <a:gd name="textAreaRight" fmla="*/ 5066280 w 5065920"/>
                <a:gd name="textAreaTop" fmla="*/ 0 h 5538600"/>
                <a:gd name="textAreaBottom" fmla="*/ 5538960 h 5538600"/>
              </a:gdLst>
              <a:ahLst/>
              <a:cxnLst/>
              <a:rect l="textAreaLeft" t="textAreaTop" r="textAreaRight" b="textAreaBottom"/>
              <a:pathLst>
                <a:path w="1301964" h="1423386">
                  <a:moveTo>
                    <a:pt x="25978" y="0"/>
                  </a:moveTo>
                  <a:lnTo>
                    <a:pt x="1275986" y="0"/>
                  </a:lnTo>
                  <a:cubicBezTo>
                    <a:pt x="1290333" y="0"/>
                    <a:pt x="1301964" y="11631"/>
                    <a:pt x="1301964" y="25978"/>
                  </a:cubicBezTo>
                  <a:lnTo>
                    <a:pt x="1301964" y="1397408"/>
                  </a:lnTo>
                  <a:cubicBezTo>
                    <a:pt x="1301964" y="1404298"/>
                    <a:pt x="1299227" y="1410905"/>
                    <a:pt x="1294355" y="1415777"/>
                  </a:cubicBezTo>
                  <a:cubicBezTo>
                    <a:pt x="1289483" y="1420649"/>
                    <a:pt x="1282876" y="1423386"/>
                    <a:pt x="1275986" y="1423386"/>
                  </a:cubicBezTo>
                  <a:lnTo>
                    <a:pt x="25978" y="1423386"/>
                  </a:lnTo>
                  <a:cubicBezTo>
                    <a:pt x="19088" y="1423386"/>
                    <a:pt x="12480" y="1420649"/>
                    <a:pt x="7609" y="1415777"/>
                  </a:cubicBezTo>
                  <a:cubicBezTo>
                    <a:pt x="2737" y="1410905"/>
                    <a:pt x="0" y="1404298"/>
                    <a:pt x="0" y="1397408"/>
                  </a:cubicBezTo>
                  <a:lnTo>
                    <a:pt x="0" y="25978"/>
                  </a:lnTo>
                  <a:cubicBezTo>
                    <a:pt x="0" y="19088"/>
                    <a:pt x="2737" y="12480"/>
                    <a:pt x="7609" y="7609"/>
                  </a:cubicBezTo>
                  <a:cubicBezTo>
                    <a:pt x="12480" y="2737"/>
                    <a:pt x="19088" y="0"/>
                    <a:pt x="25978" y="0"/>
                  </a:cubicBezTo>
                  <a:close/>
                </a:path>
              </a:pathLst>
            </a:custGeom>
            <a:solidFill>
              <a:srgbClr val="022F76">
                <a:alpha val="5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GB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3" name="TextBox 5"/>
            <p:cNvSpPr/>
            <p:nvPr/>
          </p:nvSpPr>
          <p:spPr>
            <a:xfrm>
              <a:off x="11477880" y="3354840"/>
              <a:ext cx="5065920" cy="5649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50760" tIns="50760" rIns="50760" bIns="50760" anchor="ctr">
              <a:noAutofit/>
            </a:bodyPr>
            <a:lstStyle/>
            <a:p>
              <a:pPr algn="ctr" defTabSz="914400">
                <a:lnSpc>
                  <a:spcPts val="2378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174" name="TextBox 6"/>
          <p:cNvSpPr/>
          <p:nvPr/>
        </p:nvSpPr>
        <p:spPr>
          <a:xfrm>
            <a:off x="12120480" y="5073840"/>
            <a:ext cx="3708360" cy="1755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just" defTabSz="914400">
              <a:lnSpc>
                <a:spcPts val="2305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Montserrat"/>
                <a:ea typeface="Montserrat"/>
              </a:rPr>
              <a:t>• Hachage bcrypt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2305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Montserrat"/>
                <a:ea typeface="Montserrat"/>
              </a:rPr>
              <a:t>• Protection CSRF globale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2305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Montserrat"/>
                <a:ea typeface="Montserrat"/>
              </a:rPr>
              <a:t>• Validation magic bytes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2305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Montserrat"/>
                <a:ea typeface="Montserrat"/>
              </a:rPr>
              <a:t>• Contrôle de rôle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2305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Montserrat"/>
                <a:ea typeface="Montserrat"/>
              </a:rPr>
              <a:t>• Whitelist extensions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2305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Montserrat"/>
                <a:ea typeface="Montserrat"/>
              </a:rPr>
              <a:t>• Headers HTTP globaux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Box 7"/>
          <p:cNvSpPr/>
          <p:nvPr/>
        </p:nvSpPr>
        <p:spPr>
          <a:xfrm>
            <a:off x="1304280" y="1999440"/>
            <a:ext cx="10264680" cy="1209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4765"/>
              </a:lnSpc>
              <a:tabLst>
                <a:tab pos="0" algn="l"/>
              </a:tabLst>
            </a:pPr>
            <a:r>
              <a:rPr lang="en-US" sz="5400" b="1" u="none" strike="noStrike">
                <a:solidFill>
                  <a:srgbClr val="FFFFFF"/>
                </a:solidFill>
                <a:effectLst/>
                <a:uFillTx/>
                <a:latin typeface="Garet Bold"/>
                <a:ea typeface="Garet Bold"/>
              </a:rPr>
              <a:t>Architecture technique : vue d'ensemble</a:t>
            </a:r>
            <a:endParaRPr lang="en-GB" sz="5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76" name="Group 8"/>
          <p:cNvGrpSpPr/>
          <p:nvPr/>
        </p:nvGrpSpPr>
        <p:grpSpPr>
          <a:xfrm>
            <a:off x="756000" y="3354840"/>
            <a:ext cx="5065920" cy="5649840"/>
            <a:chOff x="756000" y="3354840"/>
            <a:chExt cx="5065920" cy="5649840"/>
          </a:xfrm>
        </p:grpSpPr>
        <p:sp>
          <p:nvSpPr>
            <p:cNvPr id="177" name="Freeform 9"/>
            <p:cNvSpPr/>
            <p:nvPr/>
          </p:nvSpPr>
          <p:spPr>
            <a:xfrm>
              <a:off x="756000" y="3466080"/>
              <a:ext cx="5065920" cy="5538600"/>
            </a:xfrm>
            <a:custGeom>
              <a:avLst/>
              <a:gdLst>
                <a:gd name="textAreaLeft" fmla="*/ 0 w 5065920"/>
                <a:gd name="textAreaRight" fmla="*/ 5066280 w 5065920"/>
                <a:gd name="textAreaTop" fmla="*/ 0 h 5538600"/>
                <a:gd name="textAreaBottom" fmla="*/ 5538960 h 5538600"/>
              </a:gdLst>
              <a:ahLst/>
              <a:cxnLst/>
              <a:rect l="textAreaLeft" t="textAreaTop" r="textAreaRight" b="textAreaBottom"/>
              <a:pathLst>
                <a:path w="1301964" h="1423386">
                  <a:moveTo>
                    <a:pt x="25978" y="0"/>
                  </a:moveTo>
                  <a:lnTo>
                    <a:pt x="1275986" y="0"/>
                  </a:lnTo>
                  <a:cubicBezTo>
                    <a:pt x="1290333" y="0"/>
                    <a:pt x="1301964" y="11631"/>
                    <a:pt x="1301964" y="25978"/>
                  </a:cubicBezTo>
                  <a:lnTo>
                    <a:pt x="1301964" y="1397408"/>
                  </a:lnTo>
                  <a:cubicBezTo>
                    <a:pt x="1301964" y="1404298"/>
                    <a:pt x="1299227" y="1410905"/>
                    <a:pt x="1294355" y="1415777"/>
                  </a:cubicBezTo>
                  <a:cubicBezTo>
                    <a:pt x="1289483" y="1420649"/>
                    <a:pt x="1282876" y="1423386"/>
                    <a:pt x="1275986" y="1423386"/>
                  </a:cubicBezTo>
                  <a:lnTo>
                    <a:pt x="25978" y="1423386"/>
                  </a:lnTo>
                  <a:cubicBezTo>
                    <a:pt x="19088" y="1423386"/>
                    <a:pt x="12480" y="1420649"/>
                    <a:pt x="7609" y="1415777"/>
                  </a:cubicBezTo>
                  <a:cubicBezTo>
                    <a:pt x="2737" y="1410905"/>
                    <a:pt x="0" y="1404298"/>
                    <a:pt x="0" y="1397408"/>
                  </a:cubicBezTo>
                  <a:lnTo>
                    <a:pt x="0" y="25978"/>
                  </a:lnTo>
                  <a:cubicBezTo>
                    <a:pt x="0" y="19088"/>
                    <a:pt x="2737" y="12480"/>
                    <a:pt x="7609" y="7609"/>
                  </a:cubicBezTo>
                  <a:cubicBezTo>
                    <a:pt x="12480" y="2737"/>
                    <a:pt x="19088" y="0"/>
                    <a:pt x="25978" y="0"/>
                  </a:cubicBezTo>
                  <a:close/>
                </a:path>
              </a:pathLst>
            </a:custGeom>
            <a:solidFill>
              <a:srgbClr val="022F76">
                <a:alpha val="5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GB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8" name="TextBox 10"/>
            <p:cNvSpPr/>
            <p:nvPr/>
          </p:nvSpPr>
          <p:spPr>
            <a:xfrm>
              <a:off x="756000" y="3354840"/>
              <a:ext cx="5065920" cy="5649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50760" tIns="50760" rIns="50760" bIns="50760" anchor="ctr">
              <a:noAutofit/>
            </a:bodyPr>
            <a:lstStyle/>
            <a:p>
              <a:pPr algn="ctr" defTabSz="914400">
                <a:lnSpc>
                  <a:spcPts val="2378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grpSp>
        <p:nvGrpSpPr>
          <p:cNvPr id="179" name="Group 11"/>
          <p:cNvGrpSpPr/>
          <p:nvPr/>
        </p:nvGrpSpPr>
        <p:grpSpPr>
          <a:xfrm>
            <a:off x="6116400" y="3354840"/>
            <a:ext cx="5065920" cy="5649840"/>
            <a:chOff x="6116400" y="3354840"/>
            <a:chExt cx="5065920" cy="5649840"/>
          </a:xfrm>
        </p:grpSpPr>
        <p:sp>
          <p:nvSpPr>
            <p:cNvPr id="180" name="Freeform 12"/>
            <p:cNvSpPr/>
            <p:nvPr/>
          </p:nvSpPr>
          <p:spPr>
            <a:xfrm>
              <a:off x="6116400" y="3466080"/>
              <a:ext cx="5065920" cy="5538600"/>
            </a:xfrm>
            <a:custGeom>
              <a:avLst/>
              <a:gdLst>
                <a:gd name="textAreaLeft" fmla="*/ 0 w 5065920"/>
                <a:gd name="textAreaRight" fmla="*/ 5066280 w 5065920"/>
                <a:gd name="textAreaTop" fmla="*/ 0 h 5538600"/>
                <a:gd name="textAreaBottom" fmla="*/ 5538960 h 5538600"/>
              </a:gdLst>
              <a:ahLst/>
              <a:cxnLst/>
              <a:rect l="textAreaLeft" t="textAreaTop" r="textAreaRight" b="textAreaBottom"/>
              <a:pathLst>
                <a:path w="1301964" h="1423386">
                  <a:moveTo>
                    <a:pt x="25978" y="0"/>
                  </a:moveTo>
                  <a:lnTo>
                    <a:pt x="1275986" y="0"/>
                  </a:lnTo>
                  <a:cubicBezTo>
                    <a:pt x="1290333" y="0"/>
                    <a:pt x="1301964" y="11631"/>
                    <a:pt x="1301964" y="25978"/>
                  </a:cubicBezTo>
                  <a:lnTo>
                    <a:pt x="1301964" y="1397408"/>
                  </a:lnTo>
                  <a:cubicBezTo>
                    <a:pt x="1301964" y="1404298"/>
                    <a:pt x="1299227" y="1410905"/>
                    <a:pt x="1294355" y="1415777"/>
                  </a:cubicBezTo>
                  <a:cubicBezTo>
                    <a:pt x="1289483" y="1420649"/>
                    <a:pt x="1282876" y="1423386"/>
                    <a:pt x="1275986" y="1423386"/>
                  </a:cubicBezTo>
                  <a:lnTo>
                    <a:pt x="25978" y="1423386"/>
                  </a:lnTo>
                  <a:cubicBezTo>
                    <a:pt x="19088" y="1423386"/>
                    <a:pt x="12480" y="1420649"/>
                    <a:pt x="7609" y="1415777"/>
                  </a:cubicBezTo>
                  <a:cubicBezTo>
                    <a:pt x="2737" y="1410905"/>
                    <a:pt x="0" y="1404298"/>
                    <a:pt x="0" y="1397408"/>
                  </a:cubicBezTo>
                  <a:lnTo>
                    <a:pt x="0" y="25978"/>
                  </a:lnTo>
                  <a:cubicBezTo>
                    <a:pt x="0" y="19088"/>
                    <a:pt x="2737" y="12480"/>
                    <a:pt x="7609" y="7609"/>
                  </a:cubicBezTo>
                  <a:cubicBezTo>
                    <a:pt x="12480" y="2737"/>
                    <a:pt x="19088" y="0"/>
                    <a:pt x="25978" y="0"/>
                  </a:cubicBezTo>
                  <a:close/>
                </a:path>
              </a:pathLst>
            </a:custGeom>
            <a:solidFill>
              <a:srgbClr val="022F76">
                <a:alpha val="5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GB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1" name="TextBox 13"/>
            <p:cNvSpPr/>
            <p:nvPr/>
          </p:nvSpPr>
          <p:spPr>
            <a:xfrm>
              <a:off x="6116400" y="3354840"/>
              <a:ext cx="5065920" cy="5649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50760" tIns="50760" rIns="50760" bIns="50760" anchor="ctr">
              <a:noAutofit/>
            </a:bodyPr>
            <a:lstStyle/>
            <a:p>
              <a:pPr algn="ctr" defTabSz="914400">
                <a:lnSpc>
                  <a:spcPts val="2378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182" name="TextBox 14"/>
          <p:cNvSpPr/>
          <p:nvPr/>
        </p:nvSpPr>
        <p:spPr>
          <a:xfrm>
            <a:off x="1389960" y="4188960"/>
            <a:ext cx="2494440" cy="394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3161"/>
              </a:lnSpc>
              <a:tabLst>
                <a:tab pos="0" algn="l"/>
              </a:tabLst>
            </a:pPr>
            <a:r>
              <a:rPr lang="en-US" sz="2540" b="1" u="none" strike="noStrike">
                <a:solidFill>
                  <a:srgbClr val="FFFFFF"/>
                </a:solidFill>
                <a:effectLst/>
                <a:uFillTx/>
                <a:latin typeface="Garet Bold"/>
                <a:ea typeface="Garet Bold"/>
              </a:rPr>
              <a:t>Frontend</a:t>
            </a:r>
            <a:endParaRPr lang="en-GB" sz="25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Box 15"/>
          <p:cNvSpPr/>
          <p:nvPr/>
        </p:nvSpPr>
        <p:spPr>
          <a:xfrm>
            <a:off x="12120480" y="4188960"/>
            <a:ext cx="3708360" cy="394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3161"/>
              </a:lnSpc>
              <a:tabLst>
                <a:tab pos="0" algn="l"/>
              </a:tabLst>
            </a:pPr>
            <a:r>
              <a:rPr lang="en-US" sz="2540" b="1" u="none" strike="noStrike">
                <a:solidFill>
                  <a:srgbClr val="FFFFFF"/>
                </a:solidFill>
                <a:effectLst/>
                <a:uFillTx/>
                <a:latin typeface="Garet Bold"/>
                <a:ea typeface="Garet Bold"/>
              </a:rPr>
              <a:t>Sécurité</a:t>
            </a:r>
            <a:endParaRPr lang="en-GB" sz="25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Box 16"/>
          <p:cNvSpPr/>
          <p:nvPr/>
        </p:nvSpPr>
        <p:spPr>
          <a:xfrm>
            <a:off x="6750720" y="4188960"/>
            <a:ext cx="3708360" cy="394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3161"/>
              </a:lnSpc>
              <a:tabLst>
                <a:tab pos="0" algn="l"/>
              </a:tabLst>
            </a:pPr>
            <a:r>
              <a:rPr lang="en-US" sz="2540" b="1" u="none" strike="noStrike">
                <a:solidFill>
                  <a:srgbClr val="FFFFFF"/>
                </a:solidFill>
                <a:effectLst/>
                <a:uFillTx/>
                <a:latin typeface="Garet Bold"/>
                <a:ea typeface="Garet Bold"/>
              </a:rPr>
              <a:t>Backend &amp; Données</a:t>
            </a:r>
            <a:endParaRPr lang="en-GB" sz="25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Box 17"/>
          <p:cNvSpPr/>
          <p:nvPr/>
        </p:nvSpPr>
        <p:spPr>
          <a:xfrm>
            <a:off x="1389960" y="5073840"/>
            <a:ext cx="3708360" cy="1755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just" defTabSz="914400">
              <a:lnSpc>
                <a:spcPts val="2305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Montserrat"/>
                <a:ea typeface="Montserrat"/>
              </a:rPr>
              <a:t>• Tailwind CSS CDN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2305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Montserrat"/>
                <a:ea typeface="Montserrat"/>
              </a:rPr>
              <a:t>• Heroicons SVG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2305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Montserrat"/>
                <a:ea typeface="Montserrat"/>
              </a:rPr>
              <a:t>• Police Inter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2305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Montserrat"/>
                <a:ea typeface="Montserrat"/>
              </a:rPr>
              <a:t>• Templates Jinja2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2305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Montserrat"/>
                <a:ea typeface="Montserrat"/>
              </a:rPr>
              <a:t>• Design responsive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2305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Montserrat"/>
                <a:ea typeface="Montserrat"/>
              </a:rPr>
              <a:t>• Composants réutilisables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Box 18"/>
          <p:cNvSpPr/>
          <p:nvPr/>
        </p:nvSpPr>
        <p:spPr>
          <a:xfrm>
            <a:off x="6750720" y="5073840"/>
            <a:ext cx="3708360" cy="1463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just" defTabSz="914400">
              <a:lnSpc>
                <a:spcPts val="2305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Montserrat"/>
                <a:ea typeface="Montserrat"/>
              </a:rPr>
              <a:t>• Flask 3.0 avec Blueprints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2305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Montserrat"/>
                <a:ea typeface="Montserrat"/>
              </a:rPr>
              <a:t>• Flask-Login &amp; Flask-WTF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2305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Montserrat"/>
                <a:ea typeface="Montserrat"/>
              </a:rPr>
              <a:t>• SQLite + Flask-SQLAlchemy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2305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Montserrat"/>
                <a:ea typeface="Montserrat"/>
              </a:rPr>
              <a:t>• Modèles Livre, Utilisateur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2305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Montserrat"/>
                <a:ea typeface="Montserrat"/>
              </a:rPr>
              <a:t>• Uploads UUID, limite 2 Mo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Freeform 2"/>
          <p:cNvSpPr/>
          <p:nvPr/>
        </p:nvSpPr>
        <p:spPr>
          <a:xfrm>
            <a:off x="0" y="0"/>
            <a:ext cx="18287640" cy="10286640"/>
          </a:xfrm>
          <a:custGeom>
            <a:avLst/>
            <a:gdLst>
              <a:gd name="textAreaLeft" fmla="*/ 0 w 18287640"/>
              <a:gd name="textAreaRight" fmla="*/ 18288000 w 18287640"/>
              <a:gd name="textAreaTop" fmla="*/ 0 h 10286640"/>
              <a:gd name="textAreaBottom" fmla="*/ 10287000 h 10286640"/>
            </a:gdLst>
            <a:ahLst/>
            <a:cxnLst/>
            <a:rect l="textAreaLeft" t="textAreaTop" r="textAreaRight" b="textAreaBottom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88" name="Group 3"/>
          <p:cNvGrpSpPr/>
          <p:nvPr/>
        </p:nvGrpSpPr>
        <p:grpSpPr>
          <a:xfrm>
            <a:off x="1007640" y="3546000"/>
            <a:ext cx="3813840" cy="4137840"/>
            <a:chOff x="1007640" y="3546000"/>
            <a:chExt cx="3813840" cy="4137840"/>
          </a:xfrm>
        </p:grpSpPr>
        <p:sp>
          <p:nvSpPr>
            <p:cNvPr id="189" name="Freeform 4"/>
            <p:cNvSpPr/>
            <p:nvPr/>
          </p:nvSpPr>
          <p:spPr>
            <a:xfrm>
              <a:off x="1007640" y="3657240"/>
              <a:ext cx="3813840" cy="4026600"/>
            </a:xfrm>
            <a:custGeom>
              <a:avLst/>
              <a:gdLst>
                <a:gd name="textAreaLeft" fmla="*/ 0 w 3813840"/>
                <a:gd name="textAreaRight" fmla="*/ 3814200 w 3813840"/>
                <a:gd name="textAreaTop" fmla="*/ 0 h 4026600"/>
                <a:gd name="textAreaBottom" fmla="*/ 4026960 h 4026600"/>
              </a:gdLst>
              <a:ahLst/>
              <a:cxnLst/>
              <a:rect l="textAreaLeft" t="textAreaTop" r="textAreaRight" b="textAreaBottom"/>
              <a:pathLst>
                <a:path w="980199" h="1034814">
                  <a:moveTo>
                    <a:pt x="34505" y="0"/>
                  </a:moveTo>
                  <a:lnTo>
                    <a:pt x="945694" y="0"/>
                  </a:lnTo>
                  <a:cubicBezTo>
                    <a:pt x="964751" y="0"/>
                    <a:pt x="980199" y="15448"/>
                    <a:pt x="980199" y="34505"/>
                  </a:cubicBezTo>
                  <a:lnTo>
                    <a:pt x="980199" y="1000309"/>
                  </a:lnTo>
                  <a:cubicBezTo>
                    <a:pt x="980199" y="1009460"/>
                    <a:pt x="976564" y="1018237"/>
                    <a:pt x="970093" y="1024708"/>
                  </a:cubicBezTo>
                  <a:cubicBezTo>
                    <a:pt x="963622" y="1031179"/>
                    <a:pt x="954846" y="1034814"/>
                    <a:pt x="945694" y="1034814"/>
                  </a:cubicBezTo>
                  <a:lnTo>
                    <a:pt x="34505" y="1034814"/>
                  </a:lnTo>
                  <a:cubicBezTo>
                    <a:pt x="15448" y="1034814"/>
                    <a:pt x="0" y="1019365"/>
                    <a:pt x="0" y="1000309"/>
                  </a:cubicBezTo>
                  <a:lnTo>
                    <a:pt x="0" y="34505"/>
                  </a:lnTo>
                  <a:cubicBezTo>
                    <a:pt x="0" y="15448"/>
                    <a:pt x="15448" y="0"/>
                    <a:pt x="34505" y="0"/>
                  </a:cubicBezTo>
                  <a:close/>
                </a:path>
              </a:pathLst>
            </a:custGeom>
            <a:solidFill>
              <a:srgbClr val="022F76">
                <a:alpha val="5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GB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0" name="TextBox 5"/>
            <p:cNvSpPr/>
            <p:nvPr/>
          </p:nvSpPr>
          <p:spPr>
            <a:xfrm>
              <a:off x="1007640" y="3546000"/>
              <a:ext cx="3813840" cy="4137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50760" tIns="50760" rIns="50760" bIns="50760" anchor="ctr">
              <a:noAutofit/>
            </a:bodyPr>
            <a:lstStyle/>
            <a:p>
              <a:pPr algn="ctr" defTabSz="914400">
                <a:lnSpc>
                  <a:spcPts val="2378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191" name="TextBox 6"/>
          <p:cNvSpPr/>
          <p:nvPr/>
        </p:nvSpPr>
        <p:spPr>
          <a:xfrm>
            <a:off x="1459440" y="5428080"/>
            <a:ext cx="2910240" cy="121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Montserrat"/>
                <a:ea typeface="Montserrat"/>
              </a:rPr>
              <a:t>Gestion de l'authentification utilisateur : inscription, connexion sécurisée et déconnexion. Routes isolées pour une meilleure sécurité.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Box 7"/>
          <p:cNvSpPr/>
          <p:nvPr/>
        </p:nvSpPr>
        <p:spPr>
          <a:xfrm>
            <a:off x="1258560" y="4791960"/>
            <a:ext cx="3312720" cy="39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3257"/>
              </a:lnSpc>
              <a:tabLst>
                <a:tab pos="0" algn="l"/>
              </a:tabLst>
            </a:pPr>
            <a:r>
              <a:rPr lang="en-US" sz="2320" b="1" u="none" strike="noStrike">
                <a:solidFill>
                  <a:srgbClr val="FFFFFF"/>
                </a:solidFill>
                <a:effectLst/>
                <a:uFillTx/>
                <a:latin typeface="Garet Bold"/>
                <a:ea typeface="Garet Bold"/>
              </a:rPr>
              <a:t>auth</a:t>
            </a:r>
            <a:endParaRPr lang="en-GB" sz="2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Box 8"/>
          <p:cNvSpPr/>
          <p:nvPr/>
        </p:nvSpPr>
        <p:spPr>
          <a:xfrm>
            <a:off x="2394000" y="3916080"/>
            <a:ext cx="1041480" cy="728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6029"/>
              </a:lnSpc>
              <a:tabLst>
                <a:tab pos="0" algn="l"/>
              </a:tabLst>
            </a:pPr>
            <a:r>
              <a:rPr lang="en-US" sz="4310" b="1" u="none" strike="noStrike">
                <a:solidFill>
                  <a:srgbClr val="FFFFFF"/>
                </a:solidFill>
                <a:effectLst/>
                <a:uFillTx/>
                <a:latin typeface="Garet Bold"/>
                <a:ea typeface="Garet Bold"/>
              </a:rPr>
              <a:t>01</a:t>
            </a:r>
            <a:endParaRPr lang="en-GB" sz="43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94" name="Group 9"/>
          <p:cNvGrpSpPr/>
          <p:nvPr/>
        </p:nvGrpSpPr>
        <p:grpSpPr>
          <a:xfrm>
            <a:off x="13465800" y="3546000"/>
            <a:ext cx="3813840" cy="4137840"/>
            <a:chOff x="13465800" y="3546000"/>
            <a:chExt cx="3813840" cy="4137840"/>
          </a:xfrm>
        </p:grpSpPr>
        <p:sp>
          <p:nvSpPr>
            <p:cNvPr id="195" name="Freeform 10"/>
            <p:cNvSpPr/>
            <p:nvPr/>
          </p:nvSpPr>
          <p:spPr>
            <a:xfrm>
              <a:off x="13465800" y="3657240"/>
              <a:ext cx="3813840" cy="4026600"/>
            </a:xfrm>
            <a:custGeom>
              <a:avLst/>
              <a:gdLst>
                <a:gd name="textAreaLeft" fmla="*/ 0 w 3813840"/>
                <a:gd name="textAreaRight" fmla="*/ 3814200 w 3813840"/>
                <a:gd name="textAreaTop" fmla="*/ 0 h 4026600"/>
                <a:gd name="textAreaBottom" fmla="*/ 4026960 h 4026600"/>
              </a:gdLst>
              <a:ahLst/>
              <a:cxnLst/>
              <a:rect l="textAreaLeft" t="textAreaTop" r="textAreaRight" b="textAreaBottom"/>
              <a:pathLst>
                <a:path w="980199" h="1034814">
                  <a:moveTo>
                    <a:pt x="34505" y="0"/>
                  </a:moveTo>
                  <a:lnTo>
                    <a:pt x="945694" y="0"/>
                  </a:lnTo>
                  <a:cubicBezTo>
                    <a:pt x="964751" y="0"/>
                    <a:pt x="980199" y="15448"/>
                    <a:pt x="980199" y="34505"/>
                  </a:cubicBezTo>
                  <a:lnTo>
                    <a:pt x="980199" y="1000309"/>
                  </a:lnTo>
                  <a:cubicBezTo>
                    <a:pt x="980199" y="1009460"/>
                    <a:pt x="976564" y="1018237"/>
                    <a:pt x="970093" y="1024708"/>
                  </a:cubicBezTo>
                  <a:cubicBezTo>
                    <a:pt x="963622" y="1031179"/>
                    <a:pt x="954846" y="1034814"/>
                    <a:pt x="945694" y="1034814"/>
                  </a:cubicBezTo>
                  <a:lnTo>
                    <a:pt x="34505" y="1034814"/>
                  </a:lnTo>
                  <a:cubicBezTo>
                    <a:pt x="15448" y="1034814"/>
                    <a:pt x="0" y="1019365"/>
                    <a:pt x="0" y="1000309"/>
                  </a:cubicBezTo>
                  <a:lnTo>
                    <a:pt x="0" y="34505"/>
                  </a:lnTo>
                  <a:cubicBezTo>
                    <a:pt x="0" y="15448"/>
                    <a:pt x="15448" y="0"/>
                    <a:pt x="34505" y="0"/>
                  </a:cubicBezTo>
                  <a:close/>
                </a:path>
              </a:pathLst>
            </a:custGeom>
            <a:solidFill>
              <a:srgbClr val="022F76">
                <a:alpha val="5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GB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6" name="TextBox 11"/>
            <p:cNvSpPr/>
            <p:nvPr/>
          </p:nvSpPr>
          <p:spPr>
            <a:xfrm>
              <a:off x="13465800" y="3546000"/>
              <a:ext cx="3813840" cy="4137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50760" tIns="50760" rIns="50760" bIns="50760" anchor="ctr">
              <a:noAutofit/>
            </a:bodyPr>
            <a:lstStyle/>
            <a:p>
              <a:pPr algn="ctr" defTabSz="914400">
                <a:lnSpc>
                  <a:spcPts val="2378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197" name="TextBox 12"/>
          <p:cNvSpPr/>
          <p:nvPr/>
        </p:nvSpPr>
        <p:spPr>
          <a:xfrm>
            <a:off x="13917960" y="5411880"/>
            <a:ext cx="2910240" cy="121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Montserrat"/>
                <a:ea typeface="Montserrat"/>
              </a:rPr>
              <a:t>Séparation des responsabilités · Routes groupées logiquement · Maintenance facilitée · Code modulaire et réutilisable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Box 13"/>
          <p:cNvSpPr/>
          <p:nvPr/>
        </p:nvSpPr>
        <p:spPr>
          <a:xfrm>
            <a:off x="14365440" y="4775760"/>
            <a:ext cx="2015280" cy="39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3257"/>
              </a:lnSpc>
              <a:tabLst>
                <a:tab pos="0" algn="l"/>
              </a:tabLst>
            </a:pPr>
            <a:r>
              <a:rPr lang="en-US" sz="2320" b="1" u="none" strike="noStrike">
                <a:solidFill>
                  <a:srgbClr val="FFFFFF"/>
                </a:solidFill>
                <a:effectLst/>
                <a:uFillTx/>
                <a:latin typeface="Garet Bold"/>
                <a:ea typeface="Garet Bold"/>
              </a:rPr>
              <a:t>Avantages</a:t>
            </a:r>
            <a:endParaRPr lang="en-GB" sz="2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Box 14"/>
          <p:cNvSpPr/>
          <p:nvPr/>
        </p:nvSpPr>
        <p:spPr>
          <a:xfrm>
            <a:off x="14852160" y="3955680"/>
            <a:ext cx="1041480" cy="728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6029"/>
              </a:lnSpc>
              <a:tabLst>
                <a:tab pos="0" algn="l"/>
              </a:tabLst>
            </a:pPr>
            <a:r>
              <a:rPr lang="en-US" sz="4310" b="1" u="none" strike="noStrike">
                <a:solidFill>
                  <a:srgbClr val="FFFFFF"/>
                </a:solidFill>
                <a:effectLst/>
                <a:uFillTx/>
                <a:latin typeface="Garet Bold"/>
                <a:ea typeface="Garet Bold"/>
              </a:rPr>
              <a:t>04</a:t>
            </a:r>
            <a:endParaRPr lang="en-GB" sz="43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00" name="Group 15"/>
          <p:cNvGrpSpPr/>
          <p:nvPr/>
        </p:nvGrpSpPr>
        <p:grpSpPr>
          <a:xfrm>
            <a:off x="9313200" y="3546000"/>
            <a:ext cx="3813840" cy="4137840"/>
            <a:chOff x="9313200" y="3546000"/>
            <a:chExt cx="3813840" cy="4137840"/>
          </a:xfrm>
        </p:grpSpPr>
        <p:sp>
          <p:nvSpPr>
            <p:cNvPr id="201" name="Freeform 16"/>
            <p:cNvSpPr/>
            <p:nvPr/>
          </p:nvSpPr>
          <p:spPr>
            <a:xfrm>
              <a:off x="9313200" y="3657240"/>
              <a:ext cx="3813840" cy="4026600"/>
            </a:xfrm>
            <a:custGeom>
              <a:avLst/>
              <a:gdLst>
                <a:gd name="textAreaLeft" fmla="*/ 0 w 3813840"/>
                <a:gd name="textAreaRight" fmla="*/ 3814200 w 3813840"/>
                <a:gd name="textAreaTop" fmla="*/ 0 h 4026600"/>
                <a:gd name="textAreaBottom" fmla="*/ 4026960 h 4026600"/>
              </a:gdLst>
              <a:ahLst/>
              <a:cxnLst/>
              <a:rect l="textAreaLeft" t="textAreaTop" r="textAreaRight" b="textAreaBottom"/>
              <a:pathLst>
                <a:path w="980199" h="1034814">
                  <a:moveTo>
                    <a:pt x="34505" y="0"/>
                  </a:moveTo>
                  <a:lnTo>
                    <a:pt x="945694" y="0"/>
                  </a:lnTo>
                  <a:cubicBezTo>
                    <a:pt x="964751" y="0"/>
                    <a:pt x="980199" y="15448"/>
                    <a:pt x="980199" y="34505"/>
                  </a:cubicBezTo>
                  <a:lnTo>
                    <a:pt x="980199" y="1000309"/>
                  </a:lnTo>
                  <a:cubicBezTo>
                    <a:pt x="980199" y="1009460"/>
                    <a:pt x="976564" y="1018237"/>
                    <a:pt x="970093" y="1024708"/>
                  </a:cubicBezTo>
                  <a:cubicBezTo>
                    <a:pt x="963622" y="1031179"/>
                    <a:pt x="954846" y="1034814"/>
                    <a:pt x="945694" y="1034814"/>
                  </a:cubicBezTo>
                  <a:lnTo>
                    <a:pt x="34505" y="1034814"/>
                  </a:lnTo>
                  <a:cubicBezTo>
                    <a:pt x="15448" y="1034814"/>
                    <a:pt x="0" y="1019365"/>
                    <a:pt x="0" y="1000309"/>
                  </a:cubicBezTo>
                  <a:lnTo>
                    <a:pt x="0" y="34505"/>
                  </a:lnTo>
                  <a:cubicBezTo>
                    <a:pt x="0" y="15448"/>
                    <a:pt x="15448" y="0"/>
                    <a:pt x="34505" y="0"/>
                  </a:cubicBezTo>
                  <a:close/>
                </a:path>
              </a:pathLst>
            </a:custGeom>
            <a:solidFill>
              <a:srgbClr val="022F76">
                <a:alpha val="5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GB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2" name="TextBox 17"/>
            <p:cNvSpPr/>
            <p:nvPr/>
          </p:nvSpPr>
          <p:spPr>
            <a:xfrm>
              <a:off x="9313200" y="3546000"/>
              <a:ext cx="3813840" cy="4137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50760" tIns="50760" rIns="50760" bIns="50760" anchor="ctr">
              <a:noAutofit/>
            </a:bodyPr>
            <a:lstStyle/>
            <a:p>
              <a:pPr algn="ctr" defTabSz="914400">
                <a:lnSpc>
                  <a:spcPts val="2378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203" name="TextBox 18"/>
          <p:cNvSpPr/>
          <p:nvPr/>
        </p:nvSpPr>
        <p:spPr>
          <a:xfrm>
            <a:off x="9765000" y="5428080"/>
            <a:ext cx="2910240" cy="121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Montserrat"/>
                <a:ea typeface="Montserrat"/>
              </a:rPr>
              <a:t>Dashboard administrateur : gestion des livres, des utilisateurs et attribution des rôles. Accès restreint aux admins uniquement.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Box 19"/>
          <p:cNvSpPr/>
          <p:nvPr/>
        </p:nvSpPr>
        <p:spPr>
          <a:xfrm>
            <a:off x="10108800" y="4791960"/>
            <a:ext cx="2222640" cy="413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3257"/>
              </a:lnSpc>
              <a:tabLst>
                <a:tab pos="0" algn="l"/>
              </a:tabLst>
            </a:pPr>
            <a:r>
              <a:rPr lang="en-US" sz="2320" b="1" u="none" strike="noStrike">
                <a:solidFill>
                  <a:srgbClr val="FFFFFF"/>
                </a:solidFill>
                <a:effectLst/>
                <a:uFillTx/>
                <a:latin typeface="Garet Bold"/>
                <a:ea typeface="Garet Bold"/>
              </a:rPr>
              <a:t>admin</a:t>
            </a:r>
            <a:endParaRPr lang="en-GB" sz="2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Box 20"/>
          <p:cNvSpPr/>
          <p:nvPr/>
        </p:nvSpPr>
        <p:spPr>
          <a:xfrm>
            <a:off x="10699560" y="3904920"/>
            <a:ext cx="1041480" cy="728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6029"/>
              </a:lnSpc>
              <a:tabLst>
                <a:tab pos="0" algn="l"/>
              </a:tabLst>
            </a:pPr>
            <a:r>
              <a:rPr lang="en-US" sz="4310" b="1" u="none" strike="noStrike">
                <a:solidFill>
                  <a:srgbClr val="FFFFFF"/>
                </a:solidFill>
                <a:effectLst/>
                <a:uFillTx/>
                <a:latin typeface="Garet Bold"/>
                <a:ea typeface="Garet Bold"/>
              </a:rPr>
              <a:t>03</a:t>
            </a:r>
            <a:endParaRPr lang="en-GB" sz="43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06" name="Group 21"/>
          <p:cNvGrpSpPr/>
          <p:nvPr/>
        </p:nvGrpSpPr>
        <p:grpSpPr>
          <a:xfrm>
            <a:off x="5160600" y="3546000"/>
            <a:ext cx="3813840" cy="4137840"/>
            <a:chOff x="5160600" y="3546000"/>
            <a:chExt cx="3813840" cy="4137840"/>
          </a:xfrm>
        </p:grpSpPr>
        <p:sp>
          <p:nvSpPr>
            <p:cNvPr id="207" name="Freeform 22"/>
            <p:cNvSpPr/>
            <p:nvPr/>
          </p:nvSpPr>
          <p:spPr>
            <a:xfrm>
              <a:off x="5160600" y="3657240"/>
              <a:ext cx="3813840" cy="4026600"/>
            </a:xfrm>
            <a:custGeom>
              <a:avLst/>
              <a:gdLst>
                <a:gd name="textAreaLeft" fmla="*/ 0 w 3813840"/>
                <a:gd name="textAreaRight" fmla="*/ 3814200 w 3813840"/>
                <a:gd name="textAreaTop" fmla="*/ 0 h 4026600"/>
                <a:gd name="textAreaBottom" fmla="*/ 4026960 h 4026600"/>
              </a:gdLst>
              <a:ahLst/>
              <a:cxnLst/>
              <a:rect l="textAreaLeft" t="textAreaTop" r="textAreaRight" b="textAreaBottom"/>
              <a:pathLst>
                <a:path w="980199" h="1034814">
                  <a:moveTo>
                    <a:pt x="34505" y="0"/>
                  </a:moveTo>
                  <a:lnTo>
                    <a:pt x="945694" y="0"/>
                  </a:lnTo>
                  <a:cubicBezTo>
                    <a:pt x="964751" y="0"/>
                    <a:pt x="980199" y="15448"/>
                    <a:pt x="980199" y="34505"/>
                  </a:cubicBezTo>
                  <a:lnTo>
                    <a:pt x="980199" y="1000309"/>
                  </a:lnTo>
                  <a:cubicBezTo>
                    <a:pt x="980199" y="1009460"/>
                    <a:pt x="976564" y="1018237"/>
                    <a:pt x="970093" y="1024708"/>
                  </a:cubicBezTo>
                  <a:cubicBezTo>
                    <a:pt x="963622" y="1031179"/>
                    <a:pt x="954846" y="1034814"/>
                    <a:pt x="945694" y="1034814"/>
                  </a:cubicBezTo>
                  <a:lnTo>
                    <a:pt x="34505" y="1034814"/>
                  </a:lnTo>
                  <a:cubicBezTo>
                    <a:pt x="15448" y="1034814"/>
                    <a:pt x="0" y="1019365"/>
                    <a:pt x="0" y="1000309"/>
                  </a:cubicBezTo>
                  <a:lnTo>
                    <a:pt x="0" y="34505"/>
                  </a:lnTo>
                  <a:cubicBezTo>
                    <a:pt x="0" y="15448"/>
                    <a:pt x="15448" y="0"/>
                    <a:pt x="34505" y="0"/>
                  </a:cubicBezTo>
                  <a:close/>
                </a:path>
              </a:pathLst>
            </a:custGeom>
            <a:solidFill>
              <a:srgbClr val="022F76">
                <a:alpha val="5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GB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8" name="TextBox 23"/>
            <p:cNvSpPr/>
            <p:nvPr/>
          </p:nvSpPr>
          <p:spPr>
            <a:xfrm>
              <a:off x="5160600" y="3546000"/>
              <a:ext cx="3813840" cy="4137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50760" tIns="50760" rIns="50760" bIns="50760" anchor="ctr">
              <a:noAutofit/>
            </a:bodyPr>
            <a:lstStyle/>
            <a:p>
              <a:pPr algn="ctr" defTabSz="914400">
                <a:lnSpc>
                  <a:spcPts val="2378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209" name="TextBox 24"/>
          <p:cNvSpPr/>
          <p:nvPr/>
        </p:nvSpPr>
        <p:spPr>
          <a:xfrm>
            <a:off x="5612400" y="5411880"/>
            <a:ext cx="2910240" cy="1461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Montserrat"/>
                <a:ea typeface="Montserrat"/>
              </a:rPr>
              <a:t>Interface publique : catalogue des livres, pages de détail, formulaires d'emprunt et de réservation. Expérience utilisateur complète.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Box 25"/>
          <p:cNvSpPr/>
          <p:nvPr/>
        </p:nvSpPr>
        <p:spPr>
          <a:xfrm>
            <a:off x="5292000" y="4775760"/>
            <a:ext cx="3550680" cy="39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3257"/>
              </a:lnSpc>
              <a:tabLst>
                <a:tab pos="0" algn="l"/>
              </a:tabLst>
            </a:pPr>
            <a:r>
              <a:rPr lang="en-US" sz="2320" b="1" u="none" strike="noStrike">
                <a:solidFill>
                  <a:srgbClr val="FFFFFF"/>
                </a:solidFill>
                <a:effectLst/>
                <a:uFillTx/>
                <a:latin typeface="Garet Bold"/>
                <a:ea typeface="Garet Bold"/>
              </a:rPr>
              <a:t>pages</a:t>
            </a:r>
            <a:endParaRPr lang="en-GB" sz="2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Box 26"/>
          <p:cNvSpPr/>
          <p:nvPr/>
        </p:nvSpPr>
        <p:spPr>
          <a:xfrm>
            <a:off x="6546600" y="3904920"/>
            <a:ext cx="1041480" cy="728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6029"/>
              </a:lnSpc>
              <a:tabLst>
                <a:tab pos="0" algn="l"/>
              </a:tabLst>
            </a:pPr>
            <a:r>
              <a:rPr lang="en-US" sz="4310" b="1" u="none" strike="noStrike">
                <a:solidFill>
                  <a:srgbClr val="FFFFFF"/>
                </a:solidFill>
                <a:effectLst/>
                <a:uFillTx/>
                <a:latin typeface="Garet Bold"/>
                <a:ea typeface="Garet Bold"/>
              </a:rPr>
              <a:t>02</a:t>
            </a:r>
            <a:endParaRPr lang="en-GB" sz="43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Box 27"/>
          <p:cNvSpPr/>
          <p:nvPr/>
        </p:nvSpPr>
        <p:spPr>
          <a:xfrm>
            <a:off x="2013840" y="1192320"/>
            <a:ext cx="14259960" cy="1345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11030"/>
              </a:lnSpc>
              <a:tabLst>
                <a:tab pos="0" algn="l"/>
              </a:tabLst>
            </a:pPr>
            <a:r>
              <a:rPr lang="en-US" sz="7880" b="1" u="none" strike="noStrike">
                <a:solidFill>
                  <a:srgbClr val="FFFFFF"/>
                </a:solidFill>
                <a:effectLst/>
                <a:uFillTx/>
                <a:latin typeface="Garet Bold"/>
                <a:ea typeface="Garet Bold"/>
              </a:rPr>
              <a:t>LES BLUEPRINTS FLASK</a:t>
            </a:r>
            <a:endParaRPr lang="en-GB" sz="7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Freeform 2"/>
          <p:cNvSpPr/>
          <p:nvPr/>
        </p:nvSpPr>
        <p:spPr>
          <a:xfrm>
            <a:off x="0" y="0"/>
            <a:ext cx="18287640" cy="10286640"/>
          </a:xfrm>
          <a:custGeom>
            <a:avLst/>
            <a:gdLst>
              <a:gd name="textAreaLeft" fmla="*/ 0 w 18287640"/>
              <a:gd name="textAreaRight" fmla="*/ 18288000 w 18287640"/>
              <a:gd name="textAreaTop" fmla="*/ 0 h 10286640"/>
              <a:gd name="textAreaBottom" fmla="*/ 10287000 h 10286640"/>
            </a:gdLst>
            <a:ahLst/>
            <a:cxnLst/>
            <a:rect l="textAreaLeft" t="textAreaTop" r="textAreaRight" b="textAreaBottom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14" name="Group 3"/>
          <p:cNvGrpSpPr/>
          <p:nvPr/>
        </p:nvGrpSpPr>
        <p:grpSpPr>
          <a:xfrm>
            <a:off x="7968600" y="1660320"/>
            <a:ext cx="8943120" cy="2200320"/>
            <a:chOff x="7968600" y="1660320"/>
            <a:chExt cx="8943120" cy="2200320"/>
          </a:xfrm>
        </p:grpSpPr>
        <p:sp>
          <p:nvSpPr>
            <p:cNvPr id="215" name="Freeform 4"/>
            <p:cNvSpPr/>
            <p:nvPr/>
          </p:nvSpPr>
          <p:spPr>
            <a:xfrm>
              <a:off x="7968600" y="1774080"/>
              <a:ext cx="8943120" cy="2086560"/>
            </a:xfrm>
            <a:custGeom>
              <a:avLst/>
              <a:gdLst>
                <a:gd name="textAreaLeft" fmla="*/ 0 w 8943120"/>
                <a:gd name="textAreaRight" fmla="*/ 8943480 w 8943120"/>
                <a:gd name="textAreaTop" fmla="*/ 0 h 2086560"/>
                <a:gd name="textAreaBottom" fmla="*/ 2086920 h 2086560"/>
              </a:gdLst>
              <a:ahLst/>
              <a:cxnLst/>
              <a:rect l="textAreaLeft" t="textAreaTop" r="textAreaRight" b="textAreaBottom"/>
              <a:pathLst>
                <a:path w="2249203" h="524870">
                  <a:moveTo>
                    <a:pt x="14716" y="0"/>
                  </a:moveTo>
                  <a:lnTo>
                    <a:pt x="2234487" y="0"/>
                  </a:lnTo>
                  <a:cubicBezTo>
                    <a:pt x="2238390" y="0"/>
                    <a:pt x="2242133" y="1550"/>
                    <a:pt x="2244893" y="4310"/>
                  </a:cubicBezTo>
                  <a:cubicBezTo>
                    <a:pt x="2247653" y="7070"/>
                    <a:pt x="2249203" y="10813"/>
                    <a:pt x="2249203" y="14716"/>
                  </a:cubicBezTo>
                  <a:lnTo>
                    <a:pt x="2249203" y="510154"/>
                  </a:lnTo>
                  <a:cubicBezTo>
                    <a:pt x="2249203" y="514057"/>
                    <a:pt x="2247653" y="517800"/>
                    <a:pt x="2244893" y="520560"/>
                  </a:cubicBezTo>
                  <a:cubicBezTo>
                    <a:pt x="2242133" y="523320"/>
                    <a:pt x="2238390" y="524870"/>
                    <a:pt x="2234487" y="524870"/>
                  </a:cubicBezTo>
                  <a:lnTo>
                    <a:pt x="14716" y="524870"/>
                  </a:lnTo>
                  <a:cubicBezTo>
                    <a:pt x="10813" y="524870"/>
                    <a:pt x="7070" y="523320"/>
                    <a:pt x="4310" y="520560"/>
                  </a:cubicBezTo>
                  <a:cubicBezTo>
                    <a:pt x="1550" y="517800"/>
                    <a:pt x="0" y="514057"/>
                    <a:pt x="0" y="510154"/>
                  </a:cubicBezTo>
                  <a:lnTo>
                    <a:pt x="0" y="14716"/>
                  </a:lnTo>
                  <a:cubicBezTo>
                    <a:pt x="0" y="10813"/>
                    <a:pt x="1550" y="7070"/>
                    <a:pt x="4310" y="4310"/>
                  </a:cubicBezTo>
                  <a:cubicBezTo>
                    <a:pt x="7070" y="1550"/>
                    <a:pt x="10813" y="0"/>
                    <a:pt x="14716" y="0"/>
                  </a:cubicBezTo>
                  <a:close/>
                </a:path>
              </a:pathLst>
            </a:custGeom>
            <a:solidFill>
              <a:srgbClr val="022F76">
                <a:alpha val="5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GB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6" name="TextBox 5"/>
            <p:cNvSpPr/>
            <p:nvPr/>
          </p:nvSpPr>
          <p:spPr>
            <a:xfrm>
              <a:off x="7968600" y="1660320"/>
              <a:ext cx="8943120" cy="2200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50760" tIns="50760" rIns="50760" bIns="50760" anchor="ctr">
              <a:noAutofit/>
            </a:bodyPr>
            <a:lstStyle/>
            <a:p>
              <a:pPr algn="ctr" defTabSz="914400">
                <a:lnSpc>
                  <a:spcPts val="2378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grpSp>
        <p:nvGrpSpPr>
          <p:cNvPr id="217" name="Group 6"/>
          <p:cNvGrpSpPr/>
          <p:nvPr/>
        </p:nvGrpSpPr>
        <p:grpSpPr>
          <a:xfrm>
            <a:off x="7968600" y="3987000"/>
            <a:ext cx="8943120" cy="2200320"/>
            <a:chOff x="7968600" y="3987000"/>
            <a:chExt cx="8943120" cy="2200320"/>
          </a:xfrm>
        </p:grpSpPr>
        <p:sp>
          <p:nvSpPr>
            <p:cNvPr id="218" name="Freeform 7"/>
            <p:cNvSpPr/>
            <p:nvPr/>
          </p:nvSpPr>
          <p:spPr>
            <a:xfrm>
              <a:off x="7968600" y="4100760"/>
              <a:ext cx="8943120" cy="2086560"/>
            </a:xfrm>
            <a:custGeom>
              <a:avLst/>
              <a:gdLst>
                <a:gd name="textAreaLeft" fmla="*/ 0 w 8943120"/>
                <a:gd name="textAreaRight" fmla="*/ 8943480 w 8943120"/>
                <a:gd name="textAreaTop" fmla="*/ 0 h 2086560"/>
                <a:gd name="textAreaBottom" fmla="*/ 2086920 h 2086560"/>
              </a:gdLst>
              <a:ahLst/>
              <a:cxnLst/>
              <a:rect l="textAreaLeft" t="textAreaTop" r="textAreaRight" b="textAreaBottom"/>
              <a:pathLst>
                <a:path w="2249203" h="524870">
                  <a:moveTo>
                    <a:pt x="14716" y="0"/>
                  </a:moveTo>
                  <a:lnTo>
                    <a:pt x="2234487" y="0"/>
                  </a:lnTo>
                  <a:cubicBezTo>
                    <a:pt x="2238390" y="0"/>
                    <a:pt x="2242133" y="1550"/>
                    <a:pt x="2244893" y="4310"/>
                  </a:cubicBezTo>
                  <a:cubicBezTo>
                    <a:pt x="2247653" y="7070"/>
                    <a:pt x="2249203" y="10813"/>
                    <a:pt x="2249203" y="14716"/>
                  </a:cubicBezTo>
                  <a:lnTo>
                    <a:pt x="2249203" y="510154"/>
                  </a:lnTo>
                  <a:cubicBezTo>
                    <a:pt x="2249203" y="514057"/>
                    <a:pt x="2247653" y="517800"/>
                    <a:pt x="2244893" y="520560"/>
                  </a:cubicBezTo>
                  <a:cubicBezTo>
                    <a:pt x="2242133" y="523320"/>
                    <a:pt x="2238390" y="524870"/>
                    <a:pt x="2234487" y="524870"/>
                  </a:cubicBezTo>
                  <a:lnTo>
                    <a:pt x="14716" y="524870"/>
                  </a:lnTo>
                  <a:cubicBezTo>
                    <a:pt x="10813" y="524870"/>
                    <a:pt x="7070" y="523320"/>
                    <a:pt x="4310" y="520560"/>
                  </a:cubicBezTo>
                  <a:cubicBezTo>
                    <a:pt x="1550" y="517800"/>
                    <a:pt x="0" y="514057"/>
                    <a:pt x="0" y="510154"/>
                  </a:cubicBezTo>
                  <a:lnTo>
                    <a:pt x="0" y="14716"/>
                  </a:lnTo>
                  <a:cubicBezTo>
                    <a:pt x="0" y="10813"/>
                    <a:pt x="1550" y="7070"/>
                    <a:pt x="4310" y="4310"/>
                  </a:cubicBezTo>
                  <a:cubicBezTo>
                    <a:pt x="7070" y="1550"/>
                    <a:pt x="10813" y="0"/>
                    <a:pt x="14716" y="0"/>
                  </a:cubicBezTo>
                  <a:close/>
                </a:path>
              </a:pathLst>
            </a:custGeom>
            <a:solidFill>
              <a:srgbClr val="022F76">
                <a:alpha val="5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GB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9" name="TextBox 8"/>
            <p:cNvSpPr/>
            <p:nvPr/>
          </p:nvSpPr>
          <p:spPr>
            <a:xfrm>
              <a:off x="7968600" y="3987000"/>
              <a:ext cx="8943120" cy="2200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50760" tIns="50760" rIns="50760" bIns="50760" anchor="ctr">
              <a:noAutofit/>
            </a:bodyPr>
            <a:lstStyle/>
            <a:p>
              <a:pPr algn="ctr" defTabSz="914400">
                <a:lnSpc>
                  <a:spcPts val="2378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grpSp>
        <p:nvGrpSpPr>
          <p:cNvPr id="220" name="Group 9"/>
          <p:cNvGrpSpPr/>
          <p:nvPr/>
        </p:nvGrpSpPr>
        <p:grpSpPr>
          <a:xfrm>
            <a:off x="7968600" y="6312240"/>
            <a:ext cx="8943120" cy="2200320"/>
            <a:chOff x="7968600" y="6312240"/>
            <a:chExt cx="8943120" cy="2200320"/>
          </a:xfrm>
        </p:grpSpPr>
        <p:sp>
          <p:nvSpPr>
            <p:cNvPr id="221" name="Freeform 10"/>
            <p:cNvSpPr/>
            <p:nvPr/>
          </p:nvSpPr>
          <p:spPr>
            <a:xfrm>
              <a:off x="7968600" y="6426000"/>
              <a:ext cx="8943120" cy="2086560"/>
            </a:xfrm>
            <a:custGeom>
              <a:avLst/>
              <a:gdLst>
                <a:gd name="textAreaLeft" fmla="*/ 0 w 8943120"/>
                <a:gd name="textAreaRight" fmla="*/ 8943480 w 8943120"/>
                <a:gd name="textAreaTop" fmla="*/ 0 h 2086560"/>
                <a:gd name="textAreaBottom" fmla="*/ 2086920 h 2086560"/>
              </a:gdLst>
              <a:ahLst/>
              <a:cxnLst/>
              <a:rect l="textAreaLeft" t="textAreaTop" r="textAreaRight" b="textAreaBottom"/>
              <a:pathLst>
                <a:path w="2249203" h="524870">
                  <a:moveTo>
                    <a:pt x="14716" y="0"/>
                  </a:moveTo>
                  <a:lnTo>
                    <a:pt x="2234487" y="0"/>
                  </a:lnTo>
                  <a:cubicBezTo>
                    <a:pt x="2238390" y="0"/>
                    <a:pt x="2242133" y="1550"/>
                    <a:pt x="2244893" y="4310"/>
                  </a:cubicBezTo>
                  <a:cubicBezTo>
                    <a:pt x="2247653" y="7070"/>
                    <a:pt x="2249203" y="10813"/>
                    <a:pt x="2249203" y="14716"/>
                  </a:cubicBezTo>
                  <a:lnTo>
                    <a:pt x="2249203" y="510154"/>
                  </a:lnTo>
                  <a:cubicBezTo>
                    <a:pt x="2249203" y="514057"/>
                    <a:pt x="2247653" y="517800"/>
                    <a:pt x="2244893" y="520560"/>
                  </a:cubicBezTo>
                  <a:cubicBezTo>
                    <a:pt x="2242133" y="523320"/>
                    <a:pt x="2238390" y="524870"/>
                    <a:pt x="2234487" y="524870"/>
                  </a:cubicBezTo>
                  <a:lnTo>
                    <a:pt x="14716" y="524870"/>
                  </a:lnTo>
                  <a:cubicBezTo>
                    <a:pt x="10813" y="524870"/>
                    <a:pt x="7070" y="523320"/>
                    <a:pt x="4310" y="520560"/>
                  </a:cubicBezTo>
                  <a:cubicBezTo>
                    <a:pt x="1550" y="517800"/>
                    <a:pt x="0" y="514057"/>
                    <a:pt x="0" y="510154"/>
                  </a:cubicBezTo>
                  <a:lnTo>
                    <a:pt x="0" y="14716"/>
                  </a:lnTo>
                  <a:cubicBezTo>
                    <a:pt x="0" y="10813"/>
                    <a:pt x="1550" y="7070"/>
                    <a:pt x="4310" y="4310"/>
                  </a:cubicBezTo>
                  <a:cubicBezTo>
                    <a:pt x="7070" y="1550"/>
                    <a:pt x="10813" y="0"/>
                    <a:pt x="14716" y="0"/>
                  </a:cubicBezTo>
                  <a:close/>
                </a:path>
              </a:pathLst>
            </a:custGeom>
            <a:solidFill>
              <a:srgbClr val="022F76">
                <a:alpha val="5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GB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2" name="TextBox 11"/>
            <p:cNvSpPr/>
            <p:nvPr/>
          </p:nvSpPr>
          <p:spPr>
            <a:xfrm>
              <a:off x="7968600" y="6312240"/>
              <a:ext cx="8943120" cy="2200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50760" tIns="50760" rIns="50760" bIns="50760" anchor="ctr">
              <a:noAutofit/>
            </a:bodyPr>
            <a:lstStyle/>
            <a:p>
              <a:pPr algn="ctr" defTabSz="914400">
                <a:lnSpc>
                  <a:spcPts val="2378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223" name="TextBox 12"/>
          <p:cNvSpPr/>
          <p:nvPr/>
        </p:nvSpPr>
        <p:spPr>
          <a:xfrm>
            <a:off x="9131040" y="2615040"/>
            <a:ext cx="7470360" cy="797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2095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Montserrat"/>
                <a:ea typeface="Montserrat"/>
              </a:rPr>
              <a:t>Affichage des livres avec miniatures de couverture ou placeholder SVG généré automatiquement. Navigation fluide et responsive avec Tailwind CSS.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Box 13"/>
          <p:cNvSpPr/>
          <p:nvPr/>
        </p:nvSpPr>
        <p:spPr>
          <a:xfrm>
            <a:off x="9131040" y="4941720"/>
            <a:ext cx="7470360" cy="797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2095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Montserrat"/>
                <a:ea typeface="Montserrat"/>
              </a:rPr>
              <a:t>Vue complète : image pleine taille, auteur, année de publication, statut de disponibilité en temps réel. Boutons d'action contextuels selon le rôle utilisateur.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Box 14"/>
          <p:cNvSpPr/>
          <p:nvPr/>
        </p:nvSpPr>
        <p:spPr>
          <a:xfrm>
            <a:off x="9131040" y="7266960"/>
            <a:ext cx="7470360" cy="797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2095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Montserrat"/>
                <a:ea typeface="Montserrat"/>
              </a:rPr>
              <a:t>Formulaire ajout/modification avec upload d'image sécurisé. Suppression avec nettoyage automatique des fichiers. Recherche et filtre par disponibilité intégrés.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Box 15"/>
          <p:cNvSpPr/>
          <p:nvPr/>
        </p:nvSpPr>
        <p:spPr>
          <a:xfrm>
            <a:off x="1457640" y="5760000"/>
            <a:ext cx="5473440" cy="981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2577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Montserrat"/>
                <a:ea typeface="Montserrat"/>
              </a:rPr>
              <a:t>Gestion complète du catalogue de livres avec interface intuitive, recherche avancée et filtrage par disponibilité.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Box 16"/>
          <p:cNvSpPr/>
          <p:nvPr/>
        </p:nvSpPr>
        <p:spPr>
          <a:xfrm>
            <a:off x="9131040" y="2014200"/>
            <a:ext cx="4908960" cy="410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3231"/>
              </a:lnSpc>
              <a:tabLst>
                <a:tab pos="0" algn="l"/>
              </a:tabLst>
            </a:pPr>
            <a:r>
              <a:rPr lang="en-US" sz="2600" b="1" u="none" strike="noStrike" spc="28">
                <a:solidFill>
                  <a:srgbClr val="FFFFFF"/>
                </a:solidFill>
                <a:effectLst/>
                <a:uFillTx/>
                <a:latin typeface="Garet Bold"/>
                <a:ea typeface="Garet Bold"/>
              </a:rPr>
              <a:t>Liste &amp; Miniatures</a:t>
            </a:r>
            <a:endParaRPr lang="en-GB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Box 17"/>
          <p:cNvSpPr/>
          <p:nvPr/>
        </p:nvSpPr>
        <p:spPr>
          <a:xfrm>
            <a:off x="9131040" y="4340880"/>
            <a:ext cx="4370760" cy="413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3231"/>
              </a:lnSpc>
              <a:tabLst>
                <a:tab pos="0" algn="l"/>
              </a:tabLst>
            </a:pPr>
            <a:r>
              <a:rPr lang="en-US" sz="2600" b="1" u="none" strike="noStrike" spc="28">
                <a:solidFill>
                  <a:srgbClr val="FFFFFF"/>
                </a:solidFill>
                <a:effectLst/>
                <a:uFillTx/>
                <a:latin typeface="Garet Bold"/>
                <a:ea typeface="Garet Bold"/>
              </a:rPr>
              <a:t>Page Détail</a:t>
            </a:r>
            <a:endParaRPr lang="en-GB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Box 18"/>
          <p:cNvSpPr/>
          <p:nvPr/>
        </p:nvSpPr>
        <p:spPr>
          <a:xfrm>
            <a:off x="9131040" y="6666120"/>
            <a:ext cx="4908960" cy="410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3231"/>
              </a:lnSpc>
              <a:tabLst>
                <a:tab pos="0" algn="l"/>
              </a:tabLst>
            </a:pPr>
            <a:r>
              <a:rPr lang="en-US" sz="2600" b="1" u="none" strike="noStrike" spc="28">
                <a:solidFill>
                  <a:srgbClr val="FFFFFF"/>
                </a:solidFill>
                <a:effectLst/>
                <a:uFillTx/>
                <a:latin typeface="Garet Bold"/>
                <a:ea typeface="Garet Bold"/>
              </a:rPr>
              <a:t>Gestion &amp; Upload</a:t>
            </a:r>
            <a:endParaRPr lang="en-GB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Box 19"/>
          <p:cNvSpPr/>
          <p:nvPr/>
        </p:nvSpPr>
        <p:spPr>
          <a:xfrm>
            <a:off x="8078760" y="2028600"/>
            <a:ext cx="848880" cy="553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4448"/>
              </a:lnSpc>
              <a:tabLst>
                <a:tab pos="0" algn="l"/>
              </a:tabLst>
            </a:pPr>
            <a:r>
              <a:rPr lang="en-US" sz="3570" b="1" u="none" strike="noStrike" spc="40">
                <a:solidFill>
                  <a:srgbClr val="FFFFFF"/>
                </a:solidFill>
                <a:effectLst/>
                <a:uFillTx/>
                <a:latin typeface="Garet Bold"/>
                <a:ea typeface="Garet Bold"/>
              </a:rPr>
              <a:t>01</a:t>
            </a:r>
            <a:endParaRPr lang="en-GB" sz="3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Box 20"/>
          <p:cNvSpPr/>
          <p:nvPr/>
        </p:nvSpPr>
        <p:spPr>
          <a:xfrm>
            <a:off x="8078760" y="4355280"/>
            <a:ext cx="848880" cy="553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4448"/>
              </a:lnSpc>
              <a:tabLst>
                <a:tab pos="0" algn="l"/>
              </a:tabLst>
            </a:pPr>
            <a:r>
              <a:rPr lang="en-US" sz="3570" b="1" u="none" strike="noStrike" spc="40">
                <a:solidFill>
                  <a:srgbClr val="FFFFFF"/>
                </a:solidFill>
                <a:effectLst/>
                <a:uFillTx/>
                <a:latin typeface="Garet Bold"/>
                <a:ea typeface="Garet Bold"/>
              </a:rPr>
              <a:t>02</a:t>
            </a:r>
            <a:endParaRPr lang="en-GB" sz="3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Box 21"/>
          <p:cNvSpPr/>
          <p:nvPr/>
        </p:nvSpPr>
        <p:spPr>
          <a:xfrm>
            <a:off x="8078760" y="6680520"/>
            <a:ext cx="848880" cy="553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4448"/>
              </a:lnSpc>
              <a:tabLst>
                <a:tab pos="0" algn="l"/>
              </a:tabLst>
            </a:pPr>
            <a:r>
              <a:rPr lang="en-US" sz="3570" b="1" u="none" strike="noStrike" spc="40">
                <a:solidFill>
                  <a:srgbClr val="FFFFFF"/>
                </a:solidFill>
                <a:effectLst/>
                <a:uFillTx/>
                <a:latin typeface="Garet Bold"/>
                <a:ea typeface="Garet Bold"/>
              </a:rPr>
              <a:t>03</a:t>
            </a:r>
            <a:endParaRPr lang="en-GB" sz="35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Box 22"/>
          <p:cNvSpPr/>
          <p:nvPr/>
        </p:nvSpPr>
        <p:spPr>
          <a:xfrm>
            <a:off x="1457640" y="3048480"/>
            <a:ext cx="6510600" cy="1670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6644"/>
              </a:lnSpc>
              <a:tabLst>
                <a:tab pos="0" algn="l"/>
              </a:tabLst>
            </a:pPr>
            <a:r>
              <a:rPr lang="en-US" sz="5310" b="1" u="none" strike="noStrike" spc="57">
                <a:solidFill>
                  <a:srgbClr val="FFFFFF"/>
                </a:solidFill>
                <a:effectLst/>
                <a:uFillTx/>
                <a:latin typeface="Garet Bold"/>
                <a:ea typeface="Garet Bold"/>
              </a:rPr>
              <a:t>Fonctionnalité : Catalogue &amp; livres</a:t>
            </a:r>
            <a:endParaRPr lang="en-GB" sz="53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Freeform 2"/>
          <p:cNvSpPr/>
          <p:nvPr/>
        </p:nvSpPr>
        <p:spPr>
          <a:xfrm>
            <a:off x="0" y="0"/>
            <a:ext cx="18287640" cy="10286640"/>
          </a:xfrm>
          <a:custGeom>
            <a:avLst/>
            <a:gdLst>
              <a:gd name="textAreaLeft" fmla="*/ 0 w 18287640"/>
              <a:gd name="textAreaRight" fmla="*/ 18288000 w 18287640"/>
              <a:gd name="textAreaTop" fmla="*/ 0 h 10286640"/>
              <a:gd name="textAreaBottom" fmla="*/ 10287000 h 10286640"/>
            </a:gdLst>
            <a:ahLst/>
            <a:cxnLst/>
            <a:rect l="textAreaLeft" t="textAreaTop" r="textAreaRight" b="textAreaBottom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35" name="Group 3"/>
          <p:cNvGrpSpPr/>
          <p:nvPr/>
        </p:nvGrpSpPr>
        <p:grpSpPr>
          <a:xfrm>
            <a:off x="7968600" y="1660320"/>
            <a:ext cx="8943120" cy="2200320"/>
            <a:chOff x="7968600" y="1660320"/>
            <a:chExt cx="8943120" cy="2200320"/>
          </a:xfrm>
        </p:grpSpPr>
        <p:sp>
          <p:nvSpPr>
            <p:cNvPr id="236" name="Freeform 4"/>
            <p:cNvSpPr/>
            <p:nvPr/>
          </p:nvSpPr>
          <p:spPr>
            <a:xfrm>
              <a:off x="7968600" y="1774080"/>
              <a:ext cx="8943120" cy="2086560"/>
            </a:xfrm>
            <a:custGeom>
              <a:avLst/>
              <a:gdLst>
                <a:gd name="textAreaLeft" fmla="*/ 0 w 8943120"/>
                <a:gd name="textAreaRight" fmla="*/ 8943480 w 8943120"/>
                <a:gd name="textAreaTop" fmla="*/ 0 h 2086560"/>
                <a:gd name="textAreaBottom" fmla="*/ 2086920 h 2086560"/>
              </a:gdLst>
              <a:ahLst/>
              <a:cxnLst/>
              <a:rect l="textAreaLeft" t="textAreaTop" r="textAreaRight" b="textAreaBottom"/>
              <a:pathLst>
                <a:path w="2249203" h="524870">
                  <a:moveTo>
                    <a:pt x="14716" y="0"/>
                  </a:moveTo>
                  <a:lnTo>
                    <a:pt x="2234487" y="0"/>
                  </a:lnTo>
                  <a:cubicBezTo>
                    <a:pt x="2238390" y="0"/>
                    <a:pt x="2242133" y="1550"/>
                    <a:pt x="2244893" y="4310"/>
                  </a:cubicBezTo>
                  <a:cubicBezTo>
                    <a:pt x="2247653" y="7070"/>
                    <a:pt x="2249203" y="10813"/>
                    <a:pt x="2249203" y="14716"/>
                  </a:cubicBezTo>
                  <a:lnTo>
                    <a:pt x="2249203" y="510154"/>
                  </a:lnTo>
                  <a:cubicBezTo>
                    <a:pt x="2249203" y="514057"/>
                    <a:pt x="2247653" y="517800"/>
                    <a:pt x="2244893" y="520560"/>
                  </a:cubicBezTo>
                  <a:cubicBezTo>
                    <a:pt x="2242133" y="523320"/>
                    <a:pt x="2238390" y="524870"/>
                    <a:pt x="2234487" y="524870"/>
                  </a:cubicBezTo>
                  <a:lnTo>
                    <a:pt x="14716" y="524870"/>
                  </a:lnTo>
                  <a:cubicBezTo>
                    <a:pt x="10813" y="524870"/>
                    <a:pt x="7070" y="523320"/>
                    <a:pt x="4310" y="520560"/>
                  </a:cubicBezTo>
                  <a:cubicBezTo>
                    <a:pt x="1550" y="517800"/>
                    <a:pt x="0" y="514057"/>
                    <a:pt x="0" y="510154"/>
                  </a:cubicBezTo>
                  <a:lnTo>
                    <a:pt x="0" y="14716"/>
                  </a:lnTo>
                  <a:cubicBezTo>
                    <a:pt x="0" y="10813"/>
                    <a:pt x="1550" y="7070"/>
                    <a:pt x="4310" y="4310"/>
                  </a:cubicBezTo>
                  <a:cubicBezTo>
                    <a:pt x="7070" y="1550"/>
                    <a:pt x="10813" y="0"/>
                    <a:pt x="14716" y="0"/>
                  </a:cubicBezTo>
                  <a:close/>
                </a:path>
              </a:pathLst>
            </a:custGeom>
            <a:solidFill>
              <a:srgbClr val="022F76">
                <a:alpha val="5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GB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7" name="TextBox 5"/>
            <p:cNvSpPr/>
            <p:nvPr/>
          </p:nvSpPr>
          <p:spPr>
            <a:xfrm>
              <a:off x="7968600" y="1660320"/>
              <a:ext cx="8943120" cy="2200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50760" tIns="50760" rIns="50760" bIns="50760" anchor="ctr">
              <a:noAutofit/>
            </a:bodyPr>
            <a:lstStyle/>
            <a:p>
              <a:pPr algn="ctr" defTabSz="914400">
                <a:lnSpc>
                  <a:spcPts val="2378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grpSp>
        <p:nvGrpSpPr>
          <p:cNvPr id="238" name="Group 6"/>
          <p:cNvGrpSpPr/>
          <p:nvPr/>
        </p:nvGrpSpPr>
        <p:grpSpPr>
          <a:xfrm>
            <a:off x="7968600" y="3987000"/>
            <a:ext cx="8943120" cy="2200320"/>
            <a:chOff x="7968600" y="3987000"/>
            <a:chExt cx="8943120" cy="2200320"/>
          </a:xfrm>
        </p:grpSpPr>
        <p:sp>
          <p:nvSpPr>
            <p:cNvPr id="239" name="Freeform 7"/>
            <p:cNvSpPr/>
            <p:nvPr/>
          </p:nvSpPr>
          <p:spPr>
            <a:xfrm>
              <a:off x="7968600" y="4100760"/>
              <a:ext cx="8943120" cy="2086560"/>
            </a:xfrm>
            <a:custGeom>
              <a:avLst/>
              <a:gdLst>
                <a:gd name="textAreaLeft" fmla="*/ 0 w 8943120"/>
                <a:gd name="textAreaRight" fmla="*/ 8943480 w 8943120"/>
                <a:gd name="textAreaTop" fmla="*/ 0 h 2086560"/>
                <a:gd name="textAreaBottom" fmla="*/ 2086920 h 2086560"/>
              </a:gdLst>
              <a:ahLst/>
              <a:cxnLst/>
              <a:rect l="textAreaLeft" t="textAreaTop" r="textAreaRight" b="textAreaBottom"/>
              <a:pathLst>
                <a:path w="2249203" h="524870">
                  <a:moveTo>
                    <a:pt x="14716" y="0"/>
                  </a:moveTo>
                  <a:lnTo>
                    <a:pt x="2234487" y="0"/>
                  </a:lnTo>
                  <a:cubicBezTo>
                    <a:pt x="2238390" y="0"/>
                    <a:pt x="2242133" y="1550"/>
                    <a:pt x="2244893" y="4310"/>
                  </a:cubicBezTo>
                  <a:cubicBezTo>
                    <a:pt x="2247653" y="7070"/>
                    <a:pt x="2249203" y="10813"/>
                    <a:pt x="2249203" y="14716"/>
                  </a:cubicBezTo>
                  <a:lnTo>
                    <a:pt x="2249203" y="510154"/>
                  </a:lnTo>
                  <a:cubicBezTo>
                    <a:pt x="2249203" y="514057"/>
                    <a:pt x="2247653" y="517800"/>
                    <a:pt x="2244893" y="520560"/>
                  </a:cubicBezTo>
                  <a:cubicBezTo>
                    <a:pt x="2242133" y="523320"/>
                    <a:pt x="2238390" y="524870"/>
                    <a:pt x="2234487" y="524870"/>
                  </a:cubicBezTo>
                  <a:lnTo>
                    <a:pt x="14716" y="524870"/>
                  </a:lnTo>
                  <a:cubicBezTo>
                    <a:pt x="10813" y="524870"/>
                    <a:pt x="7070" y="523320"/>
                    <a:pt x="4310" y="520560"/>
                  </a:cubicBezTo>
                  <a:cubicBezTo>
                    <a:pt x="1550" y="517800"/>
                    <a:pt x="0" y="514057"/>
                    <a:pt x="0" y="510154"/>
                  </a:cubicBezTo>
                  <a:lnTo>
                    <a:pt x="0" y="14716"/>
                  </a:lnTo>
                  <a:cubicBezTo>
                    <a:pt x="0" y="10813"/>
                    <a:pt x="1550" y="7070"/>
                    <a:pt x="4310" y="4310"/>
                  </a:cubicBezTo>
                  <a:cubicBezTo>
                    <a:pt x="7070" y="1550"/>
                    <a:pt x="10813" y="0"/>
                    <a:pt x="14716" y="0"/>
                  </a:cubicBezTo>
                  <a:close/>
                </a:path>
              </a:pathLst>
            </a:custGeom>
            <a:solidFill>
              <a:srgbClr val="022F76">
                <a:alpha val="5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GB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0" name="TextBox 8"/>
            <p:cNvSpPr/>
            <p:nvPr/>
          </p:nvSpPr>
          <p:spPr>
            <a:xfrm>
              <a:off x="7968600" y="3987000"/>
              <a:ext cx="8943120" cy="2200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50760" tIns="50760" rIns="50760" bIns="50760" anchor="ctr">
              <a:noAutofit/>
            </a:bodyPr>
            <a:lstStyle/>
            <a:p>
              <a:pPr algn="ctr" defTabSz="914400">
                <a:lnSpc>
                  <a:spcPts val="2378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grpSp>
        <p:nvGrpSpPr>
          <p:cNvPr id="241" name="Group 9"/>
          <p:cNvGrpSpPr/>
          <p:nvPr/>
        </p:nvGrpSpPr>
        <p:grpSpPr>
          <a:xfrm>
            <a:off x="7968600" y="6312240"/>
            <a:ext cx="8943120" cy="2200320"/>
            <a:chOff x="7968600" y="6312240"/>
            <a:chExt cx="8943120" cy="2200320"/>
          </a:xfrm>
        </p:grpSpPr>
        <p:sp>
          <p:nvSpPr>
            <p:cNvPr id="242" name="Freeform 10"/>
            <p:cNvSpPr/>
            <p:nvPr/>
          </p:nvSpPr>
          <p:spPr>
            <a:xfrm>
              <a:off x="7968600" y="6426000"/>
              <a:ext cx="8943120" cy="2086560"/>
            </a:xfrm>
            <a:custGeom>
              <a:avLst/>
              <a:gdLst>
                <a:gd name="textAreaLeft" fmla="*/ 0 w 8943120"/>
                <a:gd name="textAreaRight" fmla="*/ 8943480 w 8943120"/>
                <a:gd name="textAreaTop" fmla="*/ 0 h 2086560"/>
                <a:gd name="textAreaBottom" fmla="*/ 2086920 h 2086560"/>
              </a:gdLst>
              <a:ahLst/>
              <a:cxnLst/>
              <a:rect l="textAreaLeft" t="textAreaTop" r="textAreaRight" b="textAreaBottom"/>
              <a:pathLst>
                <a:path w="2249203" h="524870">
                  <a:moveTo>
                    <a:pt x="14716" y="0"/>
                  </a:moveTo>
                  <a:lnTo>
                    <a:pt x="2234487" y="0"/>
                  </a:lnTo>
                  <a:cubicBezTo>
                    <a:pt x="2238390" y="0"/>
                    <a:pt x="2242133" y="1550"/>
                    <a:pt x="2244893" y="4310"/>
                  </a:cubicBezTo>
                  <a:cubicBezTo>
                    <a:pt x="2247653" y="7070"/>
                    <a:pt x="2249203" y="10813"/>
                    <a:pt x="2249203" y="14716"/>
                  </a:cubicBezTo>
                  <a:lnTo>
                    <a:pt x="2249203" y="510154"/>
                  </a:lnTo>
                  <a:cubicBezTo>
                    <a:pt x="2249203" y="514057"/>
                    <a:pt x="2247653" y="517800"/>
                    <a:pt x="2244893" y="520560"/>
                  </a:cubicBezTo>
                  <a:cubicBezTo>
                    <a:pt x="2242133" y="523320"/>
                    <a:pt x="2238390" y="524870"/>
                    <a:pt x="2234487" y="524870"/>
                  </a:cubicBezTo>
                  <a:lnTo>
                    <a:pt x="14716" y="524870"/>
                  </a:lnTo>
                  <a:cubicBezTo>
                    <a:pt x="10813" y="524870"/>
                    <a:pt x="7070" y="523320"/>
                    <a:pt x="4310" y="520560"/>
                  </a:cubicBezTo>
                  <a:cubicBezTo>
                    <a:pt x="1550" y="517800"/>
                    <a:pt x="0" y="514057"/>
                    <a:pt x="0" y="510154"/>
                  </a:cubicBezTo>
                  <a:lnTo>
                    <a:pt x="0" y="14716"/>
                  </a:lnTo>
                  <a:cubicBezTo>
                    <a:pt x="0" y="10813"/>
                    <a:pt x="1550" y="7070"/>
                    <a:pt x="4310" y="4310"/>
                  </a:cubicBezTo>
                  <a:cubicBezTo>
                    <a:pt x="7070" y="1550"/>
                    <a:pt x="10813" y="0"/>
                    <a:pt x="14716" y="0"/>
                  </a:cubicBezTo>
                  <a:close/>
                </a:path>
              </a:pathLst>
            </a:custGeom>
            <a:solidFill>
              <a:srgbClr val="022F76">
                <a:alpha val="5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GB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3" name="TextBox 11"/>
            <p:cNvSpPr/>
            <p:nvPr/>
          </p:nvSpPr>
          <p:spPr>
            <a:xfrm>
              <a:off x="7968600" y="6312240"/>
              <a:ext cx="8943120" cy="2200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50760" tIns="50760" rIns="50760" bIns="50760" anchor="ctr">
              <a:noAutofit/>
            </a:bodyPr>
            <a:lstStyle/>
            <a:p>
              <a:pPr algn="ctr" defTabSz="914400">
                <a:lnSpc>
                  <a:spcPts val="2378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244" name="TextBox 12"/>
          <p:cNvSpPr/>
          <p:nvPr/>
        </p:nvSpPr>
        <p:spPr>
          <a:xfrm>
            <a:off x="9131040" y="2615040"/>
            <a:ext cx="7470360" cy="797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2095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Montserrat"/>
                <a:ea typeface="Montserrat"/>
              </a:rPr>
              <a:t>Inscription avec validation complète des champs (email, mot de passe). Connexion sécurisée via Flask-Login avec sessions persistantes. Déconnexion propre avec invalidation de session.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Box 13"/>
          <p:cNvSpPr/>
          <p:nvPr/>
        </p:nvSpPr>
        <p:spPr>
          <a:xfrm>
            <a:off x="9131040" y="4941720"/>
            <a:ext cx="7470360" cy="797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2095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Montserrat"/>
                <a:ea typeface="Montserrat"/>
              </a:rPr>
              <a:t>Mots de passe hachés avec bcrypt — jamais stockés en clair. Sel automatique par hash pour chaque utilisateur. Comparaison sécurisée empêchant les attaques par timing.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Box 14"/>
          <p:cNvSpPr/>
          <p:nvPr/>
        </p:nvSpPr>
        <p:spPr>
          <a:xfrm>
            <a:off x="9131040" y="7266960"/>
            <a:ext cx="7470360" cy="797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2095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Montserrat"/>
                <a:ea typeface="Montserrat"/>
              </a:rPr>
              <a:t>Modale de bienvenue au premier lancement (setup_needed). Accès conditionnel selon rôle : user standard ou admin. Vérification des permissions à chaque requête protégée.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Box 15"/>
          <p:cNvSpPr/>
          <p:nvPr/>
        </p:nvSpPr>
        <p:spPr>
          <a:xfrm>
            <a:off x="1457640" y="5309280"/>
            <a:ext cx="5473440" cy="94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2577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Montserrat"/>
                <a:ea typeface="Montserrat"/>
              </a:rPr>
              <a:t>Système d'authentification sécurisé intégré avec Flask-Login, garantissant la protection des données utilisateurs et le contrôle d'accès selon les rôles.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Box 16"/>
          <p:cNvSpPr/>
          <p:nvPr/>
        </p:nvSpPr>
        <p:spPr>
          <a:xfrm>
            <a:off x="9131040" y="2023920"/>
            <a:ext cx="5808960" cy="308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2435"/>
              </a:lnSpc>
              <a:tabLst>
                <a:tab pos="0" algn="l"/>
              </a:tabLst>
            </a:pPr>
            <a:r>
              <a:rPr lang="en-US" sz="1960" b="1" u="none" strike="noStrike" spc="20">
                <a:solidFill>
                  <a:srgbClr val="FFFFFF"/>
                </a:solidFill>
                <a:effectLst/>
                <a:uFillTx/>
                <a:latin typeface="Garet Bold"/>
                <a:ea typeface="Garet Bold"/>
              </a:rPr>
              <a:t>Inscription &amp; Connexion</a:t>
            </a:r>
            <a:endParaRPr lang="en-GB" sz="1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Box 17"/>
          <p:cNvSpPr/>
          <p:nvPr/>
        </p:nvSpPr>
        <p:spPr>
          <a:xfrm>
            <a:off x="9131040" y="4350600"/>
            <a:ext cx="437076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2435"/>
              </a:lnSpc>
              <a:tabLst>
                <a:tab pos="0" algn="l"/>
              </a:tabLst>
            </a:pPr>
            <a:r>
              <a:rPr lang="en-US" sz="1960" b="1" u="none" strike="noStrike" spc="20">
                <a:solidFill>
                  <a:srgbClr val="FFFFFF"/>
                </a:solidFill>
                <a:effectLst/>
                <a:uFillTx/>
                <a:latin typeface="Garet Bold"/>
                <a:ea typeface="Garet Bold"/>
              </a:rPr>
              <a:t>Sécurité des mots de passe</a:t>
            </a:r>
            <a:endParaRPr lang="en-GB" sz="1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Box 18"/>
          <p:cNvSpPr/>
          <p:nvPr/>
        </p:nvSpPr>
        <p:spPr>
          <a:xfrm>
            <a:off x="9131040" y="6675840"/>
            <a:ext cx="319356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2435"/>
              </a:lnSpc>
              <a:tabLst>
                <a:tab pos="0" algn="l"/>
              </a:tabLst>
            </a:pPr>
            <a:r>
              <a:rPr lang="en-US" sz="1960" b="1" u="none" strike="noStrike" spc="20">
                <a:solidFill>
                  <a:srgbClr val="FFFFFF"/>
                </a:solidFill>
                <a:effectLst/>
                <a:uFillTx/>
                <a:latin typeface="Garet Bold"/>
                <a:ea typeface="Garet Bold"/>
              </a:rPr>
              <a:t>Contrôle d'accès</a:t>
            </a:r>
            <a:endParaRPr lang="en-GB" sz="1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Box 19"/>
          <p:cNvSpPr/>
          <p:nvPr/>
        </p:nvSpPr>
        <p:spPr>
          <a:xfrm>
            <a:off x="8078760" y="2028600"/>
            <a:ext cx="848880" cy="410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3353"/>
              </a:lnSpc>
              <a:tabLst>
                <a:tab pos="0" algn="l"/>
              </a:tabLst>
            </a:pPr>
            <a:r>
              <a:rPr lang="en-US" sz="2700" b="1" u="none" strike="noStrike" spc="28">
                <a:solidFill>
                  <a:srgbClr val="FFFFFF"/>
                </a:solidFill>
                <a:effectLst/>
                <a:uFillTx/>
                <a:latin typeface="Garet Bold"/>
                <a:ea typeface="Garet Bold"/>
              </a:rPr>
              <a:t>01</a:t>
            </a:r>
            <a:endParaRPr lang="en-GB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Box 20"/>
          <p:cNvSpPr/>
          <p:nvPr/>
        </p:nvSpPr>
        <p:spPr>
          <a:xfrm>
            <a:off x="8078760" y="4355280"/>
            <a:ext cx="848880" cy="410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3353"/>
              </a:lnSpc>
              <a:tabLst>
                <a:tab pos="0" algn="l"/>
              </a:tabLst>
            </a:pPr>
            <a:r>
              <a:rPr lang="en-US" sz="2700" b="1" u="none" strike="noStrike" spc="28">
                <a:solidFill>
                  <a:srgbClr val="FFFFFF"/>
                </a:solidFill>
                <a:effectLst/>
                <a:uFillTx/>
                <a:latin typeface="Garet Bold"/>
                <a:ea typeface="Garet Bold"/>
              </a:rPr>
              <a:t>02</a:t>
            </a:r>
            <a:endParaRPr lang="en-GB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Box 21"/>
          <p:cNvSpPr/>
          <p:nvPr/>
        </p:nvSpPr>
        <p:spPr>
          <a:xfrm>
            <a:off x="8078760" y="6680520"/>
            <a:ext cx="848880" cy="410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3353"/>
              </a:lnSpc>
              <a:tabLst>
                <a:tab pos="0" algn="l"/>
              </a:tabLst>
            </a:pPr>
            <a:r>
              <a:rPr lang="en-US" sz="2700" b="1" u="none" strike="noStrike" spc="28">
                <a:solidFill>
                  <a:srgbClr val="FFFFFF"/>
                </a:solidFill>
                <a:effectLst/>
                <a:uFillTx/>
                <a:latin typeface="Garet Bold"/>
                <a:ea typeface="Garet Bold"/>
              </a:rPr>
              <a:t>03</a:t>
            </a:r>
            <a:endParaRPr lang="en-GB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Box 22"/>
          <p:cNvSpPr/>
          <p:nvPr/>
        </p:nvSpPr>
        <p:spPr>
          <a:xfrm>
            <a:off x="737640" y="3025800"/>
            <a:ext cx="7002360" cy="1834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7223"/>
              </a:lnSpc>
              <a:tabLst>
                <a:tab pos="0" algn="l"/>
              </a:tabLst>
            </a:pPr>
            <a:r>
              <a:rPr lang="en-US" sz="5770" b="1" u="none" strike="noStrike" spc="62">
                <a:solidFill>
                  <a:srgbClr val="FFFFFF"/>
                </a:solidFill>
                <a:effectLst/>
                <a:uFillTx/>
                <a:latin typeface="Garet Bold"/>
                <a:ea typeface="Garet Bold"/>
              </a:rPr>
              <a:t>Fonctionnalité : Authentification</a:t>
            </a:r>
            <a:endParaRPr lang="en-GB" sz="57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Freeform 2"/>
          <p:cNvSpPr/>
          <p:nvPr/>
        </p:nvSpPr>
        <p:spPr>
          <a:xfrm>
            <a:off x="0" y="0"/>
            <a:ext cx="18287640" cy="10286640"/>
          </a:xfrm>
          <a:custGeom>
            <a:avLst/>
            <a:gdLst>
              <a:gd name="textAreaLeft" fmla="*/ 0 w 18287640"/>
              <a:gd name="textAreaRight" fmla="*/ 18288000 w 18287640"/>
              <a:gd name="textAreaTop" fmla="*/ 0 h 10286640"/>
              <a:gd name="textAreaBottom" fmla="*/ 10287000 h 10286640"/>
            </a:gdLst>
            <a:ahLst/>
            <a:cxnLst/>
            <a:rect l="textAreaLeft" t="textAreaTop" r="textAreaRight" b="textAreaBottom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56" name="Group 3"/>
          <p:cNvGrpSpPr/>
          <p:nvPr/>
        </p:nvGrpSpPr>
        <p:grpSpPr>
          <a:xfrm>
            <a:off x="1007640" y="3546000"/>
            <a:ext cx="3813840" cy="4137840"/>
            <a:chOff x="1007640" y="3546000"/>
            <a:chExt cx="3813840" cy="4137840"/>
          </a:xfrm>
        </p:grpSpPr>
        <p:sp>
          <p:nvSpPr>
            <p:cNvPr id="257" name="Freeform 4"/>
            <p:cNvSpPr/>
            <p:nvPr/>
          </p:nvSpPr>
          <p:spPr>
            <a:xfrm>
              <a:off x="1007640" y="3657240"/>
              <a:ext cx="3813840" cy="4026600"/>
            </a:xfrm>
            <a:custGeom>
              <a:avLst/>
              <a:gdLst>
                <a:gd name="textAreaLeft" fmla="*/ 0 w 3813840"/>
                <a:gd name="textAreaRight" fmla="*/ 3814200 w 3813840"/>
                <a:gd name="textAreaTop" fmla="*/ 0 h 4026600"/>
                <a:gd name="textAreaBottom" fmla="*/ 4026960 h 4026600"/>
              </a:gdLst>
              <a:ahLst/>
              <a:cxnLst/>
              <a:rect l="textAreaLeft" t="textAreaTop" r="textAreaRight" b="textAreaBottom"/>
              <a:pathLst>
                <a:path w="980199" h="1034814">
                  <a:moveTo>
                    <a:pt x="34505" y="0"/>
                  </a:moveTo>
                  <a:lnTo>
                    <a:pt x="945694" y="0"/>
                  </a:lnTo>
                  <a:cubicBezTo>
                    <a:pt x="964751" y="0"/>
                    <a:pt x="980199" y="15448"/>
                    <a:pt x="980199" y="34505"/>
                  </a:cubicBezTo>
                  <a:lnTo>
                    <a:pt x="980199" y="1000309"/>
                  </a:lnTo>
                  <a:cubicBezTo>
                    <a:pt x="980199" y="1009460"/>
                    <a:pt x="976564" y="1018237"/>
                    <a:pt x="970093" y="1024708"/>
                  </a:cubicBezTo>
                  <a:cubicBezTo>
                    <a:pt x="963622" y="1031179"/>
                    <a:pt x="954846" y="1034814"/>
                    <a:pt x="945694" y="1034814"/>
                  </a:cubicBezTo>
                  <a:lnTo>
                    <a:pt x="34505" y="1034814"/>
                  </a:lnTo>
                  <a:cubicBezTo>
                    <a:pt x="15448" y="1034814"/>
                    <a:pt x="0" y="1019365"/>
                    <a:pt x="0" y="1000309"/>
                  </a:cubicBezTo>
                  <a:lnTo>
                    <a:pt x="0" y="34505"/>
                  </a:lnTo>
                  <a:cubicBezTo>
                    <a:pt x="0" y="15448"/>
                    <a:pt x="15448" y="0"/>
                    <a:pt x="34505" y="0"/>
                  </a:cubicBezTo>
                  <a:close/>
                </a:path>
              </a:pathLst>
            </a:custGeom>
            <a:solidFill>
              <a:srgbClr val="022F76">
                <a:alpha val="5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GB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8" name="TextBox 5"/>
            <p:cNvSpPr/>
            <p:nvPr/>
          </p:nvSpPr>
          <p:spPr>
            <a:xfrm>
              <a:off x="1007640" y="3546000"/>
              <a:ext cx="3813840" cy="4137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50760" tIns="50760" rIns="50760" bIns="50760" anchor="ctr">
              <a:noAutofit/>
            </a:bodyPr>
            <a:lstStyle/>
            <a:p>
              <a:pPr algn="ctr" defTabSz="914400">
                <a:lnSpc>
                  <a:spcPts val="2378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259" name="TextBox 6"/>
          <p:cNvSpPr/>
          <p:nvPr/>
        </p:nvSpPr>
        <p:spPr>
          <a:xfrm>
            <a:off x="1459440" y="5428080"/>
            <a:ext cx="2910240" cy="1705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Montserrat"/>
                <a:ea typeface="Montserrat"/>
              </a:rPr>
              <a:t>Accessible uniquement aux utilisateurs avec is_admin = True en base de données. Vérification du rôle côté serveur à chaque requête pour garantir la sécurité des routes sensibles.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Box 7"/>
          <p:cNvSpPr/>
          <p:nvPr/>
        </p:nvSpPr>
        <p:spPr>
          <a:xfrm>
            <a:off x="1258560" y="4811040"/>
            <a:ext cx="3312720" cy="27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2149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Garet Bold"/>
                <a:ea typeface="Garet Bold"/>
              </a:rPr>
              <a:t>Accès Restreint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Box 8"/>
          <p:cNvSpPr/>
          <p:nvPr/>
        </p:nvSpPr>
        <p:spPr>
          <a:xfrm>
            <a:off x="2394000" y="3934800"/>
            <a:ext cx="1041480" cy="489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3977"/>
              </a:lnSpc>
              <a:tabLst>
                <a:tab pos="0" algn="l"/>
              </a:tabLst>
            </a:pPr>
            <a:r>
              <a:rPr lang="en-US" sz="2840" b="1" u="none" strike="noStrike">
                <a:solidFill>
                  <a:srgbClr val="FFFFFF"/>
                </a:solidFill>
                <a:effectLst/>
                <a:uFillTx/>
                <a:latin typeface="Garet Bold"/>
                <a:ea typeface="Garet Bold"/>
              </a:rPr>
              <a:t>01</a:t>
            </a:r>
            <a:endParaRPr lang="en-GB" sz="28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62" name="Group 9"/>
          <p:cNvGrpSpPr/>
          <p:nvPr/>
        </p:nvGrpSpPr>
        <p:grpSpPr>
          <a:xfrm>
            <a:off x="13465800" y="3546000"/>
            <a:ext cx="3813840" cy="4137840"/>
            <a:chOff x="13465800" y="3546000"/>
            <a:chExt cx="3813840" cy="4137840"/>
          </a:xfrm>
        </p:grpSpPr>
        <p:sp>
          <p:nvSpPr>
            <p:cNvPr id="263" name="Freeform 10"/>
            <p:cNvSpPr/>
            <p:nvPr/>
          </p:nvSpPr>
          <p:spPr>
            <a:xfrm>
              <a:off x="13465800" y="3657240"/>
              <a:ext cx="3813840" cy="4026600"/>
            </a:xfrm>
            <a:custGeom>
              <a:avLst/>
              <a:gdLst>
                <a:gd name="textAreaLeft" fmla="*/ 0 w 3813840"/>
                <a:gd name="textAreaRight" fmla="*/ 3814200 w 3813840"/>
                <a:gd name="textAreaTop" fmla="*/ 0 h 4026600"/>
                <a:gd name="textAreaBottom" fmla="*/ 4026960 h 4026600"/>
              </a:gdLst>
              <a:ahLst/>
              <a:cxnLst/>
              <a:rect l="textAreaLeft" t="textAreaTop" r="textAreaRight" b="textAreaBottom"/>
              <a:pathLst>
                <a:path w="980199" h="1034814">
                  <a:moveTo>
                    <a:pt x="34505" y="0"/>
                  </a:moveTo>
                  <a:lnTo>
                    <a:pt x="945694" y="0"/>
                  </a:lnTo>
                  <a:cubicBezTo>
                    <a:pt x="964751" y="0"/>
                    <a:pt x="980199" y="15448"/>
                    <a:pt x="980199" y="34505"/>
                  </a:cubicBezTo>
                  <a:lnTo>
                    <a:pt x="980199" y="1000309"/>
                  </a:lnTo>
                  <a:cubicBezTo>
                    <a:pt x="980199" y="1009460"/>
                    <a:pt x="976564" y="1018237"/>
                    <a:pt x="970093" y="1024708"/>
                  </a:cubicBezTo>
                  <a:cubicBezTo>
                    <a:pt x="963622" y="1031179"/>
                    <a:pt x="954846" y="1034814"/>
                    <a:pt x="945694" y="1034814"/>
                  </a:cubicBezTo>
                  <a:lnTo>
                    <a:pt x="34505" y="1034814"/>
                  </a:lnTo>
                  <a:cubicBezTo>
                    <a:pt x="15448" y="1034814"/>
                    <a:pt x="0" y="1019365"/>
                    <a:pt x="0" y="1000309"/>
                  </a:cubicBezTo>
                  <a:lnTo>
                    <a:pt x="0" y="34505"/>
                  </a:lnTo>
                  <a:cubicBezTo>
                    <a:pt x="0" y="15448"/>
                    <a:pt x="15448" y="0"/>
                    <a:pt x="34505" y="0"/>
                  </a:cubicBezTo>
                  <a:close/>
                </a:path>
              </a:pathLst>
            </a:custGeom>
            <a:solidFill>
              <a:srgbClr val="022F76">
                <a:alpha val="5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GB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4" name="TextBox 11"/>
            <p:cNvSpPr/>
            <p:nvPr/>
          </p:nvSpPr>
          <p:spPr>
            <a:xfrm>
              <a:off x="13465800" y="3546000"/>
              <a:ext cx="3813840" cy="4137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50760" tIns="50760" rIns="50760" bIns="50760" anchor="ctr">
              <a:noAutofit/>
            </a:bodyPr>
            <a:lstStyle/>
            <a:p>
              <a:pPr algn="ctr" defTabSz="914400">
                <a:lnSpc>
                  <a:spcPts val="2378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265" name="TextBox 12"/>
          <p:cNvSpPr/>
          <p:nvPr/>
        </p:nvSpPr>
        <p:spPr>
          <a:xfrm>
            <a:off x="13917960" y="5411880"/>
            <a:ext cx="2910240" cy="1705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Montserrat"/>
                <a:ea typeface="Montserrat"/>
              </a:rPr>
              <a:t>Liste des comptes avec promotion/rétrogradation admin en un clic. Suppression sécurisée des utilisateurs. Protection serveur : vérification rôle à chaque route admin.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Box 13"/>
          <p:cNvSpPr/>
          <p:nvPr/>
        </p:nvSpPr>
        <p:spPr>
          <a:xfrm>
            <a:off x="14040000" y="4794840"/>
            <a:ext cx="2880000" cy="27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2149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Garet Bold"/>
                <a:ea typeface="Garet Bold"/>
              </a:rPr>
              <a:t>Gestion Utilisateurs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Box 14"/>
          <p:cNvSpPr/>
          <p:nvPr/>
        </p:nvSpPr>
        <p:spPr>
          <a:xfrm>
            <a:off x="14852160" y="3974760"/>
            <a:ext cx="1041480" cy="489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3977"/>
              </a:lnSpc>
              <a:tabLst>
                <a:tab pos="0" algn="l"/>
              </a:tabLst>
            </a:pPr>
            <a:r>
              <a:rPr lang="en-US" sz="2840" b="1" u="none" strike="noStrike">
                <a:solidFill>
                  <a:srgbClr val="FFFFFF"/>
                </a:solidFill>
                <a:effectLst/>
                <a:uFillTx/>
                <a:latin typeface="Garet Bold"/>
                <a:ea typeface="Garet Bold"/>
              </a:rPr>
              <a:t>04</a:t>
            </a:r>
            <a:endParaRPr lang="en-GB" sz="28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68" name="Group 15"/>
          <p:cNvGrpSpPr/>
          <p:nvPr/>
        </p:nvGrpSpPr>
        <p:grpSpPr>
          <a:xfrm>
            <a:off x="9313200" y="3546000"/>
            <a:ext cx="3813840" cy="4137840"/>
            <a:chOff x="9313200" y="3546000"/>
            <a:chExt cx="3813840" cy="4137840"/>
          </a:xfrm>
        </p:grpSpPr>
        <p:sp>
          <p:nvSpPr>
            <p:cNvPr id="269" name="Freeform 16"/>
            <p:cNvSpPr/>
            <p:nvPr/>
          </p:nvSpPr>
          <p:spPr>
            <a:xfrm>
              <a:off x="9313200" y="3657240"/>
              <a:ext cx="3813840" cy="4026600"/>
            </a:xfrm>
            <a:custGeom>
              <a:avLst/>
              <a:gdLst>
                <a:gd name="textAreaLeft" fmla="*/ 0 w 3813840"/>
                <a:gd name="textAreaRight" fmla="*/ 3814200 w 3813840"/>
                <a:gd name="textAreaTop" fmla="*/ 0 h 4026600"/>
                <a:gd name="textAreaBottom" fmla="*/ 4026960 h 4026600"/>
              </a:gdLst>
              <a:ahLst/>
              <a:cxnLst/>
              <a:rect l="textAreaLeft" t="textAreaTop" r="textAreaRight" b="textAreaBottom"/>
              <a:pathLst>
                <a:path w="980199" h="1034814">
                  <a:moveTo>
                    <a:pt x="34505" y="0"/>
                  </a:moveTo>
                  <a:lnTo>
                    <a:pt x="945694" y="0"/>
                  </a:lnTo>
                  <a:cubicBezTo>
                    <a:pt x="964751" y="0"/>
                    <a:pt x="980199" y="15448"/>
                    <a:pt x="980199" y="34505"/>
                  </a:cubicBezTo>
                  <a:lnTo>
                    <a:pt x="980199" y="1000309"/>
                  </a:lnTo>
                  <a:cubicBezTo>
                    <a:pt x="980199" y="1009460"/>
                    <a:pt x="976564" y="1018237"/>
                    <a:pt x="970093" y="1024708"/>
                  </a:cubicBezTo>
                  <a:cubicBezTo>
                    <a:pt x="963622" y="1031179"/>
                    <a:pt x="954846" y="1034814"/>
                    <a:pt x="945694" y="1034814"/>
                  </a:cubicBezTo>
                  <a:lnTo>
                    <a:pt x="34505" y="1034814"/>
                  </a:lnTo>
                  <a:cubicBezTo>
                    <a:pt x="15448" y="1034814"/>
                    <a:pt x="0" y="1019365"/>
                    <a:pt x="0" y="1000309"/>
                  </a:cubicBezTo>
                  <a:lnTo>
                    <a:pt x="0" y="34505"/>
                  </a:lnTo>
                  <a:cubicBezTo>
                    <a:pt x="0" y="15448"/>
                    <a:pt x="15448" y="0"/>
                    <a:pt x="34505" y="0"/>
                  </a:cubicBezTo>
                  <a:close/>
                </a:path>
              </a:pathLst>
            </a:custGeom>
            <a:solidFill>
              <a:srgbClr val="022F76">
                <a:alpha val="5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GB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0" name="TextBox 17"/>
            <p:cNvSpPr/>
            <p:nvPr/>
          </p:nvSpPr>
          <p:spPr>
            <a:xfrm>
              <a:off x="9313200" y="3546000"/>
              <a:ext cx="3813840" cy="4137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50760" tIns="50760" rIns="50760" bIns="50760" anchor="ctr">
              <a:noAutofit/>
            </a:bodyPr>
            <a:lstStyle/>
            <a:p>
              <a:pPr algn="ctr" defTabSz="914400">
                <a:lnSpc>
                  <a:spcPts val="2378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271" name="TextBox 18"/>
          <p:cNvSpPr/>
          <p:nvPr/>
        </p:nvSpPr>
        <p:spPr>
          <a:xfrm>
            <a:off x="9765000" y="5428080"/>
            <a:ext cx="2910240" cy="1705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Montserrat"/>
                <a:ea typeface="Montserrat"/>
              </a:rPr>
              <a:t>Liste complète du catalogue avec actions rapides. Suppression directe avec nettoyage automatique des fichiers images associés. Modification des informations en un clic.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TextBox 19"/>
          <p:cNvSpPr/>
          <p:nvPr/>
        </p:nvSpPr>
        <p:spPr>
          <a:xfrm>
            <a:off x="10108800" y="4811040"/>
            <a:ext cx="2222640" cy="27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2149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Garet Bold"/>
                <a:ea typeface="Garet Bold"/>
              </a:rPr>
              <a:t>Gestion Livres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Box 20"/>
          <p:cNvSpPr/>
          <p:nvPr/>
        </p:nvSpPr>
        <p:spPr>
          <a:xfrm>
            <a:off x="10699560" y="3924000"/>
            <a:ext cx="1041480" cy="489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3977"/>
              </a:lnSpc>
              <a:tabLst>
                <a:tab pos="0" algn="l"/>
              </a:tabLst>
            </a:pPr>
            <a:r>
              <a:rPr lang="en-US" sz="2840" b="1" u="none" strike="noStrike">
                <a:solidFill>
                  <a:srgbClr val="FFFFFF"/>
                </a:solidFill>
                <a:effectLst/>
                <a:uFillTx/>
                <a:latin typeface="Garet Bold"/>
                <a:ea typeface="Garet Bold"/>
              </a:rPr>
              <a:t>03</a:t>
            </a:r>
            <a:endParaRPr lang="en-GB" sz="28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74" name="Group 21"/>
          <p:cNvGrpSpPr/>
          <p:nvPr/>
        </p:nvGrpSpPr>
        <p:grpSpPr>
          <a:xfrm>
            <a:off x="5160600" y="3546000"/>
            <a:ext cx="3813840" cy="4137840"/>
            <a:chOff x="5160600" y="3546000"/>
            <a:chExt cx="3813840" cy="4137840"/>
          </a:xfrm>
        </p:grpSpPr>
        <p:sp>
          <p:nvSpPr>
            <p:cNvPr id="275" name="Freeform 22"/>
            <p:cNvSpPr/>
            <p:nvPr/>
          </p:nvSpPr>
          <p:spPr>
            <a:xfrm>
              <a:off x="5160600" y="3657240"/>
              <a:ext cx="3813840" cy="4026600"/>
            </a:xfrm>
            <a:custGeom>
              <a:avLst/>
              <a:gdLst>
                <a:gd name="textAreaLeft" fmla="*/ 0 w 3813840"/>
                <a:gd name="textAreaRight" fmla="*/ 3814200 w 3813840"/>
                <a:gd name="textAreaTop" fmla="*/ 0 h 4026600"/>
                <a:gd name="textAreaBottom" fmla="*/ 4026960 h 4026600"/>
              </a:gdLst>
              <a:ahLst/>
              <a:cxnLst/>
              <a:rect l="textAreaLeft" t="textAreaTop" r="textAreaRight" b="textAreaBottom"/>
              <a:pathLst>
                <a:path w="980199" h="1034814">
                  <a:moveTo>
                    <a:pt x="34505" y="0"/>
                  </a:moveTo>
                  <a:lnTo>
                    <a:pt x="945694" y="0"/>
                  </a:lnTo>
                  <a:cubicBezTo>
                    <a:pt x="964751" y="0"/>
                    <a:pt x="980199" y="15448"/>
                    <a:pt x="980199" y="34505"/>
                  </a:cubicBezTo>
                  <a:lnTo>
                    <a:pt x="980199" y="1000309"/>
                  </a:lnTo>
                  <a:cubicBezTo>
                    <a:pt x="980199" y="1009460"/>
                    <a:pt x="976564" y="1018237"/>
                    <a:pt x="970093" y="1024708"/>
                  </a:cubicBezTo>
                  <a:cubicBezTo>
                    <a:pt x="963622" y="1031179"/>
                    <a:pt x="954846" y="1034814"/>
                    <a:pt x="945694" y="1034814"/>
                  </a:cubicBezTo>
                  <a:lnTo>
                    <a:pt x="34505" y="1034814"/>
                  </a:lnTo>
                  <a:cubicBezTo>
                    <a:pt x="15448" y="1034814"/>
                    <a:pt x="0" y="1019365"/>
                    <a:pt x="0" y="1000309"/>
                  </a:cubicBezTo>
                  <a:lnTo>
                    <a:pt x="0" y="34505"/>
                  </a:lnTo>
                  <a:cubicBezTo>
                    <a:pt x="0" y="15448"/>
                    <a:pt x="15448" y="0"/>
                    <a:pt x="34505" y="0"/>
                  </a:cubicBezTo>
                  <a:close/>
                </a:path>
              </a:pathLst>
            </a:custGeom>
            <a:solidFill>
              <a:srgbClr val="022F76">
                <a:alpha val="5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GB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6" name="TextBox 23"/>
            <p:cNvSpPr/>
            <p:nvPr/>
          </p:nvSpPr>
          <p:spPr>
            <a:xfrm>
              <a:off x="5160600" y="3546000"/>
              <a:ext cx="3813840" cy="4137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50760" tIns="50760" rIns="50760" bIns="50760" anchor="ctr">
              <a:noAutofit/>
            </a:bodyPr>
            <a:lstStyle/>
            <a:p>
              <a:pPr algn="ctr" defTabSz="914400">
                <a:lnSpc>
                  <a:spcPts val="2378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277" name="TextBox 24"/>
          <p:cNvSpPr/>
          <p:nvPr/>
        </p:nvSpPr>
        <p:spPr>
          <a:xfrm>
            <a:off x="5612400" y="5411880"/>
            <a:ext cx="2910240" cy="1705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Montserrat"/>
                <a:ea typeface="Montserrat"/>
              </a:rPr>
              <a:t>Vue d'ensemble avec statistiques en temps réel : nombre total de livres, utilisateurs inscrits, emprunts en cours et réservations actives. Interface claire et intuitive.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Box 25"/>
          <p:cNvSpPr/>
          <p:nvPr/>
        </p:nvSpPr>
        <p:spPr>
          <a:xfrm>
            <a:off x="5292000" y="4794840"/>
            <a:ext cx="3550680" cy="27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2149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Garet Bold"/>
                <a:ea typeface="Garet Bold"/>
              </a:rPr>
              <a:t>Dashboard Stats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Box 26"/>
          <p:cNvSpPr/>
          <p:nvPr/>
        </p:nvSpPr>
        <p:spPr>
          <a:xfrm>
            <a:off x="6546600" y="3924000"/>
            <a:ext cx="1041480" cy="489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3977"/>
              </a:lnSpc>
              <a:tabLst>
                <a:tab pos="0" algn="l"/>
              </a:tabLst>
            </a:pPr>
            <a:r>
              <a:rPr lang="en-US" sz="2840" b="1" u="none" strike="noStrike">
                <a:solidFill>
                  <a:srgbClr val="FFFFFF"/>
                </a:solidFill>
                <a:effectLst/>
                <a:uFillTx/>
                <a:latin typeface="Garet Bold"/>
                <a:ea typeface="Garet Bold"/>
              </a:rPr>
              <a:t>02</a:t>
            </a:r>
            <a:endParaRPr lang="en-GB" sz="28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Box 27"/>
          <p:cNvSpPr/>
          <p:nvPr/>
        </p:nvSpPr>
        <p:spPr>
          <a:xfrm>
            <a:off x="2013840" y="720000"/>
            <a:ext cx="14259960" cy="1260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10329"/>
              </a:lnSpc>
              <a:tabLst>
                <a:tab pos="0" algn="l"/>
              </a:tabLst>
            </a:pPr>
            <a:r>
              <a:rPr lang="en-US" sz="7380" b="1" u="none" strike="noStrike">
                <a:solidFill>
                  <a:srgbClr val="FFFFFF"/>
                </a:solidFill>
                <a:effectLst/>
                <a:uFillTx/>
                <a:latin typeface="Garet Bold"/>
                <a:ea typeface="Garet Bold"/>
              </a:rPr>
              <a:t>PANNEAU D'ADMINISTRATION</a:t>
            </a:r>
            <a:endParaRPr lang="en-GB" sz="73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Freeform 2"/>
          <p:cNvSpPr/>
          <p:nvPr/>
        </p:nvSpPr>
        <p:spPr>
          <a:xfrm>
            <a:off x="0" y="0"/>
            <a:ext cx="18287640" cy="10286640"/>
          </a:xfrm>
          <a:custGeom>
            <a:avLst/>
            <a:gdLst>
              <a:gd name="textAreaLeft" fmla="*/ 0 w 18287640"/>
              <a:gd name="textAreaRight" fmla="*/ 18288000 w 18287640"/>
              <a:gd name="textAreaTop" fmla="*/ 0 h 10286640"/>
              <a:gd name="textAreaBottom" fmla="*/ 10287000 h 10286640"/>
            </a:gdLst>
            <a:ahLst/>
            <a:cxnLst/>
            <a:rect l="textAreaLeft" t="textAreaTop" r="textAreaRight" b="textAreaBottom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82" name="Group 3"/>
          <p:cNvGrpSpPr/>
          <p:nvPr/>
        </p:nvGrpSpPr>
        <p:grpSpPr>
          <a:xfrm>
            <a:off x="1656720" y="4421160"/>
            <a:ext cx="12916800" cy="3655800"/>
            <a:chOff x="1656720" y="4421160"/>
            <a:chExt cx="12916800" cy="3655800"/>
          </a:xfrm>
        </p:grpSpPr>
        <p:sp>
          <p:nvSpPr>
            <p:cNvPr id="283" name="Freeform 4"/>
            <p:cNvSpPr/>
            <p:nvPr/>
          </p:nvSpPr>
          <p:spPr>
            <a:xfrm>
              <a:off x="1656720" y="4532040"/>
              <a:ext cx="12916800" cy="3544560"/>
            </a:xfrm>
            <a:custGeom>
              <a:avLst/>
              <a:gdLst>
                <a:gd name="textAreaLeft" fmla="*/ 0 w 12916800"/>
                <a:gd name="textAreaRight" fmla="*/ 12917160 w 12916800"/>
                <a:gd name="textAreaTop" fmla="*/ 0 h 3544560"/>
                <a:gd name="textAreaBottom" fmla="*/ 3544920 h 3544560"/>
              </a:gdLst>
              <a:ahLst/>
              <a:cxnLst/>
              <a:rect l="textAreaLeft" t="textAreaTop" r="textAreaRight" b="textAreaBottom"/>
              <a:pathLst>
                <a:path w="3319444" h="910946">
                  <a:moveTo>
                    <a:pt x="10189" y="0"/>
                  </a:moveTo>
                  <a:lnTo>
                    <a:pt x="3309255" y="0"/>
                  </a:lnTo>
                  <a:cubicBezTo>
                    <a:pt x="3314883" y="0"/>
                    <a:pt x="3319444" y="4562"/>
                    <a:pt x="3319444" y="10189"/>
                  </a:cubicBezTo>
                  <a:lnTo>
                    <a:pt x="3319444" y="900757"/>
                  </a:lnTo>
                  <a:cubicBezTo>
                    <a:pt x="3319444" y="903459"/>
                    <a:pt x="3318371" y="906051"/>
                    <a:pt x="3316460" y="907962"/>
                  </a:cubicBezTo>
                  <a:cubicBezTo>
                    <a:pt x="3314549" y="909872"/>
                    <a:pt x="3311958" y="910946"/>
                    <a:pt x="3309255" y="910946"/>
                  </a:cubicBezTo>
                  <a:lnTo>
                    <a:pt x="10189" y="910946"/>
                  </a:lnTo>
                  <a:cubicBezTo>
                    <a:pt x="7487" y="910946"/>
                    <a:pt x="4895" y="909872"/>
                    <a:pt x="2984" y="907962"/>
                  </a:cubicBezTo>
                  <a:cubicBezTo>
                    <a:pt x="1073" y="906051"/>
                    <a:pt x="0" y="903459"/>
                    <a:pt x="0" y="900757"/>
                  </a:cubicBezTo>
                  <a:lnTo>
                    <a:pt x="0" y="10189"/>
                  </a:lnTo>
                  <a:cubicBezTo>
                    <a:pt x="0" y="7487"/>
                    <a:pt x="1073" y="4895"/>
                    <a:pt x="2984" y="2984"/>
                  </a:cubicBezTo>
                  <a:cubicBezTo>
                    <a:pt x="4895" y="1073"/>
                    <a:pt x="7487" y="0"/>
                    <a:pt x="10189" y="0"/>
                  </a:cubicBezTo>
                  <a:close/>
                </a:path>
              </a:pathLst>
            </a:custGeom>
            <a:solidFill>
              <a:srgbClr val="022F76">
                <a:alpha val="5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GB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4" name="TextBox 5"/>
            <p:cNvSpPr/>
            <p:nvPr/>
          </p:nvSpPr>
          <p:spPr>
            <a:xfrm>
              <a:off x="1656720" y="4421160"/>
              <a:ext cx="12916800" cy="3655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50760" tIns="50760" rIns="50760" bIns="50760" anchor="ctr">
              <a:noAutofit/>
            </a:bodyPr>
            <a:lstStyle/>
            <a:p>
              <a:pPr algn="ctr" defTabSz="914400">
                <a:lnSpc>
                  <a:spcPts val="2378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285" name="TextBox 6"/>
          <p:cNvSpPr/>
          <p:nvPr/>
        </p:nvSpPr>
        <p:spPr>
          <a:xfrm>
            <a:off x="1656720" y="3060000"/>
            <a:ext cx="13463280" cy="99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7835"/>
              </a:lnSpc>
              <a:tabLst>
                <a:tab pos="0" algn="l"/>
              </a:tabLst>
            </a:pPr>
            <a:r>
              <a:rPr lang="en-US" sz="5600" b="1" u="none" strike="noStrike">
                <a:solidFill>
                  <a:srgbClr val="FFFFFF"/>
                </a:solidFill>
                <a:effectLst/>
                <a:uFillTx/>
                <a:latin typeface="Garet Bold"/>
                <a:ea typeface="Garet Bold"/>
              </a:rPr>
              <a:t>Sécurité : notre philosophie</a:t>
            </a:r>
            <a:endParaRPr lang="en-GB" sz="5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Box 7"/>
          <p:cNvSpPr/>
          <p:nvPr/>
        </p:nvSpPr>
        <p:spPr>
          <a:xfrm>
            <a:off x="2307960" y="4817160"/>
            <a:ext cx="9836640" cy="2922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just"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Montserrat"/>
                <a:ea typeface="Montserrat"/>
              </a:rPr>
              <a:t>"Security by design, not security by afterthought."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Montserrat"/>
                <a:ea typeface="Montserrat"/>
              </a:rPr>
              <a:t>Axes de sécurité couverts :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Montserrat"/>
                <a:ea typeface="Montserrat"/>
              </a:rPr>
              <a:t>• Authentification — Connexion sécurisée, sessions protégées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Montserrat"/>
                <a:ea typeface="Montserrat"/>
              </a:rPr>
              <a:t>• Autorisation — Contrôle d'accès par rôle (user/admin)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Montserrat"/>
                <a:ea typeface="Montserrat"/>
              </a:rPr>
              <a:t>• Intégrité des données — Validation et protection des entrées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Montserrat"/>
                <a:ea typeface="Montserrat"/>
              </a:rPr>
              <a:t>• Upload sécurisé — Vérification multi-couches des fichiers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Montserrat"/>
                <a:ea typeface="Montserrat"/>
              </a:rPr>
              <a:t>• Protection CSRF — Tokens sur tous les formulaires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Montserrat"/>
                <a:ea typeface="Montserrat"/>
              </a:rPr>
              <a:t>• Analyse statique — Bandit pour détecter les vulnérabilités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Freeform 2"/>
          <p:cNvSpPr/>
          <p:nvPr/>
        </p:nvSpPr>
        <p:spPr>
          <a:xfrm>
            <a:off x="0" y="0"/>
            <a:ext cx="18287640" cy="10286640"/>
          </a:xfrm>
          <a:custGeom>
            <a:avLst/>
            <a:gdLst>
              <a:gd name="textAreaLeft" fmla="*/ 0 w 18287640"/>
              <a:gd name="textAreaRight" fmla="*/ 18288000 w 18287640"/>
              <a:gd name="textAreaTop" fmla="*/ 0 h 10286640"/>
              <a:gd name="textAreaBottom" fmla="*/ 10287000 h 10286640"/>
            </a:gdLst>
            <a:ahLst/>
            <a:cxnLst/>
            <a:rect l="textAreaLeft" t="textAreaTop" r="textAreaRight" b="textAreaBottom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88" name="Group 3"/>
          <p:cNvGrpSpPr/>
          <p:nvPr/>
        </p:nvGrpSpPr>
        <p:grpSpPr>
          <a:xfrm>
            <a:off x="1334520" y="4512600"/>
            <a:ext cx="13239000" cy="2242800"/>
            <a:chOff x="1334520" y="4512600"/>
            <a:chExt cx="13239000" cy="2242800"/>
          </a:xfrm>
        </p:grpSpPr>
        <p:sp>
          <p:nvSpPr>
            <p:cNvPr id="289" name="Freeform 4"/>
            <p:cNvSpPr/>
            <p:nvPr/>
          </p:nvSpPr>
          <p:spPr>
            <a:xfrm>
              <a:off x="1334520" y="4623840"/>
              <a:ext cx="13239000" cy="2131560"/>
            </a:xfrm>
            <a:custGeom>
              <a:avLst/>
              <a:gdLst>
                <a:gd name="textAreaLeft" fmla="*/ 0 w 13239000"/>
                <a:gd name="textAreaRight" fmla="*/ 13239360 w 13239000"/>
                <a:gd name="textAreaTop" fmla="*/ 0 h 2131560"/>
                <a:gd name="textAreaBottom" fmla="*/ 2131920 h 2131560"/>
              </a:gdLst>
              <a:ahLst/>
              <a:cxnLst/>
              <a:rect l="textAreaLeft" t="textAreaTop" r="textAreaRight" b="textAreaBottom"/>
              <a:pathLst>
                <a:path w="3402255" h="547854">
                  <a:moveTo>
                    <a:pt x="9941" y="0"/>
                  </a:moveTo>
                  <a:lnTo>
                    <a:pt x="3392314" y="0"/>
                  </a:lnTo>
                  <a:cubicBezTo>
                    <a:pt x="3394950" y="0"/>
                    <a:pt x="3397479" y="1047"/>
                    <a:pt x="3399343" y="2912"/>
                  </a:cubicBezTo>
                  <a:cubicBezTo>
                    <a:pt x="3401208" y="4776"/>
                    <a:pt x="3402255" y="7305"/>
                    <a:pt x="3402255" y="9941"/>
                  </a:cubicBezTo>
                  <a:lnTo>
                    <a:pt x="3402255" y="537913"/>
                  </a:lnTo>
                  <a:cubicBezTo>
                    <a:pt x="3402255" y="540550"/>
                    <a:pt x="3401208" y="543078"/>
                    <a:pt x="3399343" y="544943"/>
                  </a:cubicBezTo>
                  <a:cubicBezTo>
                    <a:pt x="3397479" y="546807"/>
                    <a:pt x="3394950" y="547854"/>
                    <a:pt x="3392314" y="547854"/>
                  </a:cubicBezTo>
                  <a:lnTo>
                    <a:pt x="9941" y="547854"/>
                  </a:lnTo>
                  <a:cubicBezTo>
                    <a:pt x="7305" y="547854"/>
                    <a:pt x="4776" y="546807"/>
                    <a:pt x="2912" y="544943"/>
                  </a:cubicBezTo>
                  <a:cubicBezTo>
                    <a:pt x="1047" y="543078"/>
                    <a:pt x="0" y="540550"/>
                    <a:pt x="0" y="537913"/>
                  </a:cubicBezTo>
                  <a:lnTo>
                    <a:pt x="0" y="9941"/>
                  </a:lnTo>
                  <a:cubicBezTo>
                    <a:pt x="0" y="7305"/>
                    <a:pt x="1047" y="4776"/>
                    <a:pt x="2912" y="2912"/>
                  </a:cubicBezTo>
                  <a:cubicBezTo>
                    <a:pt x="4776" y="1047"/>
                    <a:pt x="7305" y="0"/>
                    <a:pt x="9941" y="0"/>
                  </a:cubicBezTo>
                  <a:close/>
                </a:path>
              </a:pathLst>
            </a:custGeom>
            <a:solidFill>
              <a:srgbClr val="022F76">
                <a:alpha val="5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GB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0" name="TextBox 5"/>
            <p:cNvSpPr/>
            <p:nvPr/>
          </p:nvSpPr>
          <p:spPr>
            <a:xfrm>
              <a:off x="1334520" y="4512600"/>
              <a:ext cx="13239000" cy="2242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50760" tIns="50760" rIns="50760" bIns="50760" anchor="ctr">
              <a:noAutofit/>
            </a:bodyPr>
            <a:lstStyle/>
            <a:p>
              <a:pPr algn="ctr" defTabSz="914400">
                <a:lnSpc>
                  <a:spcPts val="2378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grpSp>
        <p:nvGrpSpPr>
          <p:cNvPr id="291" name="Group 6"/>
          <p:cNvGrpSpPr/>
          <p:nvPr/>
        </p:nvGrpSpPr>
        <p:grpSpPr>
          <a:xfrm>
            <a:off x="1334520" y="6873120"/>
            <a:ext cx="13239000" cy="2242800"/>
            <a:chOff x="1334520" y="6873120"/>
            <a:chExt cx="13239000" cy="2242800"/>
          </a:xfrm>
        </p:grpSpPr>
        <p:sp>
          <p:nvSpPr>
            <p:cNvPr id="292" name="Freeform 7"/>
            <p:cNvSpPr/>
            <p:nvPr/>
          </p:nvSpPr>
          <p:spPr>
            <a:xfrm>
              <a:off x="1334520" y="6984360"/>
              <a:ext cx="13239000" cy="2131560"/>
            </a:xfrm>
            <a:custGeom>
              <a:avLst/>
              <a:gdLst>
                <a:gd name="textAreaLeft" fmla="*/ 0 w 13239000"/>
                <a:gd name="textAreaRight" fmla="*/ 13239360 w 13239000"/>
                <a:gd name="textAreaTop" fmla="*/ 0 h 2131560"/>
                <a:gd name="textAreaBottom" fmla="*/ 2131920 h 2131560"/>
              </a:gdLst>
              <a:ahLst/>
              <a:cxnLst/>
              <a:rect l="textAreaLeft" t="textAreaTop" r="textAreaRight" b="textAreaBottom"/>
              <a:pathLst>
                <a:path w="3402255" h="547854">
                  <a:moveTo>
                    <a:pt x="9941" y="0"/>
                  </a:moveTo>
                  <a:lnTo>
                    <a:pt x="3392314" y="0"/>
                  </a:lnTo>
                  <a:cubicBezTo>
                    <a:pt x="3394950" y="0"/>
                    <a:pt x="3397479" y="1047"/>
                    <a:pt x="3399343" y="2912"/>
                  </a:cubicBezTo>
                  <a:cubicBezTo>
                    <a:pt x="3401208" y="4776"/>
                    <a:pt x="3402255" y="7305"/>
                    <a:pt x="3402255" y="9941"/>
                  </a:cubicBezTo>
                  <a:lnTo>
                    <a:pt x="3402255" y="537913"/>
                  </a:lnTo>
                  <a:cubicBezTo>
                    <a:pt x="3402255" y="540550"/>
                    <a:pt x="3401208" y="543078"/>
                    <a:pt x="3399343" y="544943"/>
                  </a:cubicBezTo>
                  <a:cubicBezTo>
                    <a:pt x="3397479" y="546807"/>
                    <a:pt x="3394950" y="547854"/>
                    <a:pt x="3392314" y="547854"/>
                  </a:cubicBezTo>
                  <a:lnTo>
                    <a:pt x="9941" y="547854"/>
                  </a:lnTo>
                  <a:cubicBezTo>
                    <a:pt x="7305" y="547854"/>
                    <a:pt x="4776" y="546807"/>
                    <a:pt x="2912" y="544943"/>
                  </a:cubicBezTo>
                  <a:cubicBezTo>
                    <a:pt x="1047" y="543078"/>
                    <a:pt x="0" y="540550"/>
                    <a:pt x="0" y="537913"/>
                  </a:cubicBezTo>
                  <a:lnTo>
                    <a:pt x="0" y="9941"/>
                  </a:lnTo>
                  <a:cubicBezTo>
                    <a:pt x="0" y="7305"/>
                    <a:pt x="1047" y="4776"/>
                    <a:pt x="2912" y="2912"/>
                  </a:cubicBezTo>
                  <a:cubicBezTo>
                    <a:pt x="4776" y="1047"/>
                    <a:pt x="7305" y="0"/>
                    <a:pt x="9941" y="0"/>
                  </a:cubicBezTo>
                  <a:close/>
                </a:path>
              </a:pathLst>
            </a:custGeom>
            <a:solidFill>
              <a:srgbClr val="022F76">
                <a:alpha val="5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GB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3" name="TextBox 8"/>
            <p:cNvSpPr/>
            <p:nvPr/>
          </p:nvSpPr>
          <p:spPr>
            <a:xfrm>
              <a:off x="1334520" y="6873120"/>
              <a:ext cx="13239000" cy="2242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50760" tIns="50760" rIns="50760" bIns="50760" anchor="ctr">
              <a:noAutofit/>
            </a:bodyPr>
            <a:lstStyle/>
            <a:p>
              <a:pPr algn="ctr" defTabSz="914400">
                <a:lnSpc>
                  <a:spcPts val="2378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294" name="TextBox 9"/>
          <p:cNvSpPr/>
          <p:nvPr/>
        </p:nvSpPr>
        <p:spPr>
          <a:xfrm>
            <a:off x="6241680" y="5052600"/>
            <a:ext cx="7626960" cy="1207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2415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Montserrat"/>
                <a:ea typeface="Montserrat"/>
              </a:rPr>
              <a:t>• Flask-WTF avec CSRFProtect activé globalement sur l'application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415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Montserrat"/>
                <a:ea typeface="Montserrat"/>
              </a:rPr>
              <a:t>• Token CSRF automatiquement injecté dans chaque formulaire HTML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415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Montserrat"/>
                <a:ea typeface="Montserrat"/>
              </a:rPr>
              <a:t>• Blueprints API exemptés explicitement pour les endpoints REST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415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Montserrat"/>
                <a:ea typeface="Montserrat"/>
              </a:rPr>
              <a:t>• Toute requête POST sans token valide est rejetée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TextBox 10"/>
          <p:cNvSpPr/>
          <p:nvPr/>
        </p:nvSpPr>
        <p:spPr>
          <a:xfrm>
            <a:off x="2019600" y="5109840"/>
            <a:ext cx="3160440" cy="394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3152"/>
              </a:lnSpc>
              <a:tabLst>
                <a:tab pos="0" algn="l"/>
              </a:tabLst>
            </a:pPr>
            <a:r>
              <a:rPr lang="en-US" sz="2530" b="1" u="none" strike="noStrike" spc="28">
                <a:solidFill>
                  <a:srgbClr val="FFFFFF"/>
                </a:solidFill>
                <a:effectLst/>
                <a:uFillTx/>
                <a:latin typeface="Garet Bold"/>
                <a:ea typeface="Garet Bold"/>
              </a:rPr>
              <a:t>Protection CSRF</a:t>
            </a:r>
            <a:endParaRPr lang="en-GB" sz="25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Box 11"/>
          <p:cNvSpPr/>
          <p:nvPr/>
        </p:nvSpPr>
        <p:spPr>
          <a:xfrm>
            <a:off x="6241680" y="7413120"/>
            <a:ext cx="7626960" cy="1207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2415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Montserrat"/>
                <a:ea typeface="Montserrat"/>
              </a:rPr>
              <a:t>• bcrypt avec sel automatique généré pour chaque hash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415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Montserrat"/>
                <a:ea typeface="Montserrat"/>
              </a:rPr>
              <a:t>• Comparaison sécurisée via check_password_hash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415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Montserrat"/>
                <a:ea typeface="Montserrat"/>
              </a:rPr>
              <a:t>• Aucun mot de passe stocké en clair dans la base ou les logs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415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Montserrat"/>
                <a:ea typeface="Montserrat"/>
              </a:rPr>
              <a:t>• Protection contre les attaques par timing et rainbow tables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Box 12"/>
          <p:cNvSpPr/>
          <p:nvPr/>
        </p:nvSpPr>
        <p:spPr>
          <a:xfrm>
            <a:off x="2019600" y="7470360"/>
            <a:ext cx="2675520" cy="394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3152"/>
              </a:lnSpc>
              <a:tabLst>
                <a:tab pos="0" algn="l"/>
              </a:tabLst>
            </a:pPr>
            <a:r>
              <a:rPr lang="en-US" sz="2530" b="1" u="none" strike="noStrike" spc="28">
                <a:solidFill>
                  <a:srgbClr val="FFFFFF"/>
                </a:solidFill>
                <a:effectLst/>
                <a:uFillTx/>
                <a:latin typeface="Garet Bold"/>
                <a:ea typeface="Garet Bold"/>
              </a:rPr>
              <a:t>Mots de passe</a:t>
            </a:r>
            <a:endParaRPr lang="en-GB" sz="25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TextBox 13"/>
          <p:cNvSpPr/>
          <p:nvPr/>
        </p:nvSpPr>
        <p:spPr>
          <a:xfrm>
            <a:off x="1464840" y="3333960"/>
            <a:ext cx="10848600" cy="61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2407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Montserrat"/>
                <a:ea typeface="Montserrat"/>
              </a:rPr>
              <a:t>Deux piliers essentiels de la sécurité applicative : protection contre les attaques CSRF et gestion sécurisée des mots de passe avec hachage bcrypt.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TextBox 14"/>
          <p:cNvSpPr/>
          <p:nvPr/>
        </p:nvSpPr>
        <p:spPr>
          <a:xfrm>
            <a:off x="1464840" y="1230480"/>
            <a:ext cx="10347840" cy="1865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7486"/>
              </a:lnSpc>
              <a:tabLst>
                <a:tab pos="0" algn="l"/>
              </a:tabLst>
            </a:pPr>
            <a:r>
              <a:rPr lang="en-US" sz="5980" b="1" u="none" strike="noStrike" spc="65">
                <a:solidFill>
                  <a:srgbClr val="FFFFFF"/>
                </a:solidFill>
                <a:effectLst/>
                <a:uFillTx/>
                <a:latin typeface="Garet Bold"/>
                <a:ea typeface="Garet Bold"/>
              </a:rPr>
              <a:t>Sécurité : CSRF &amp; mots de passe</a:t>
            </a:r>
            <a:endParaRPr lang="en-GB" sz="5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Freeform 2"/>
          <p:cNvSpPr/>
          <p:nvPr/>
        </p:nvSpPr>
        <p:spPr>
          <a:xfrm>
            <a:off x="0" y="0"/>
            <a:ext cx="18287640" cy="10286640"/>
          </a:xfrm>
          <a:custGeom>
            <a:avLst/>
            <a:gdLst>
              <a:gd name="textAreaLeft" fmla="*/ 0 w 18287640"/>
              <a:gd name="textAreaRight" fmla="*/ 18288000 w 18287640"/>
              <a:gd name="textAreaTop" fmla="*/ 0 h 10286640"/>
              <a:gd name="textAreaBottom" fmla="*/ 10287000 h 10286640"/>
            </a:gdLst>
            <a:ahLst/>
            <a:cxnLst/>
            <a:rect l="textAreaLeft" t="textAreaTop" r="textAreaRight" b="textAreaBottom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01" name="Group 3"/>
          <p:cNvGrpSpPr/>
          <p:nvPr/>
        </p:nvGrpSpPr>
        <p:grpSpPr>
          <a:xfrm>
            <a:off x="7968600" y="1660320"/>
            <a:ext cx="8943120" cy="2200320"/>
            <a:chOff x="7968600" y="1660320"/>
            <a:chExt cx="8943120" cy="2200320"/>
          </a:xfrm>
        </p:grpSpPr>
        <p:sp>
          <p:nvSpPr>
            <p:cNvPr id="302" name="Freeform 4"/>
            <p:cNvSpPr/>
            <p:nvPr/>
          </p:nvSpPr>
          <p:spPr>
            <a:xfrm>
              <a:off x="7968600" y="1774080"/>
              <a:ext cx="8943120" cy="2086560"/>
            </a:xfrm>
            <a:custGeom>
              <a:avLst/>
              <a:gdLst>
                <a:gd name="textAreaLeft" fmla="*/ 0 w 8943120"/>
                <a:gd name="textAreaRight" fmla="*/ 8943480 w 8943120"/>
                <a:gd name="textAreaTop" fmla="*/ 0 h 2086560"/>
                <a:gd name="textAreaBottom" fmla="*/ 2086920 h 2086560"/>
              </a:gdLst>
              <a:ahLst/>
              <a:cxnLst/>
              <a:rect l="textAreaLeft" t="textAreaTop" r="textAreaRight" b="textAreaBottom"/>
              <a:pathLst>
                <a:path w="2249203" h="524870">
                  <a:moveTo>
                    <a:pt x="14716" y="0"/>
                  </a:moveTo>
                  <a:lnTo>
                    <a:pt x="2234487" y="0"/>
                  </a:lnTo>
                  <a:cubicBezTo>
                    <a:pt x="2238390" y="0"/>
                    <a:pt x="2242133" y="1550"/>
                    <a:pt x="2244893" y="4310"/>
                  </a:cubicBezTo>
                  <a:cubicBezTo>
                    <a:pt x="2247653" y="7070"/>
                    <a:pt x="2249203" y="10813"/>
                    <a:pt x="2249203" y="14716"/>
                  </a:cubicBezTo>
                  <a:lnTo>
                    <a:pt x="2249203" y="510154"/>
                  </a:lnTo>
                  <a:cubicBezTo>
                    <a:pt x="2249203" y="514057"/>
                    <a:pt x="2247653" y="517800"/>
                    <a:pt x="2244893" y="520560"/>
                  </a:cubicBezTo>
                  <a:cubicBezTo>
                    <a:pt x="2242133" y="523320"/>
                    <a:pt x="2238390" y="524870"/>
                    <a:pt x="2234487" y="524870"/>
                  </a:cubicBezTo>
                  <a:lnTo>
                    <a:pt x="14716" y="524870"/>
                  </a:lnTo>
                  <a:cubicBezTo>
                    <a:pt x="10813" y="524870"/>
                    <a:pt x="7070" y="523320"/>
                    <a:pt x="4310" y="520560"/>
                  </a:cubicBezTo>
                  <a:cubicBezTo>
                    <a:pt x="1550" y="517800"/>
                    <a:pt x="0" y="514057"/>
                    <a:pt x="0" y="510154"/>
                  </a:cubicBezTo>
                  <a:lnTo>
                    <a:pt x="0" y="14716"/>
                  </a:lnTo>
                  <a:cubicBezTo>
                    <a:pt x="0" y="10813"/>
                    <a:pt x="1550" y="7070"/>
                    <a:pt x="4310" y="4310"/>
                  </a:cubicBezTo>
                  <a:cubicBezTo>
                    <a:pt x="7070" y="1550"/>
                    <a:pt x="10813" y="0"/>
                    <a:pt x="14716" y="0"/>
                  </a:cubicBezTo>
                  <a:close/>
                </a:path>
              </a:pathLst>
            </a:custGeom>
            <a:solidFill>
              <a:srgbClr val="022F76">
                <a:alpha val="5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GB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3" name="TextBox 5"/>
            <p:cNvSpPr/>
            <p:nvPr/>
          </p:nvSpPr>
          <p:spPr>
            <a:xfrm>
              <a:off x="7968600" y="1660320"/>
              <a:ext cx="8943120" cy="2200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50760" tIns="50760" rIns="50760" bIns="50760" anchor="ctr">
              <a:noAutofit/>
            </a:bodyPr>
            <a:lstStyle/>
            <a:p>
              <a:pPr algn="ctr" defTabSz="914400">
                <a:lnSpc>
                  <a:spcPts val="2378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grpSp>
        <p:nvGrpSpPr>
          <p:cNvPr id="304" name="Group 6"/>
          <p:cNvGrpSpPr/>
          <p:nvPr/>
        </p:nvGrpSpPr>
        <p:grpSpPr>
          <a:xfrm>
            <a:off x="7968600" y="3987000"/>
            <a:ext cx="8943120" cy="2200320"/>
            <a:chOff x="7968600" y="3987000"/>
            <a:chExt cx="8943120" cy="2200320"/>
          </a:xfrm>
        </p:grpSpPr>
        <p:sp>
          <p:nvSpPr>
            <p:cNvPr id="305" name="Freeform 7"/>
            <p:cNvSpPr/>
            <p:nvPr/>
          </p:nvSpPr>
          <p:spPr>
            <a:xfrm>
              <a:off x="7968600" y="4100760"/>
              <a:ext cx="8943120" cy="2086560"/>
            </a:xfrm>
            <a:custGeom>
              <a:avLst/>
              <a:gdLst>
                <a:gd name="textAreaLeft" fmla="*/ 0 w 8943120"/>
                <a:gd name="textAreaRight" fmla="*/ 8943480 w 8943120"/>
                <a:gd name="textAreaTop" fmla="*/ 0 h 2086560"/>
                <a:gd name="textAreaBottom" fmla="*/ 2086920 h 2086560"/>
              </a:gdLst>
              <a:ahLst/>
              <a:cxnLst/>
              <a:rect l="textAreaLeft" t="textAreaTop" r="textAreaRight" b="textAreaBottom"/>
              <a:pathLst>
                <a:path w="2249203" h="524870">
                  <a:moveTo>
                    <a:pt x="14716" y="0"/>
                  </a:moveTo>
                  <a:lnTo>
                    <a:pt x="2234487" y="0"/>
                  </a:lnTo>
                  <a:cubicBezTo>
                    <a:pt x="2238390" y="0"/>
                    <a:pt x="2242133" y="1550"/>
                    <a:pt x="2244893" y="4310"/>
                  </a:cubicBezTo>
                  <a:cubicBezTo>
                    <a:pt x="2247653" y="7070"/>
                    <a:pt x="2249203" y="10813"/>
                    <a:pt x="2249203" y="14716"/>
                  </a:cubicBezTo>
                  <a:lnTo>
                    <a:pt x="2249203" y="510154"/>
                  </a:lnTo>
                  <a:cubicBezTo>
                    <a:pt x="2249203" y="514057"/>
                    <a:pt x="2247653" y="517800"/>
                    <a:pt x="2244893" y="520560"/>
                  </a:cubicBezTo>
                  <a:cubicBezTo>
                    <a:pt x="2242133" y="523320"/>
                    <a:pt x="2238390" y="524870"/>
                    <a:pt x="2234487" y="524870"/>
                  </a:cubicBezTo>
                  <a:lnTo>
                    <a:pt x="14716" y="524870"/>
                  </a:lnTo>
                  <a:cubicBezTo>
                    <a:pt x="10813" y="524870"/>
                    <a:pt x="7070" y="523320"/>
                    <a:pt x="4310" y="520560"/>
                  </a:cubicBezTo>
                  <a:cubicBezTo>
                    <a:pt x="1550" y="517800"/>
                    <a:pt x="0" y="514057"/>
                    <a:pt x="0" y="510154"/>
                  </a:cubicBezTo>
                  <a:lnTo>
                    <a:pt x="0" y="14716"/>
                  </a:lnTo>
                  <a:cubicBezTo>
                    <a:pt x="0" y="10813"/>
                    <a:pt x="1550" y="7070"/>
                    <a:pt x="4310" y="4310"/>
                  </a:cubicBezTo>
                  <a:cubicBezTo>
                    <a:pt x="7070" y="1550"/>
                    <a:pt x="10813" y="0"/>
                    <a:pt x="14716" y="0"/>
                  </a:cubicBezTo>
                  <a:close/>
                </a:path>
              </a:pathLst>
            </a:custGeom>
            <a:solidFill>
              <a:srgbClr val="022F76">
                <a:alpha val="5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GB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6" name="TextBox 8"/>
            <p:cNvSpPr/>
            <p:nvPr/>
          </p:nvSpPr>
          <p:spPr>
            <a:xfrm>
              <a:off x="7968600" y="3987000"/>
              <a:ext cx="8943120" cy="2200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50760" tIns="50760" rIns="50760" bIns="50760" anchor="ctr">
              <a:noAutofit/>
            </a:bodyPr>
            <a:lstStyle/>
            <a:p>
              <a:pPr algn="ctr" defTabSz="914400">
                <a:lnSpc>
                  <a:spcPts val="2378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grpSp>
        <p:nvGrpSpPr>
          <p:cNvPr id="307" name="Group 9"/>
          <p:cNvGrpSpPr/>
          <p:nvPr/>
        </p:nvGrpSpPr>
        <p:grpSpPr>
          <a:xfrm>
            <a:off x="7968600" y="6312240"/>
            <a:ext cx="8943120" cy="2200320"/>
            <a:chOff x="7968600" y="6312240"/>
            <a:chExt cx="8943120" cy="2200320"/>
          </a:xfrm>
        </p:grpSpPr>
        <p:sp>
          <p:nvSpPr>
            <p:cNvPr id="308" name="Freeform 10"/>
            <p:cNvSpPr/>
            <p:nvPr/>
          </p:nvSpPr>
          <p:spPr>
            <a:xfrm>
              <a:off x="7968600" y="6426000"/>
              <a:ext cx="8943120" cy="2086560"/>
            </a:xfrm>
            <a:custGeom>
              <a:avLst/>
              <a:gdLst>
                <a:gd name="textAreaLeft" fmla="*/ 0 w 8943120"/>
                <a:gd name="textAreaRight" fmla="*/ 8943480 w 8943120"/>
                <a:gd name="textAreaTop" fmla="*/ 0 h 2086560"/>
                <a:gd name="textAreaBottom" fmla="*/ 2086920 h 2086560"/>
              </a:gdLst>
              <a:ahLst/>
              <a:cxnLst/>
              <a:rect l="textAreaLeft" t="textAreaTop" r="textAreaRight" b="textAreaBottom"/>
              <a:pathLst>
                <a:path w="2249203" h="524870">
                  <a:moveTo>
                    <a:pt x="14716" y="0"/>
                  </a:moveTo>
                  <a:lnTo>
                    <a:pt x="2234487" y="0"/>
                  </a:lnTo>
                  <a:cubicBezTo>
                    <a:pt x="2238390" y="0"/>
                    <a:pt x="2242133" y="1550"/>
                    <a:pt x="2244893" y="4310"/>
                  </a:cubicBezTo>
                  <a:cubicBezTo>
                    <a:pt x="2247653" y="7070"/>
                    <a:pt x="2249203" y="10813"/>
                    <a:pt x="2249203" y="14716"/>
                  </a:cubicBezTo>
                  <a:lnTo>
                    <a:pt x="2249203" y="510154"/>
                  </a:lnTo>
                  <a:cubicBezTo>
                    <a:pt x="2249203" y="514057"/>
                    <a:pt x="2247653" y="517800"/>
                    <a:pt x="2244893" y="520560"/>
                  </a:cubicBezTo>
                  <a:cubicBezTo>
                    <a:pt x="2242133" y="523320"/>
                    <a:pt x="2238390" y="524870"/>
                    <a:pt x="2234487" y="524870"/>
                  </a:cubicBezTo>
                  <a:lnTo>
                    <a:pt x="14716" y="524870"/>
                  </a:lnTo>
                  <a:cubicBezTo>
                    <a:pt x="10813" y="524870"/>
                    <a:pt x="7070" y="523320"/>
                    <a:pt x="4310" y="520560"/>
                  </a:cubicBezTo>
                  <a:cubicBezTo>
                    <a:pt x="1550" y="517800"/>
                    <a:pt x="0" y="514057"/>
                    <a:pt x="0" y="510154"/>
                  </a:cubicBezTo>
                  <a:lnTo>
                    <a:pt x="0" y="14716"/>
                  </a:lnTo>
                  <a:cubicBezTo>
                    <a:pt x="0" y="10813"/>
                    <a:pt x="1550" y="7070"/>
                    <a:pt x="4310" y="4310"/>
                  </a:cubicBezTo>
                  <a:cubicBezTo>
                    <a:pt x="7070" y="1550"/>
                    <a:pt x="10813" y="0"/>
                    <a:pt x="14716" y="0"/>
                  </a:cubicBezTo>
                  <a:close/>
                </a:path>
              </a:pathLst>
            </a:custGeom>
            <a:solidFill>
              <a:srgbClr val="022F76">
                <a:alpha val="5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GB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9" name="TextBox 11"/>
            <p:cNvSpPr/>
            <p:nvPr/>
          </p:nvSpPr>
          <p:spPr>
            <a:xfrm>
              <a:off x="7968600" y="6312240"/>
              <a:ext cx="8943120" cy="2200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50760" tIns="50760" rIns="50760" bIns="50760" anchor="ctr">
              <a:noAutofit/>
            </a:bodyPr>
            <a:lstStyle/>
            <a:p>
              <a:pPr algn="ctr" defTabSz="914400">
                <a:lnSpc>
                  <a:spcPts val="2378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310" name="TextBox 12"/>
          <p:cNvSpPr/>
          <p:nvPr/>
        </p:nvSpPr>
        <p:spPr>
          <a:xfrm>
            <a:off x="9089640" y="2700000"/>
            <a:ext cx="7470360" cy="73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Montserrat"/>
                <a:ea typeface="Montserrat"/>
              </a:rPr>
              <a:t>Seules les extensions autorisées sont acceptées : jpg, jpeg, png, webp, gif. Toute autre extension est rejetée immédiatement côté serveur avant traitement.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311" name="TextBox 13"/>
          <p:cNvSpPr/>
          <p:nvPr/>
        </p:nvSpPr>
        <p:spPr>
          <a:xfrm>
            <a:off x="9089640" y="4721040"/>
            <a:ext cx="7470360" cy="1218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Montserrat"/>
                <a:ea typeface="Montserrat"/>
              </a:rPr>
              <a:t>Vérification des signatures hexadécimales des fichiers :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Montserrat"/>
                <a:ea typeface="Montserrat"/>
              </a:rPr>
              <a:t>• PNG = \x89PNG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Montserrat"/>
                <a:ea typeface="Montserrat"/>
              </a:rPr>
              <a:t>• JPEG = \xFF\xD8\xFF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Montserrat"/>
                <a:ea typeface="Montserrat"/>
              </a:rPr>
              <a:t>• GIF = GIF89a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Montserrat"/>
                <a:ea typeface="Montserrat"/>
              </a:rPr>
              <a:t>Un fichier avec mauvaise extension est détecté et bloqué.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TextBox 14"/>
          <p:cNvSpPr/>
          <p:nvPr/>
        </p:nvSpPr>
        <p:spPr>
          <a:xfrm>
            <a:off x="9131040" y="7266960"/>
            <a:ext cx="7470360" cy="736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1933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Montserrat"/>
                <a:ea typeface="Montserrat"/>
              </a:rPr>
              <a:t>Nom de fichier UUID généré côté serveur (évite injection path). Taille maximale : 2 Mo via MAX_CONTENT_LENGTH Flask. Conclusion : aucun fichier malveillant ne passe ni ne pollue le serveur.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TextBox 15"/>
          <p:cNvSpPr/>
          <p:nvPr/>
        </p:nvSpPr>
        <p:spPr>
          <a:xfrm>
            <a:off x="826560" y="4959360"/>
            <a:ext cx="5473440" cy="120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2378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Montserrat"/>
                <a:ea typeface="Montserrat"/>
              </a:rPr>
              <a:t>Problème : risque d'exécuter un fichier malveillant déguisé en image sur le serveur.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378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Montserrat"/>
                <a:ea typeface="Montserrat"/>
              </a:rPr>
              <a:t>Solution : protection en 4 couches complémentaires pour garantir l'intégrité.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TextBox 16"/>
          <p:cNvSpPr/>
          <p:nvPr/>
        </p:nvSpPr>
        <p:spPr>
          <a:xfrm>
            <a:off x="9131040" y="2023920"/>
            <a:ext cx="4548960" cy="360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2843"/>
              </a:lnSpc>
              <a:tabLst>
                <a:tab pos="0" algn="l"/>
              </a:tabLst>
            </a:pPr>
            <a:r>
              <a:rPr lang="en-US" sz="2280" b="1" u="none" strike="noStrike" spc="26">
                <a:solidFill>
                  <a:srgbClr val="FFFFFF"/>
                </a:solidFill>
                <a:effectLst/>
                <a:uFillTx/>
                <a:latin typeface="Garet Bold"/>
                <a:ea typeface="Garet Bold"/>
              </a:rPr>
              <a:t>Whitelist Extensions</a:t>
            </a:r>
            <a:endParaRPr lang="en-GB" sz="2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TextBox 17"/>
          <p:cNvSpPr/>
          <p:nvPr/>
        </p:nvSpPr>
        <p:spPr>
          <a:xfrm>
            <a:off x="9131040" y="4350600"/>
            <a:ext cx="4370760" cy="348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2843"/>
              </a:lnSpc>
              <a:tabLst>
                <a:tab pos="0" algn="l"/>
              </a:tabLst>
            </a:pPr>
            <a:r>
              <a:rPr lang="en-US" sz="2280" b="1" u="none" strike="noStrike" spc="26">
                <a:solidFill>
                  <a:srgbClr val="FFFFFF"/>
                </a:solidFill>
                <a:effectLst/>
                <a:uFillTx/>
                <a:latin typeface="Garet Bold"/>
                <a:ea typeface="Garet Bold"/>
              </a:rPr>
              <a:t>Validation Magic Bytes</a:t>
            </a:r>
            <a:endParaRPr lang="en-GB" sz="2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TextBox 18"/>
          <p:cNvSpPr/>
          <p:nvPr/>
        </p:nvSpPr>
        <p:spPr>
          <a:xfrm>
            <a:off x="9131040" y="6675840"/>
            <a:ext cx="4368960" cy="360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2843"/>
              </a:lnSpc>
              <a:tabLst>
                <a:tab pos="0" algn="l"/>
              </a:tabLst>
            </a:pPr>
            <a:r>
              <a:rPr lang="en-US" sz="2280" b="1" u="none" strike="noStrike" spc="26">
                <a:solidFill>
                  <a:srgbClr val="FFFFFF"/>
                </a:solidFill>
                <a:effectLst/>
                <a:uFillTx/>
                <a:latin typeface="Garet Bold"/>
                <a:ea typeface="Garet Bold"/>
              </a:rPr>
              <a:t>UUID &amp; Limite Taille</a:t>
            </a:r>
            <a:endParaRPr lang="en-GB" sz="2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TextBox 19"/>
          <p:cNvSpPr/>
          <p:nvPr/>
        </p:nvSpPr>
        <p:spPr>
          <a:xfrm>
            <a:off x="8078760" y="2019240"/>
            <a:ext cx="848880" cy="484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3912"/>
              </a:lnSpc>
              <a:tabLst>
                <a:tab pos="0" algn="l"/>
              </a:tabLst>
            </a:pPr>
            <a:r>
              <a:rPr lang="en-US" sz="3140" b="1" u="none" strike="noStrike" spc="34">
                <a:solidFill>
                  <a:srgbClr val="FFFFFF"/>
                </a:solidFill>
                <a:effectLst/>
                <a:uFillTx/>
                <a:latin typeface="Garet Bold"/>
                <a:ea typeface="Garet Bold"/>
              </a:rPr>
              <a:t>01</a:t>
            </a:r>
            <a:endParaRPr lang="en-GB" sz="31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TextBox 20"/>
          <p:cNvSpPr/>
          <p:nvPr/>
        </p:nvSpPr>
        <p:spPr>
          <a:xfrm>
            <a:off x="8078760" y="4345920"/>
            <a:ext cx="848880" cy="484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3912"/>
              </a:lnSpc>
              <a:tabLst>
                <a:tab pos="0" algn="l"/>
              </a:tabLst>
            </a:pPr>
            <a:r>
              <a:rPr lang="en-US" sz="3140" b="1" u="none" strike="noStrike" spc="34">
                <a:solidFill>
                  <a:srgbClr val="FFFFFF"/>
                </a:solidFill>
                <a:effectLst/>
                <a:uFillTx/>
                <a:latin typeface="Garet Bold"/>
                <a:ea typeface="Garet Bold"/>
              </a:rPr>
              <a:t>02</a:t>
            </a:r>
            <a:endParaRPr lang="en-GB" sz="31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TextBox 21"/>
          <p:cNvSpPr/>
          <p:nvPr/>
        </p:nvSpPr>
        <p:spPr>
          <a:xfrm>
            <a:off x="8078760" y="6671160"/>
            <a:ext cx="848880" cy="484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3912"/>
              </a:lnSpc>
              <a:tabLst>
                <a:tab pos="0" algn="l"/>
              </a:tabLst>
            </a:pPr>
            <a:r>
              <a:rPr lang="en-US" sz="3140" b="1" u="none" strike="noStrike" spc="34">
                <a:solidFill>
                  <a:srgbClr val="FFFFFF"/>
                </a:solidFill>
                <a:effectLst/>
                <a:uFillTx/>
                <a:latin typeface="Garet Bold"/>
                <a:ea typeface="Garet Bold"/>
              </a:rPr>
              <a:t>03</a:t>
            </a:r>
            <a:endParaRPr lang="en-GB" sz="31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TextBox 22"/>
          <p:cNvSpPr/>
          <p:nvPr/>
        </p:nvSpPr>
        <p:spPr>
          <a:xfrm>
            <a:off x="786600" y="2700000"/>
            <a:ext cx="7673400" cy="1827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7191"/>
              </a:lnSpc>
              <a:tabLst>
                <a:tab pos="0" algn="l"/>
              </a:tabLst>
            </a:pPr>
            <a:r>
              <a:rPr lang="en-US" sz="5750" b="1" u="none" strike="noStrike" spc="62">
                <a:solidFill>
                  <a:srgbClr val="FFFFFF"/>
                </a:solidFill>
                <a:effectLst/>
                <a:uFillTx/>
                <a:latin typeface="Garet Bold"/>
                <a:ea typeface="Garet Bold"/>
              </a:rPr>
              <a:t>Sécurité : Upload d'Images</a:t>
            </a:r>
            <a:endParaRPr lang="en-GB" sz="5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Freeform 2"/>
          <p:cNvSpPr/>
          <p:nvPr/>
        </p:nvSpPr>
        <p:spPr>
          <a:xfrm>
            <a:off x="0" y="0"/>
            <a:ext cx="18287640" cy="10286640"/>
          </a:xfrm>
          <a:custGeom>
            <a:avLst/>
            <a:gdLst>
              <a:gd name="textAreaLeft" fmla="*/ 0 w 18287640"/>
              <a:gd name="textAreaRight" fmla="*/ 18288000 w 18287640"/>
              <a:gd name="textAreaTop" fmla="*/ 0 h 10286640"/>
              <a:gd name="textAreaBottom" fmla="*/ 10287000 h 10286640"/>
            </a:gdLst>
            <a:ahLst/>
            <a:cxnLst/>
            <a:rect l="textAreaLeft" t="textAreaTop" r="textAreaRight" b="textAreaBottom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TextBox 3"/>
          <p:cNvSpPr/>
          <p:nvPr/>
        </p:nvSpPr>
        <p:spPr>
          <a:xfrm>
            <a:off x="1101240" y="1037880"/>
            <a:ext cx="10723680" cy="183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7231"/>
              </a:lnSpc>
              <a:tabLst>
                <a:tab pos="0" algn="l"/>
              </a:tabLst>
            </a:pPr>
            <a:r>
              <a:rPr lang="en-US" sz="6400" b="1" u="none" strike="noStrike">
                <a:solidFill>
                  <a:srgbClr val="FFFFFF"/>
                </a:solidFill>
                <a:effectLst/>
                <a:uFillTx/>
                <a:latin typeface="Garet Bold"/>
                <a:ea typeface="Garet Bold"/>
              </a:rPr>
              <a:t>Sécurité : analyse statique avec Bandit</a:t>
            </a:r>
            <a:endParaRPr lang="en-GB" sz="6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23" name="Picture 5"/>
          <p:cNvPicPr/>
          <p:nvPr/>
        </p:nvPicPr>
        <p:blipFill>
          <a:blip r:embed="rId3"/>
          <a:srcRect b="14207"/>
          <a:stretch/>
        </p:blipFill>
        <p:spPr>
          <a:xfrm>
            <a:off x="9504000" y="4368600"/>
            <a:ext cx="4716000" cy="463104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324" name="Group 6"/>
          <p:cNvGrpSpPr/>
          <p:nvPr/>
        </p:nvGrpSpPr>
        <p:grpSpPr>
          <a:xfrm>
            <a:off x="756000" y="2933280"/>
            <a:ext cx="8387640" cy="6889320"/>
            <a:chOff x="756000" y="2933280"/>
            <a:chExt cx="8387640" cy="6889320"/>
          </a:xfrm>
        </p:grpSpPr>
        <p:sp>
          <p:nvSpPr>
            <p:cNvPr id="325" name="Freeform 7"/>
            <p:cNvSpPr/>
            <p:nvPr/>
          </p:nvSpPr>
          <p:spPr>
            <a:xfrm>
              <a:off x="756000" y="3044520"/>
              <a:ext cx="8387640" cy="6778080"/>
            </a:xfrm>
            <a:custGeom>
              <a:avLst/>
              <a:gdLst>
                <a:gd name="textAreaLeft" fmla="*/ 0 w 8387640"/>
                <a:gd name="textAreaRight" fmla="*/ 8388000 w 8387640"/>
                <a:gd name="textAreaTop" fmla="*/ 0 h 6778080"/>
                <a:gd name="textAreaBottom" fmla="*/ 6778440 h 6778080"/>
              </a:gdLst>
              <a:ahLst/>
              <a:cxnLst/>
              <a:rect l="textAreaLeft" t="textAreaTop" r="textAreaRight" b="textAreaBottom"/>
              <a:pathLst>
                <a:path w="2155548" h="1741887">
                  <a:moveTo>
                    <a:pt x="15691" y="0"/>
                  </a:moveTo>
                  <a:lnTo>
                    <a:pt x="2139857" y="0"/>
                  </a:lnTo>
                  <a:cubicBezTo>
                    <a:pt x="2144019" y="0"/>
                    <a:pt x="2148010" y="1653"/>
                    <a:pt x="2150952" y="4596"/>
                  </a:cubicBezTo>
                  <a:cubicBezTo>
                    <a:pt x="2153895" y="7538"/>
                    <a:pt x="2155548" y="11529"/>
                    <a:pt x="2155548" y="15691"/>
                  </a:cubicBezTo>
                  <a:lnTo>
                    <a:pt x="2155548" y="1726197"/>
                  </a:lnTo>
                  <a:cubicBezTo>
                    <a:pt x="2155548" y="1734862"/>
                    <a:pt x="2148523" y="1741887"/>
                    <a:pt x="2139857" y="1741887"/>
                  </a:cubicBezTo>
                  <a:lnTo>
                    <a:pt x="15691" y="1741887"/>
                  </a:lnTo>
                  <a:cubicBezTo>
                    <a:pt x="11529" y="1741887"/>
                    <a:pt x="7538" y="1740234"/>
                    <a:pt x="4596" y="1737292"/>
                  </a:cubicBezTo>
                  <a:cubicBezTo>
                    <a:pt x="1653" y="1734349"/>
                    <a:pt x="0" y="1730358"/>
                    <a:pt x="0" y="1726197"/>
                  </a:cubicBezTo>
                  <a:lnTo>
                    <a:pt x="0" y="15691"/>
                  </a:lnTo>
                  <a:cubicBezTo>
                    <a:pt x="0" y="11529"/>
                    <a:pt x="1653" y="7538"/>
                    <a:pt x="4596" y="4596"/>
                  </a:cubicBezTo>
                  <a:cubicBezTo>
                    <a:pt x="7538" y="1653"/>
                    <a:pt x="11529" y="0"/>
                    <a:pt x="15691" y="0"/>
                  </a:cubicBezTo>
                  <a:close/>
                </a:path>
              </a:pathLst>
            </a:custGeom>
            <a:solidFill>
              <a:srgbClr val="022F76">
                <a:alpha val="5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GB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6" name="TextBox 8"/>
            <p:cNvSpPr/>
            <p:nvPr/>
          </p:nvSpPr>
          <p:spPr>
            <a:xfrm>
              <a:off x="756000" y="2933280"/>
              <a:ext cx="8387640" cy="6888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50760" tIns="50760" rIns="50760" bIns="50760" anchor="ctr">
              <a:noAutofit/>
            </a:bodyPr>
            <a:lstStyle/>
            <a:p>
              <a:pPr algn="ctr" defTabSz="914400">
                <a:lnSpc>
                  <a:spcPts val="2378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327" name="TextBox 9"/>
          <p:cNvSpPr/>
          <p:nvPr/>
        </p:nvSpPr>
        <p:spPr>
          <a:xfrm>
            <a:off x="1101240" y="3367440"/>
            <a:ext cx="7556760" cy="104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just" defTabSz="914400">
              <a:lnSpc>
                <a:spcPts val="2741"/>
              </a:lnSpc>
              <a:tabLst>
                <a:tab pos="0" algn="l"/>
              </a:tabLst>
            </a:pPr>
            <a:r>
              <a:rPr lang="en-US" sz="1600" b="0" u="none" strike="noStrike" spc="20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Bandit : outil OWASP d'analyse statique Python. Détecte les injections, mauvaises pratiques, exécutions dangereuses et exposition de secrets. Résultats sur notre code : 0 issue détectée (Low, Medium, High).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TextBox 10"/>
          <p:cNvSpPr/>
          <p:nvPr/>
        </p:nvSpPr>
        <p:spPr>
          <a:xfrm>
            <a:off x="1101240" y="5370120"/>
            <a:ext cx="7556760" cy="104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just" defTabSz="914400">
              <a:lnSpc>
                <a:spcPts val="2741"/>
              </a:lnSpc>
              <a:tabLst>
                <a:tab pos="0" algn="l"/>
              </a:tabLst>
            </a:pPr>
            <a:r>
              <a:rPr lang="en-US" sz="1600" b="0" u="none" strike="noStrike" spc="20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588 lignes de code analysées, 0 ligne ignorée (#nosec). Commande utilisée : bandit -r routes models app.py. Analyse complète et transparente du projet.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TextBox 11"/>
          <p:cNvSpPr/>
          <p:nvPr/>
        </p:nvSpPr>
        <p:spPr>
          <a:xfrm>
            <a:off x="1101240" y="7372800"/>
            <a:ext cx="7556760" cy="104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just" defTabSz="914400">
              <a:lnSpc>
                <a:spcPts val="2741"/>
              </a:lnSpc>
              <a:tabLst>
                <a:tab pos="0" algn="l"/>
              </a:tabLst>
            </a:pPr>
            <a:r>
              <a:rPr lang="en-US" sz="1600" b="0" u="none" strike="noStrike" spc="20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Audit dynamique OWASP Pentest Toolkit : headers HTTP absents des pages HTML. Risques détectés : clickjacking (X-Frame-Options), MIME sniffing (X-Content-Type-Options), XSS élargi (CSP). Correctif appliqué : after_request global dans app.py — headers couvrent toutes les routes HTML et API.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Freeform 2"/>
          <p:cNvSpPr/>
          <p:nvPr/>
        </p:nvSpPr>
        <p:spPr>
          <a:xfrm>
            <a:off x="0" y="0"/>
            <a:ext cx="18287640" cy="10286640"/>
          </a:xfrm>
          <a:custGeom>
            <a:avLst/>
            <a:gdLst>
              <a:gd name="textAreaLeft" fmla="*/ 0 w 18287640"/>
              <a:gd name="textAreaRight" fmla="*/ 18288000 w 18287640"/>
              <a:gd name="textAreaTop" fmla="*/ 0 h 10286640"/>
              <a:gd name="textAreaBottom" fmla="*/ 10287000 h 10286640"/>
            </a:gdLst>
            <a:ahLst/>
            <a:cxnLst/>
            <a:rect l="textAreaLeft" t="textAreaTop" r="textAreaRight" b="textAreaBottom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31" name="Group 3"/>
          <p:cNvGrpSpPr/>
          <p:nvPr/>
        </p:nvGrpSpPr>
        <p:grpSpPr>
          <a:xfrm>
            <a:off x="11477880" y="3354840"/>
            <a:ext cx="5065920" cy="5649840"/>
            <a:chOff x="11477880" y="3354840"/>
            <a:chExt cx="5065920" cy="5649840"/>
          </a:xfrm>
        </p:grpSpPr>
        <p:sp>
          <p:nvSpPr>
            <p:cNvPr id="332" name="Freeform 4"/>
            <p:cNvSpPr/>
            <p:nvPr/>
          </p:nvSpPr>
          <p:spPr>
            <a:xfrm>
              <a:off x="11477880" y="3466080"/>
              <a:ext cx="5065920" cy="5538600"/>
            </a:xfrm>
            <a:custGeom>
              <a:avLst/>
              <a:gdLst>
                <a:gd name="textAreaLeft" fmla="*/ 0 w 5065920"/>
                <a:gd name="textAreaRight" fmla="*/ 5066280 w 5065920"/>
                <a:gd name="textAreaTop" fmla="*/ 0 h 5538600"/>
                <a:gd name="textAreaBottom" fmla="*/ 5538960 h 5538600"/>
              </a:gdLst>
              <a:ahLst/>
              <a:cxnLst/>
              <a:rect l="textAreaLeft" t="textAreaTop" r="textAreaRight" b="textAreaBottom"/>
              <a:pathLst>
                <a:path w="1301964" h="1423386">
                  <a:moveTo>
                    <a:pt x="25978" y="0"/>
                  </a:moveTo>
                  <a:lnTo>
                    <a:pt x="1275986" y="0"/>
                  </a:lnTo>
                  <a:cubicBezTo>
                    <a:pt x="1290333" y="0"/>
                    <a:pt x="1301964" y="11631"/>
                    <a:pt x="1301964" y="25978"/>
                  </a:cubicBezTo>
                  <a:lnTo>
                    <a:pt x="1301964" y="1397408"/>
                  </a:lnTo>
                  <a:cubicBezTo>
                    <a:pt x="1301964" y="1404298"/>
                    <a:pt x="1299227" y="1410905"/>
                    <a:pt x="1294355" y="1415777"/>
                  </a:cubicBezTo>
                  <a:cubicBezTo>
                    <a:pt x="1289483" y="1420649"/>
                    <a:pt x="1282876" y="1423386"/>
                    <a:pt x="1275986" y="1423386"/>
                  </a:cubicBezTo>
                  <a:lnTo>
                    <a:pt x="25978" y="1423386"/>
                  </a:lnTo>
                  <a:cubicBezTo>
                    <a:pt x="19088" y="1423386"/>
                    <a:pt x="12480" y="1420649"/>
                    <a:pt x="7609" y="1415777"/>
                  </a:cubicBezTo>
                  <a:cubicBezTo>
                    <a:pt x="2737" y="1410905"/>
                    <a:pt x="0" y="1404298"/>
                    <a:pt x="0" y="1397408"/>
                  </a:cubicBezTo>
                  <a:lnTo>
                    <a:pt x="0" y="25978"/>
                  </a:lnTo>
                  <a:cubicBezTo>
                    <a:pt x="0" y="19088"/>
                    <a:pt x="2737" y="12480"/>
                    <a:pt x="7609" y="7609"/>
                  </a:cubicBezTo>
                  <a:cubicBezTo>
                    <a:pt x="12480" y="2737"/>
                    <a:pt x="19088" y="0"/>
                    <a:pt x="25978" y="0"/>
                  </a:cubicBezTo>
                  <a:close/>
                </a:path>
              </a:pathLst>
            </a:custGeom>
            <a:solidFill>
              <a:srgbClr val="022F76">
                <a:alpha val="5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GB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3" name="TextBox 5"/>
            <p:cNvSpPr/>
            <p:nvPr/>
          </p:nvSpPr>
          <p:spPr>
            <a:xfrm>
              <a:off x="11477880" y="3354840"/>
              <a:ext cx="5065920" cy="5649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50760" tIns="50760" rIns="50760" bIns="50760" anchor="ctr">
              <a:noAutofit/>
            </a:bodyPr>
            <a:lstStyle/>
            <a:p>
              <a:pPr algn="ctr" defTabSz="914400">
                <a:lnSpc>
                  <a:spcPts val="2378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334" name="TextBox 6"/>
          <p:cNvSpPr/>
          <p:nvPr/>
        </p:nvSpPr>
        <p:spPr>
          <a:xfrm>
            <a:off x="12120480" y="5040000"/>
            <a:ext cx="3708360" cy="2557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just"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Montserrat"/>
                <a:ea typeface="Montserrat"/>
              </a:rPr>
              <a:t>• Authentification : inscription, connexion, accès non autorisé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Montserrat"/>
                <a:ea typeface="Montserrat"/>
              </a:rPr>
              <a:t>• CRUD livres : création, modification, suppression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Montserrat"/>
                <a:ea typeface="Montserrat"/>
              </a:rPr>
              <a:t>• Admin : accès refusé non-admins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Montserrat"/>
                <a:ea typeface="Montserrat"/>
              </a:rPr>
              <a:t>• Images : upload, extensions, magic bytes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TextBox 7"/>
          <p:cNvSpPr/>
          <p:nvPr/>
        </p:nvSpPr>
        <p:spPr>
          <a:xfrm>
            <a:off x="1304280" y="1989720"/>
            <a:ext cx="12735720" cy="856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6744"/>
              </a:lnSpc>
              <a:tabLst>
                <a:tab pos="0" algn="l"/>
              </a:tabLst>
            </a:pPr>
            <a:r>
              <a:rPr lang="en-US" sz="5370" b="1" u="none" strike="noStrike">
                <a:solidFill>
                  <a:srgbClr val="FFFFFF"/>
                </a:solidFill>
                <a:effectLst/>
                <a:uFillTx/>
                <a:latin typeface="Garet Bold"/>
                <a:ea typeface="Garet Bold"/>
              </a:rPr>
              <a:t>Tests automatisés : stratégie</a:t>
            </a:r>
            <a:endParaRPr lang="en-GB" sz="53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36" name="Group 8"/>
          <p:cNvGrpSpPr/>
          <p:nvPr/>
        </p:nvGrpSpPr>
        <p:grpSpPr>
          <a:xfrm>
            <a:off x="756000" y="3354840"/>
            <a:ext cx="5065920" cy="5649840"/>
            <a:chOff x="756000" y="3354840"/>
            <a:chExt cx="5065920" cy="5649840"/>
          </a:xfrm>
        </p:grpSpPr>
        <p:sp>
          <p:nvSpPr>
            <p:cNvPr id="337" name="Freeform 9"/>
            <p:cNvSpPr/>
            <p:nvPr/>
          </p:nvSpPr>
          <p:spPr>
            <a:xfrm>
              <a:off x="756000" y="3466080"/>
              <a:ext cx="5065920" cy="5538600"/>
            </a:xfrm>
            <a:custGeom>
              <a:avLst/>
              <a:gdLst>
                <a:gd name="textAreaLeft" fmla="*/ 0 w 5065920"/>
                <a:gd name="textAreaRight" fmla="*/ 5066280 w 5065920"/>
                <a:gd name="textAreaTop" fmla="*/ 0 h 5538600"/>
                <a:gd name="textAreaBottom" fmla="*/ 5538960 h 5538600"/>
              </a:gdLst>
              <a:ahLst/>
              <a:cxnLst/>
              <a:rect l="textAreaLeft" t="textAreaTop" r="textAreaRight" b="textAreaBottom"/>
              <a:pathLst>
                <a:path w="1301964" h="1423386">
                  <a:moveTo>
                    <a:pt x="25978" y="0"/>
                  </a:moveTo>
                  <a:lnTo>
                    <a:pt x="1275986" y="0"/>
                  </a:lnTo>
                  <a:cubicBezTo>
                    <a:pt x="1290333" y="0"/>
                    <a:pt x="1301964" y="11631"/>
                    <a:pt x="1301964" y="25978"/>
                  </a:cubicBezTo>
                  <a:lnTo>
                    <a:pt x="1301964" y="1397408"/>
                  </a:lnTo>
                  <a:cubicBezTo>
                    <a:pt x="1301964" y="1404298"/>
                    <a:pt x="1299227" y="1410905"/>
                    <a:pt x="1294355" y="1415777"/>
                  </a:cubicBezTo>
                  <a:cubicBezTo>
                    <a:pt x="1289483" y="1420649"/>
                    <a:pt x="1282876" y="1423386"/>
                    <a:pt x="1275986" y="1423386"/>
                  </a:cubicBezTo>
                  <a:lnTo>
                    <a:pt x="25978" y="1423386"/>
                  </a:lnTo>
                  <a:cubicBezTo>
                    <a:pt x="19088" y="1423386"/>
                    <a:pt x="12480" y="1420649"/>
                    <a:pt x="7609" y="1415777"/>
                  </a:cubicBezTo>
                  <a:cubicBezTo>
                    <a:pt x="2737" y="1410905"/>
                    <a:pt x="0" y="1404298"/>
                    <a:pt x="0" y="1397408"/>
                  </a:cubicBezTo>
                  <a:lnTo>
                    <a:pt x="0" y="25978"/>
                  </a:lnTo>
                  <a:cubicBezTo>
                    <a:pt x="0" y="19088"/>
                    <a:pt x="2737" y="12480"/>
                    <a:pt x="7609" y="7609"/>
                  </a:cubicBezTo>
                  <a:cubicBezTo>
                    <a:pt x="12480" y="2737"/>
                    <a:pt x="19088" y="0"/>
                    <a:pt x="25978" y="0"/>
                  </a:cubicBezTo>
                  <a:close/>
                </a:path>
              </a:pathLst>
            </a:custGeom>
            <a:solidFill>
              <a:srgbClr val="022F76">
                <a:alpha val="5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GB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8" name="TextBox 10"/>
            <p:cNvSpPr/>
            <p:nvPr/>
          </p:nvSpPr>
          <p:spPr>
            <a:xfrm>
              <a:off x="756000" y="3354840"/>
              <a:ext cx="5065920" cy="5649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50760" tIns="50760" rIns="50760" bIns="50760" anchor="ctr">
              <a:noAutofit/>
            </a:bodyPr>
            <a:lstStyle/>
            <a:p>
              <a:pPr algn="ctr" defTabSz="914400">
                <a:lnSpc>
                  <a:spcPts val="2378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grpSp>
        <p:nvGrpSpPr>
          <p:cNvPr id="339" name="Group 11"/>
          <p:cNvGrpSpPr/>
          <p:nvPr/>
        </p:nvGrpSpPr>
        <p:grpSpPr>
          <a:xfrm>
            <a:off x="6116400" y="3354840"/>
            <a:ext cx="5065920" cy="5649840"/>
            <a:chOff x="6116400" y="3354840"/>
            <a:chExt cx="5065920" cy="5649840"/>
          </a:xfrm>
        </p:grpSpPr>
        <p:sp>
          <p:nvSpPr>
            <p:cNvPr id="340" name="Freeform 12"/>
            <p:cNvSpPr/>
            <p:nvPr/>
          </p:nvSpPr>
          <p:spPr>
            <a:xfrm>
              <a:off x="6116400" y="3466080"/>
              <a:ext cx="5065920" cy="5538600"/>
            </a:xfrm>
            <a:custGeom>
              <a:avLst/>
              <a:gdLst>
                <a:gd name="textAreaLeft" fmla="*/ 0 w 5065920"/>
                <a:gd name="textAreaRight" fmla="*/ 5066280 w 5065920"/>
                <a:gd name="textAreaTop" fmla="*/ 0 h 5538600"/>
                <a:gd name="textAreaBottom" fmla="*/ 5538960 h 5538600"/>
              </a:gdLst>
              <a:ahLst/>
              <a:cxnLst/>
              <a:rect l="textAreaLeft" t="textAreaTop" r="textAreaRight" b="textAreaBottom"/>
              <a:pathLst>
                <a:path w="1301964" h="1423386">
                  <a:moveTo>
                    <a:pt x="25978" y="0"/>
                  </a:moveTo>
                  <a:lnTo>
                    <a:pt x="1275986" y="0"/>
                  </a:lnTo>
                  <a:cubicBezTo>
                    <a:pt x="1290333" y="0"/>
                    <a:pt x="1301964" y="11631"/>
                    <a:pt x="1301964" y="25978"/>
                  </a:cubicBezTo>
                  <a:lnTo>
                    <a:pt x="1301964" y="1397408"/>
                  </a:lnTo>
                  <a:cubicBezTo>
                    <a:pt x="1301964" y="1404298"/>
                    <a:pt x="1299227" y="1410905"/>
                    <a:pt x="1294355" y="1415777"/>
                  </a:cubicBezTo>
                  <a:cubicBezTo>
                    <a:pt x="1289483" y="1420649"/>
                    <a:pt x="1282876" y="1423386"/>
                    <a:pt x="1275986" y="1423386"/>
                  </a:cubicBezTo>
                  <a:lnTo>
                    <a:pt x="25978" y="1423386"/>
                  </a:lnTo>
                  <a:cubicBezTo>
                    <a:pt x="19088" y="1423386"/>
                    <a:pt x="12480" y="1420649"/>
                    <a:pt x="7609" y="1415777"/>
                  </a:cubicBezTo>
                  <a:cubicBezTo>
                    <a:pt x="2737" y="1410905"/>
                    <a:pt x="0" y="1404298"/>
                    <a:pt x="0" y="1397408"/>
                  </a:cubicBezTo>
                  <a:lnTo>
                    <a:pt x="0" y="25978"/>
                  </a:lnTo>
                  <a:cubicBezTo>
                    <a:pt x="0" y="19088"/>
                    <a:pt x="2737" y="12480"/>
                    <a:pt x="7609" y="7609"/>
                  </a:cubicBezTo>
                  <a:cubicBezTo>
                    <a:pt x="12480" y="2737"/>
                    <a:pt x="19088" y="0"/>
                    <a:pt x="25978" y="0"/>
                  </a:cubicBezTo>
                  <a:close/>
                </a:path>
              </a:pathLst>
            </a:custGeom>
            <a:solidFill>
              <a:srgbClr val="022F76">
                <a:alpha val="5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GB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1" name="TextBox 13"/>
            <p:cNvSpPr/>
            <p:nvPr/>
          </p:nvSpPr>
          <p:spPr>
            <a:xfrm>
              <a:off x="6116400" y="3354840"/>
              <a:ext cx="5065920" cy="5649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50760" tIns="50760" rIns="50760" bIns="50760" anchor="ctr">
              <a:noAutofit/>
            </a:bodyPr>
            <a:lstStyle/>
            <a:p>
              <a:pPr algn="ctr" defTabSz="914400">
                <a:lnSpc>
                  <a:spcPts val="2378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342" name="TextBox 14"/>
          <p:cNvSpPr/>
          <p:nvPr/>
        </p:nvSpPr>
        <p:spPr>
          <a:xfrm>
            <a:off x="1389960" y="4188960"/>
            <a:ext cx="2494440" cy="394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3161"/>
              </a:lnSpc>
              <a:tabLst>
                <a:tab pos="0" algn="l"/>
              </a:tabLst>
            </a:pPr>
            <a:r>
              <a:rPr lang="en-US" sz="2540" b="1" u="none" strike="noStrike">
                <a:solidFill>
                  <a:srgbClr val="FFFFFF"/>
                </a:solidFill>
                <a:effectLst/>
                <a:uFillTx/>
                <a:latin typeface="Garet Bold"/>
                <a:ea typeface="Garet Bold"/>
              </a:rPr>
              <a:t>Frameworks</a:t>
            </a:r>
            <a:endParaRPr lang="en-GB" sz="25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TextBox 15"/>
          <p:cNvSpPr/>
          <p:nvPr/>
        </p:nvSpPr>
        <p:spPr>
          <a:xfrm>
            <a:off x="12120480" y="4188960"/>
            <a:ext cx="3708360" cy="394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3161"/>
              </a:lnSpc>
              <a:tabLst>
                <a:tab pos="0" algn="l"/>
              </a:tabLst>
            </a:pPr>
            <a:r>
              <a:rPr lang="en-US" sz="2540" b="1" u="none" strike="noStrike">
                <a:solidFill>
                  <a:srgbClr val="FFFFFF"/>
                </a:solidFill>
                <a:effectLst/>
                <a:uFillTx/>
                <a:latin typeface="Garet Bold"/>
                <a:ea typeface="Garet Bold"/>
              </a:rPr>
              <a:t>Tests principaux</a:t>
            </a:r>
            <a:endParaRPr lang="en-GB" sz="25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TextBox 16"/>
          <p:cNvSpPr/>
          <p:nvPr/>
        </p:nvSpPr>
        <p:spPr>
          <a:xfrm>
            <a:off x="6750720" y="4188960"/>
            <a:ext cx="3708360" cy="394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3161"/>
              </a:lnSpc>
              <a:tabLst>
                <a:tab pos="0" algn="l"/>
              </a:tabLst>
            </a:pPr>
            <a:r>
              <a:rPr lang="en-US" sz="2540" b="1" u="none" strike="noStrike">
                <a:solidFill>
                  <a:srgbClr val="FFFFFF"/>
                </a:solidFill>
                <a:effectLst/>
                <a:uFillTx/>
                <a:latin typeface="Garet Bold"/>
                <a:ea typeface="Garet Bold"/>
              </a:rPr>
              <a:t>Philosophie</a:t>
            </a:r>
            <a:endParaRPr lang="en-GB" sz="25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TextBox 17"/>
          <p:cNvSpPr/>
          <p:nvPr/>
        </p:nvSpPr>
        <p:spPr>
          <a:xfrm>
            <a:off x="1389960" y="5073840"/>
            <a:ext cx="3708360" cy="182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just"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Montserrat"/>
                <a:ea typeface="Montserrat"/>
              </a:rPr>
              <a:t>• pytest : framework de test Python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Montserrat"/>
                <a:ea typeface="Montserrat"/>
              </a:rPr>
              <a:t>• pytest-cov : couverture de code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Montserrat"/>
                <a:ea typeface="Montserrat"/>
              </a:rPr>
              <a:t>• Base de données en mémoire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Montserrat"/>
                <a:ea typeface="Montserrat"/>
              </a:rPr>
              <a:t>• Isolation totale des tests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Montserrat"/>
                <a:ea typeface="Montserrat"/>
              </a:rPr>
              <a:t>• Exécution rapide et fiable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TextBox 18"/>
          <p:cNvSpPr/>
          <p:nvPr/>
        </p:nvSpPr>
        <p:spPr>
          <a:xfrm>
            <a:off x="6750720" y="5073840"/>
            <a:ext cx="3708360" cy="182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just"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Montserrat"/>
                <a:ea typeface="Montserrat"/>
              </a:rPr>
              <a:t>• Tests écrits avant merge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Montserrat"/>
                <a:ea typeface="Montserrat"/>
              </a:rPr>
              <a:t>• Chaque fonctionnalité = tests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Montserrat"/>
                <a:ea typeface="Montserrat"/>
              </a:rPr>
              <a:t>• Pas de merge sans tests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Montserrat"/>
                <a:ea typeface="Montserrat"/>
              </a:rPr>
              <a:t>• Base en mémoire pour isolation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Montserrat"/>
                <a:ea typeface="Montserrat"/>
              </a:rPr>
              <a:t>• Reproductibilité garantie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Freeform 2"/>
          <p:cNvSpPr/>
          <p:nvPr/>
        </p:nvSpPr>
        <p:spPr>
          <a:xfrm>
            <a:off x="0" y="0"/>
            <a:ext cx="18287640" cy="10286640"/>
          </a:xfrm>
          <a:custGeom>
            <a:avLst/>
            <a:gdLst>
              <a:gd name="textAreaLeft" fmla="*/ 0 w 18287640"/>
              <a:gd name="textAreaRight" fmla="*/ 18288000 w 18287640"/>
              <a:gd name="textAreaTop" fmla="*/ 0 h 10286640"/>
              <a:gd name="textAreaBottom" fmla="*/ 10287000 h 10286640"/>
            </a:gdLst>
            <a:ahLst/>
            <a:cxnLst/>
            <a:rect l="textAreaLeft" t="textAreaTop" r="textAreaRight" b="textAreaBottom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TextBox 3"/>
          <p:cNvSpPr/>
          <p:nvPr/>
        </p:nvSpPr>
        <p:spPr>
          <a:xfrm>
            <a:off x="1101240" y="1037880"/>
            <a:ext cx="10723680" cy="183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7231"/>
              </a:lnSpc>
              <a:tabLst>
                <a:tab pos="0" algn="l"/>
              </a:tabLst>
            </a:pPr>
            <a:r>
              <a:rPr lang="en-US" sz="6400" b="1" u="none" strike="noStrike">
                <a:solidFill>
                  <a:srgbClr val="FFFFFF"/>
                </a:solidFill>
                <a:effectLst/>
                <a:uFillTx/>
                <a:latin typeface="Garet Bold"/>
                <a:ea typeface="Garet Bold"/>
              </a:rPr>
              <a:t>Tests automatisés : résultats</a:t>
            </a:r>
            <a:endParaRPr lang="en-GB" sz="6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49" name="Picture 4"/>
          <p:cNvPicPr/>
          <p:nvPr/>
        </p:nvPicPr>
        <p:blipFill>
          <a:blip r:embed="rId3"/>
          <a:srcRect b="26381"/>
          <a:stretch/>
        </p:blipFill>
        <p:spPr>
          <a:xfrm>
            <a:off x="13325760" y="2071800"/>
            <a:ext cx="4373640" cy="2967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50" name="Picture 5"/>
          <p:cNvPicPr/>
          <p:nvPr/>
        </p:nvPicPr>
        <p:blipFill>
          <a:blip r:embed="rId4"/>
          <a:srcRect b="14479"/>
          <a:stretch/>
        </p:blipFill>
        <p:spPr>
          <a:xfrm>
            <a:off x="9010080" y="4348080"/>
            <a:ext cx="4579920" cy="465156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351" name="Group 6"/>
          <p:cNvGrpSpPr/>
          <p:nvPr/>
        </p:nvGrpSpPr>
        <p:grpSpPr>
          <a:xfrm>
            <a:off x="756000" y="2933280"/>
            <a:ext cx="8387640" cy="6889320"/>
            <a:chOff x="756000" y="2933280"/>
            <a:chExt cx="8387640" cy="6889320"/>
          </a:xfrm>
        </p:grpSpPr>
        <p:sp>
          <p:nvSpPr>
            <p:cNvPr id="352" name="Freeform 7"/>
            <p:cNvSpPr/>
            <p:nvPr/>
          </p:nvSpPr>
          <p:spPr>
            <a:xfrm>
              <a:off x="756000" y="3044520"/>
              <a:ext cx="8387640" cy="6778080"/>
            </a:xfrm>
            <a:custGeom>
              <a:avLst/>
              <a:gdLst>
                <a:gd name="textAreaLeft" fmla="*/ 0 w 8387640"/>
                <a:gd name="textAreaRight" fmla="*/ 8388000 w 8387640"/>
                <a:gd name="textAreaTop" fmla="*/ 0 h 6778080"/>
                <a:gd name="textAreaBottom" fmla="*/ 6778440 h 6778080"/>
              </a:gdLst>
              <a:ahLst/>
              <a:cxnLst/>
              <a:rect l="textAreaLeft" t="textAreaTop" r="textAreaRight" b="textAreaBottom"/>
              <a:pathLst>
                <a:path w="2155548" h="1741887">
                  <a:moveTo>
                    <a:pt x="15691" y="0"/>
                  </a:moveTo>
                  <a:lnTo>
                    <a:pt x="2139857" y="0"/>
                  </a:lnTo>
                  <a:cubicBezTo>
                    <a:pt x="2144019" y="0"/>
                    <a:pt x="2148010" y="1653"/>
                    <a:pt x="2150952" y="4596"/>
                  </a:cubicBezTo>
                  <a:cubicBezTo>
                    <a:pt x="2153895" y="7538"/>
                    <a:pt x="2155548" y="11529"/>
                    <a:pt x="2155548" y="15691"/>
                  </a:cubicBezTo>
                  <a:lnTo>
                    <a:pt x="2155548" y="1726197"/>
                  </a:lnTo>
                  <a:cubicBezTo>
                    <a:pt x="2155548" y="1734862"/>
                    <a:pt x="2148523" y="1741887"/>
                    <a:pt x="2139857" y="1741887"/>
                  </a:cubicBezTo>
                  <a:lnTo>
                    <a:pt x="15691" y="1741887"/>
                  </a:lnTo>
                  <a:cubicBezTo>
                    <a:pt x="11529" y="1741887"/>
                    <a:pt x="7538" y="1740234"/>
                    <a:pt x="4596" y="1737292"/>
                  </a:cubicBezTo>
                  <a:cubicBezTo>
                    <a:pt x="1653" y="1734349"/>
                    <a:pt x="0" y="1730358"/>
                    <a:pt x="0" y="1726197"/>
                  </a:cubicBezTo>
                  <a:lnTo>
                    <a:pt x="0" y="15691"/>
                  </a:lnTo>
                  <a:cubicBezTo>
                    <a:pt x="0" y="11529"/>
                    <a:pt x="1653" y="7538"/>
                    <a:pt x="4596" y="4596"/>
                  </a:cubicBezTo>
                  <a:cubicBezTo>
                    <a:pt x="7538" y="1653"/>
                    <a:pt x="11529" y="0"/>
                    <a:pt x="15691" y="0"/>
                  </a:cubicBezTo>
                  <a:close/>
                </a:path>
              </a:pathLst>
            </a:custGeom>
            <a:solidFill>
              <a:srgbClr val="022F76">
                <a:alpha val="5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GB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3" name="TextBox 8"/>
            <p:cNvSpPr/>
            <p:nvPr/>
          </p:nvSpPr>
          <p:spPr>
            <a:xfrm>
              <a:off x="756000" y="2933280"/>
              <a:ext cx="8387640" cy="6888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50760" tIns="50760" rIns="50760" bIns="50760" anchor="ctr">
              <a:noAutofit/>
            </a:bodyPr>
            <a:lstStyle/>
            <a:p>
              <a:pPr algn="ctr" defTabSz="914400">
                <a:lnSpc>
                  <a:spcPts val="2378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354" name="TextBox 9"/>
          <p:cNvSpPr/>
          <p:nvPr/>
        </p:nvSpPr>
        <p:spPr>
          <a:xfrm>
            <a:off x="1101240" y="3367440"/>
            <a:ext cx="7556760" cy="104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just" defTabSz="914400">
              <a:lnSpc>
                <a:spcPts val="2741"/>
              </a:lnSpc>
              <a:tabLst>
                <a:tab pos="0" algn="l"/>
              </a:tabLst>
            </a:pPr>
            <a:r>
              <a:rPr lang="en-US" sz="1600" b="0" u="none" strike="noStrike" spc="20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92 tests réalisés avec 0 échec et 0 régression. Couverture complète sur : authentification, livres, réservations, admin, images. Tests rapides exécutés en quelques secondes.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TextBox 10"/>
          <p:cNvSpPr/>
          <p:nvPr/>
        </p:nvSpPr>
        <p:spPr>
          <a:xfrm>
            <a:off x="1101240" y="5370120"/>
            <a:ext cx="7556760" cy="104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just" defTabSz="914400">
              <a:lnSpc>
                <a:spcPts val="2741"/>
              </a:lnSpc>
              <a:tabLst>
                <a:tab pos="0" algn="l"/>
              </a:tabLst>
            </a:pPr>
            <a:r>
              <a:rPr lang="en-US" sz="1600" b="0" u="none" strike="noStrike" spc="20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Tests relancés automatiquement à chaque Pull Request. En cas d'échec, le merge est bloqué — garantissant la qualité du code sur la branche main.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TextBox 11"/>
          <p:cNvSpPr/>
          <p:nvPr/>
        </p:nvSpPr>
        <p:spPr>
          <a:xfrm>
            <a:off x="1101240" y="7372800"/>
            <a:ext cx="7556760" cy="695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just" defTabSz="914400">
              <a:lnSpc>
                <a:spcPts val="2741"/>
              </a:lnSpc>
              <a:tabLst>
                <a:tab pos="0" algn="l"/>
              </a:tabLst>
            </a:pPr>
            <a:r>
              <a:rPr lang="en-US" sz="1600" b="0" u="none" strike="noStrike" spc="20">
                <a:solidFill>
                  <a:srgbClr val="FFFFFF"/>
                </a:solidFill>
                <a:effectLst/>
                <a:uFillTx/>
                <a:latin typeface="Montserrat Light"/>
                <a:ea typeface="Montserrat Light"/>
              </a:rPr>
              <a:t>Résultat : une base de code stable, fiable et maintenable. Chaque fonctionnalité est validée avant intégration, éliminant les régressions.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Freeform 2"/>
          <p:cNvSpPr/>
          <p:nvPr/>
        </p:nvSpPr>
        <p:spPr>
          <a:xfrm>
            <a:off x="0" y="0"/>
            <a:ext cx="18287640" cy="10286640"/>
          </a:xfrm>
          <a:custGeom>
            <a:avLst/>
            <a:gdLst>
              <a:gd name="textAreaLeft" fmla="*/ 0 w 18287640"/>
              <a:gd name="textAreaRight" fmla="*/ 18288000 w 18287640"/>
              <a:gd name="textAreaTop" fmla="*/ 0 h 10286640"/>
              <a:gd name="textAreaBottom" fmla="*/ 10287000 h 10286640"/>
            </a:gdLst>
            <a:ahLst/>
            <a:cxnLst/>
            <a:rect l="textAreaLeft" t="textAreaTop" r="textAreaRight" b="textAreaBottom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58" name="Group 3"/>
          <p:cNvGrpSpPr/>
          <p:nvPr/>
        </p:nvGrpSpPr>
        <p:grpSpPr>
          <a:xfrm>
            <a:off x="1007640" y="3546000"/>
            <a:ext cx="3813840" cy="4137840"/>
            <a:chOff x="1007640" y="3546000"/>
            <a:chExt cx="3813840" cy="4137840"/>
          </a:xfrm>
        </p:grpSpPr>
        <p:sp>
          <p:nvSpPr>
            <p:cNvPr id="359" name="Freeform 4"/>
            <p:cNvSpPr/>
            <p:nvPr/>
          </p:nvSpPr>
          <p:spPr>
            <a:xfrm>
              <a:off x="1007640" y="3657240"/>
              <a:ext cx="3813840" cy="4026600"/>
            </a:xfrm>
            <a:custGeom>
              <a:avLst/>
              <a:gdLst>
                <a:gd name="textAreaLeft" fmla="*/ 0 w 3813840"/>
                <a:gd name="textAreaRight" fmla="*/ 3814200 w 3813840"/>
                <a:gd name="textAreaTop" fmla="*/ 0 h 4026600"/>
                <a:gd name="textAreaBottom" fmla="*/ 4026960 h 4026600"/>
              </a:gdLst>
              <a:ahLst/>
              <a:cxnLst/>
              <a:rect l="textAreaLeft" t="textAreaTop" r="textAreaRight" b="textAreaBottom"/>
              <a:pathLst>
                <a:path w="980199" h="1034814">
                  <a:moveTo>
                    <a:pt x="34505" y="0"/>
                  </a:moveTo>
                  <a:lnTo>
                    <a:pt x="945694" y="0"/>
                  </a:lnTo>
                  <a:cubicBezTo>
                    <a:pt x="964751" y="0"/>
                    <a:pt x="980199" y="15448"/>
                    <a:pt x="980199" y="34505"/>
                  </a:cubicBezTo>
                  <a:lnTo>
                    <a:pt x="980199" y="1000309"/>
                  </a:lnTo>
                  <a:cubicBezTo>
                    <a:pt x="980199" y="1009460"/>
                    <a:pt x="976564" y="1018237"/>
                    <a:pt x="970093" y="1024708"/>
                  </a:cubicBezTo>
                  <a:cubicBezTo>
                    <a:pt x="963622" y="1031179"/>
                    <a:pt x="954846" y="1034814"/>
                    <a:pt x="945694" y="1034814"/>
                  </a:cubicBezTo>
                  <a:lnTo>
                    <a:pt x="34505" y="1034814"/>
                  </a:lnTo>
                  <a:cubicBezTo>
                    <a:pt x="15448" y="1034814"/>
                    <a:pt x="0" y="1019365"/>
                    <a:pt x="0" y="1000309"/>
                  </a:cubicBezTo>
                  <a:lnTo>
                    <a:pt x="0" y="34505"/>
                  </a:lnTo>
                  <a:cubicBezTo>
                    <a:pt x="0" y="15448"/>
                    <a:pt x="15448" y="0"/>
                    <a:pt x="34505" y="0"/>
                  </a:cubicBezTo>
                  <a:close/>
                </a:path>
              </a:pathLst>
            </a:custGeom>
            <a:solidFill>
              <a:srgbClr val="022F76">
                <a:alpha val="5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GB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0" name="TextBox 5"/>
            <p:cNvSpPr/>
            <p:nvPr/>
          </p:nvSpPr>
          <p:spPr>
            <a:xfrm>
              <a:off x="1007640" y="3546000"/>
              <a:ext cx="3813840" cy="4137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50760" tIns="50760" rIns="50760" bIns="50760" anchor="ctr">
              <a:noAutofit/>
            </a:bodyPr>
            <a:lstStyle/>
            <a:p>
              <a:pPr algn="ctr" defTabSz="914400">
                <a:lnSpc>
                  <a:spcPts val="2378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361" name="TextBox 6"/>
          <p:cNvSpPr/>
          <p:nvPr/>
        </p:nvSpPr>
        <p:spPr>
          <a:xfrm>
            <a:off x="1459440" y="5400000"/>
            <a:ext cx="2910240" cy="189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Montserrat"/>
                <a:ea typeface="Montserrat"/>
              </a:rPr>
              <a:t>Navigation depuis la page d'accueil vers le catalogue complet des livres. Affichage des miniatures, recherche et filtres par disponibilité.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TextBox 7"/>
          <p:cNvSpPr/>
          <p:nvPr/>
        </p:nvSpPr>
        <p:spPr>
          <a:xfrm>
            <a:off x="1258560" y="4801680"/>
            <a:ext cx="3312720" cy="33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2710"/>
              </a:lnSpc>
              <a:tabLst>
                <a:tab pos="0" algn="l"/>
              </a:tabLst>
            </a:pPr>
            <a:r>
              <a:rPr lang="en-US" sz="1940" b="1" u="none" strike="noStrike">
                <a:solidFill>
                  <a:srgbClr val="FFFFFF"/>
                </a:solidFill>
                <a:effectLst/>
                <a:uFillTx/>
                <a:latin typeface="Garet Bold"/>
                <a:ea typeface="Garet Bold"/>
              </a:rPr>
              <a:t>Accueil &amp; Catalogue</a:t>
            </a:r>
            <a:endParaRPr lang="en-GB" sz="19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TextBox 8"/>
          <p:cNvSpPr/>
          <p:nvPr/>
        </p:nvSpPr>
        <p:spPr>
          <a:xfrm>
            <a:off x="2394000" y="3925440"/>
            <a:ext cx="1041480" cy="60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5017"/>
              </a:lnSpc>
              <a:tabLst>
                <a:tab pos="0" algn="l"/>
              </a:tabLst>
            </a:pPr>
            <a:r>
              <a:rPr lang="en-US" sz="3590" b="1" u="none" strike="noStrike">
                <a:solidFill>
                  <a:srgbClr val="FFFFFF"/>
                </a:solidFill>
                <a:effectLst/>
                <a:uFillTx/>
                <a:latin typeface="Garet Bold"/>
                <a:ea typeface="Garet Bold"/>
              </a:rPr>
              <a:t>01</a:t>
            </a:r>
            <a:endParaRPr lang="en-GB" sz="35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64" name="Group 9"/>
          <p:cNvGrpSpPr/>
          <p:nvPr/>
        </p:nvGrpSpPr>
        <p:grpSpPr>
          <a:xfrm>
            <a:off x="13465800" y="3546000"/>
            <a:ext cx="3813840" cy="4137840"/>
            <a:chOff x="13465800" y="3546000"/>
            <a:chExt cx="3813840" cy="4137840"/>
          </a:xfrm>
        </p:grpSpPr>
        <p:sp>
          <p:nvSpPr>
            <p:cNvPr id="365" name="Freeform 10"/>
            <p:cNvSpPr/>
            <p:nvPr/>
          </p:nvSpPr>
          <p:spPr>
            <a:xfrm>
              <a:off x="13465800" y="3657240"/>
              <a:ext cx="3813840" cy="4026600"/>
            </a:xfrm>
            <a:custGeom>
              <a:avLst/>
              <a:gdLst>
                <a:gd name="textAreaLeft" fmla="*/ 0 w 3813840"/>
                <a:gd name="textAreaRight" fmla="*/ 3814200 w 3813840"/>
                <a:gd name="textAreaTop" fmla="*/ 0 h 4026600"/>
                <a:gd name="textAreaBottom" fmla="*/ 4026960 h 4026600"/>
              </a:gdLst>
              <a:ahLst/>
              <a:cxnLst/>
              <a:rect l="textAreaLeft" t="textAreaTop" r="textAreaRight" b="textAreaBottom"/>
              <a:pathLst>
                <a:path w="980199" h="1034814">
                  <a:moveTo>
                    <a:pt x="34505" y="0"/>
                  </a:moveTo>
                  <a:lnTo>
                    <a:pt x="945694" y="0"/>
                  </a:lnTo>
                  <a:cubicBezTo>
                    <a:pt x="964751" y="0"/>
                    <a:pt x="980199" y="15448"/>
                    <a:pt x="980199" y="34505"/>
                  </a:cubicBezTo>
                  <a:lnTo>
                    <a:pt x="980199" y="1000309"/>
                  </a:lnTo>
                  <a:cubicBezTo>
                    <a:pt x="980199" y="1009460"/>
                    <a:pt x="976564" y="1018237"/>
                    <a:pt x="970093" y="1024708"/>
                  </a:cubicBezTo>
                  <a:cubicBezTo>
                    <a:pt x="963622" y="1031179"/>
                    <a:pt x="954846" y="1034814"/>
                    <a:pt x="945694" y="1034814"/>
                  </a:cubicBezTo>
                  <a:lnTo>
                    <a:pt x="34505" y="1034814"/>
                  </a:lnTo>
                  <a:cubicBezTo>
                    <a:pt x="15448" y="1034814"/>
                    <a:pt x="0" y="1019365"/>
                    <a:pt x="0" y="1000309"/>
                  </a:cubicBezTo>
                  <a:lnTo>
                    <a:pt x="0" y="34505"/>
                  </a:lnTo>
                  <a:cubicBezTo>
                    <a:pt x="0" y="15448"/>
                    <a:pt x="15448" y="0"/>
                    <a:pt x="34505" y="0"/>
                  </a:cubicBezTo>
                  <a:close/>
                </a:path>
              </a:pathLst>
            </a:custGeom>
            <a:solidFill>
              <a:srgbClr val="022F76">
                <a:alpha val="5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GB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6" name="TextBox 11"/>
            <p:cNvSpPr/>
            <p:nvPr/>
          </p:nvSpPr>
          <p:spPr>
            <a:xfrm>
              <a:off x="13465800" y="3546000"/>
              <a:ext cx="3813840" cy="4137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50760" tIns="50760" rIns="50760" bIns="50760" anchor="ctr">
              <a:noAutofit/>
            </a:bodyPr>
            <a:lstStyle/>
            <a:p>
              <a:pPr algn="ctr" defTabSz="914400">
                <a:lnSpc>
                  <a:spcPts val="2378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367" name="TextBox 12"/>
          <p:cNvSpPr/>
          <p:nvPr/>
        </p:nvSpPr>
        <p:spPr>
          <a:xfrm>
            <a:off x="13917960" y="5339880"/>
            <a:ext cx="2910240" cy="168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Montserrat"/>
                <a:ea typeface="Montserrat"/>
              </a:rPr>
              <a:t>Accès au dashboard administrateur. Gestion des utilisateurs : promotion/rétrogradation des rôles admin et suppression de comptes.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</p:txBody>
      </p:sp>
      <p:sp>
        <p:nvSpPr>
          <p:cNvPr id="368" name="TextBox 13"/>
          <p:cNvSpPr/>
          <p:nvPr/>
        </p:nvSpPr>
        <p:spPr>
          <a:xfrm>
            <a:off x="14220000" y="4785120"/>
            <a:ext cx="2374560" cy="343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2710"/>
              </a:lnSpc>
              <a:tabLst>
                <a:tab pos="0" algn="l"/>
              </a:tabLst>
            </a:pPr>
            <a:r>
              <a:rPr lang="en-US" sz="1940" b="1" u="none" strike="noStrike">
                <a:solidFill>
                  <a:srgbClr val="FFFFFF"/>
                </a:solidFill>
                <a:effectLst/>
                <a:uFillTx/>
                <a:latin typeface="Garet Bold"/>
                <a:ea typeface="Garet Bold"/>
              </a:rPr>
              <a:t>Panneau Admin</a:t>
            </a:r>
            <a:endParaRPr lang="en-GB" sz="19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TextBox 14"/>
          <p:cNvSpPr/>
          <p:nvPr/>
        </p:nvSpPr>
        <p:spPr>
          <a:xfrm>
            <a:off x="14852160" y="3965400"/>
            <a:ext cx="1041480" cy="60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5017"/>
              </a:lnSpc>
              <a:tabLst>
                <a:tab pos="0" algn="l"/>
              </a:tabLst>
            </a:pPr>
            <a:r>
              <a:rPr lang="en-US" sz="3590" b="1" u="none" strike="noStrike">
                <a:solidFill>
                  <a:srgbClr val="FFFFFF"/>
                </a:solidFill>
                <a:effectLst/>
                <a:uFillTx/>
                <a:latin typeface="Garet Bold"/>
                <a:ea typeface="Garet Bold"/>
              </a:rPr>
              <a:t>04</a:t>
            </a:r>
            <a:endParaRPr lang="en-GB" sz="35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70" name="Group 15"/>
          <p:cNvGrpSpPr/>
          <p:nvPr/>
        </p:nvGrpSpPr>
        <p:grpSpPr>
          <a:xfrm>
            <a:off x="9313200" y="3546000"/>
            <a:ext cx="3813840" cy="4137840"/>
            <a:chOff x="9313200" y="3546000"/>
            <a:chExt cx="3813840" cy="4137840"/>
          </a:xfrm>
        </p:grpSpPr>
        <p:sp>
          <p:nvSpPr>
            <p:cNvPr id="371" name="Freeform 16"/>
            <p:cNvSpPr/>
            <p:nvPr/>
          </p:nvSpPr>
          <p:spPr>
            <a:xfrm>
              <a:off x="9313200" y="3657240"/>
              <a:ext cx="3813840" cy="4026600"/>
            </a:xfrm>
            <a:custGeom>
              <a:avLst/>
              <a:gdLst>
                <a:gd name="textAreaLeft" fmla="*/ 0 w 3813840"/>
                <a:gd name="textAreaRight" fmla="*/ 3814200 w 3813840"/>
                <a:gd name="textAreaTop" fmla="*/ 0 h 4026600"/>
                <a:gd name="textAreaBottom" fmla="*/ 4026960 h 4026600"/>
              </a:gdLst>
              <a:ahLst/>
              <a:cxnLst/>
              <a:rect l="textAreaLeft" t="textAreaTop" r="textAreaRight" b="textAreaBottom"/>
              <a:pathLst>
                <a:path w="980199" h="1034814">
                  <a:moveTo>
                    <a:pt x="34505" y="0"/>
                  </a:moveTo>
                  <a:lnTo>
                    <a:pt x="945694" y="0"/>
                  </a:lnTo>
                  <a:cubicBezTo>
                    <a:pt x="964751" y="0"/>
                    <a:pt x="980199" y="15448"/>
                    <a:pt x="980199" y="34505"/>
                  </a:cubicBezTo>
                  <a:lnTo>
                    <a:pt x="980199" y="1000309"/>
                  </a:lnTo>
                  <a:cubicBezTo>
                    <a:pt x="980199" y="1009460"/>
                    <a:pt x="976564" y="1018237"/>
                    <a:pt x="970093" y="1024708"/>
                  </a:cubicBezTo>
                  <a:cubicBezTo>
                    <a:pt x="963622" y="1031179"/>
                    <a:pt x="954846" y="1034814"/>
                    <a:pt x="945694" y="1034814"/>
                  </a:cubicBezTo>
                  <a:lnTo>
                    <a:pt x="34505" y="1034814"/>
                  </a:lnTo>
                  <a:cubicBezTo>
                    <a:pt x="15448" y="1034814"/>
                    <a:pt x="0" y="1019365"/>
                    <a:pt x="0" y="1000309"/>
                  </a:cubicBezTo>
                  <a:lnTo>
                    <a:pt x="0" y="34505"/>
                  </a:lnTo>
                  <a:cubicBezTo>
                    <a:pt x="0" y="15448"/>
                    <a:pt x="15448" y="0"/>
                    <a:pt x="34505" y="0"/>
                  </a:cubicBezTo>
                  <a:close/>
                </a:path>
              </a:pathLst>
            </a:custGeom>
            <a:solidFill>
              <a:srgbClr val="022F76">
                <a:alpha val="5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GB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2" name="TextBox 17"/>
            <p:cNvSpPr/>
            <p:nvPr/>
          </p:nvSpPr>
          <p:spPr>
            <a:xfrm>
              <a:off x="9313200" y="3546000"/>
              <a:ext cx="3813840" cy="4137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50760" tIns="50760" rIns="50760" bIns="50760" anchor="ctr">
              <a:noAutofit/>
            </a:bodyPr>
            <a:lstStyle/>
            <a:p>
              <a:pPr algn="ctr" defTabSz="914400">
                <a:lnSpc>
                  <a:spcPts val="2378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373" name="TextBox 18"/>
          <p:cNvSpPr/>
          <p:nvPr/>
        </p:nvSpPr>
        <p:spPr>
          <a:xfrm>
            <a:off x="9765000" y="5367960"/>
            <a:ext cx="2910240" cy="1680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Montserrat"/>
                <a:ea typeface="Montserrat"/>
              </a:rPr>
              <a:t>Création d'un nouveau livre avec upload d'image de couverture. Validation des champs, vérification magic bytes et génération UUID du fichier.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TextBox 19"/>
          <p:cNvSpPr/>
          <p:nvPr/>
        </p:nvSpPr>
        <p:spPr>
          <a:xfrm>
            <a:off x="10108800" y="4801680"/>
            <a:ext cx="2222640" cy="33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2710"/>
              </a:lnSpc>
              <a:tabLst>
                <a:tab pos="0" algn="l"/>
              </a:tabLst>
            </a:pPr>
            <a:r>
              <a:rPr lang="en-US" sz="1940" b="1" u="none" strike="noStrike">
                <a:solidFill>
                  <a:srgbClr val="FFFFFF"/>
                </a:solidFill>
                <a:effectLst/>
                <a:uFillTx/>
                <a:latin typeface="Garet Bold"/>
                <a:ea typeface="Garet Bold"/>
              </a:rPr>
              <a:t>Ajout de Livre</a:t>
            </a:r>
            <a:endParaRPr lang="en-GB" sz="19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TextBox 20"/>
          <p:cNvSpPr/>
          <p:nvPr/>
        </p:nvSpPr>
        <p:spPr>
          <a:xfrm>
            <a:off x="10699560" y="3914640"/>
            <a:ext cx="1041480" cy="60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5017"/>
              </a:lnSpc>
              <a:tabLst>
                <a:tab pos="0" algn="l"/>
              </a:tabLst>
            </a:pPr>
            <a:r>
              <a:rPr lang="en-US" sz="3590" b="1" u="none" strike="noStrike">
                <a:solidFill>
                  <a:srgbClr val="FFFFFF"/>
                </a:solidFill>
                <a:effectLst/>
                <a:uFillTx/>
                <a:latin typeface="Garet Bold"/>
                <a:ea typeface="Garet Bold"/>
              </a:rPr>
              <a:t>03</a:t>
            </a:r>
            <a:endParaRPr lang="en-GB" sz="35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76" name="Group 21"/>
          <p:cNvGrpSpPr/>
          <p:nvPr/>
        </p:nvGrpSpPr>
        <p:grpSpPr>
          <a:xfrm>
            <a:off x="5160600" y="3546000"/>
            <a:ext cx="3813840" cy="4137840"/>
            <a:chOff x="5160600" y="3546000"/>
            <a:chExt cx="3813840" cy="4137840"/>
          </a:xfrm>
        </p:grpSpPr>
        <p:sp>
          <p:nvSpPr>
            <p:cNvPr id="377" name="Freeform 22"/>
            <p:cNvSpPr/>
            <p:nvPr/>
          </p:nvSpPr>
          <p:spPr>
            <a:xfrm>
              <a:off x="5160600" y="3657240"/>
              <a:ext cx="3813840" cy="4026600"/>
            </a:xfrm>
            <a:custGeom>
              <a:avLst/>
              <a:gdLst>
                <a:gd name="textAreaLeft" fmla="*/ 0 w 3813840"/>
                <a:gd name="textAreaRight" fmla="*/ 3814200 w 3813840"/>
                <a:gd name="textAreaTop" fmla="*/ 0 h 4026600"/>
                <a:gd name="textAreaBottom" fmla="*/ 4026960 h 4026600"/>
              </a:gdLst>
              <a:ahLst/>
              <a:cxnLst/>
              <a:rect l="textAreaLeft" t="textAreaTop" r="textAreaRight" b="textAreaBottom"/>
              <a:pathLst>
                <a:path w="980199" h="1034814">
                  <a:moveTo>
                    <a:pt x="34505" y="0"/>
                  </a:moveTo>
                  <a:lnTo>
                    <a:pt x="945694" y="0"/>
                  </a:lnTo>
                  <a:cubicBezTo>
                    <a:pt x="964751" y="0"/>
                    <a:pt x="980199" y="15448"/>
                    <a:pt x="980199" y="34505"/>
                  </a:cubicBezTo>
                  <a:lnTo>
                    <a:pt x="980199" y="1000309"/>
                  </a:lnTo>
                  <a:cubicBezTo>
                    <a:pt x="980199" y="1009460"/>
                    <a:pt x="976564" y="1018237"/>
                    <a:pt x="970093" y="1024708"/>
                  </a:cubicBezTo>
                  <a:cubicBezTo>
                    <a:pt x="963622" y="1031179"/>
                    <a:pt x="954846" y="1034814"/>
                    <a:pt x="945694" y="1034814"/>
                  </a:cubicBezTo>
                  <a:lnTo>
                    <a:pt x="34505" y="1034814"/>
                  </a:lnTo>
                  <a:cubicBezTo>
                    <a:pt x="15448" y="1034814"/>
                    <a:pt x="0" y="1019365"/>
                    <a:pt x="0" y="1000309"/>
                  </a:cubicBezTo>
                  <a:lnTo>
                    <a:pt x="0" y="34505"/>
                  </a:lnTo>
                  <a:cubicBezTo>
                    <a:pt x="0" y="15448"/>
                    <a:pt x="15448" y="0"/>
                    <a:pt x="34505" y="0"/>
                  </a:cubicBezTo>
                  <a:close/>
                </a:path>
              </a:pathLst>
            </a:custGeom>
            <a:solidFill>
              <a:srgbClr val="022F76">
                <a:alpha val="5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GB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8" name="TextBox 23"/>
            <p:cNvSpPr/>
            <p:nvPr/>
          </p:nvSpPr>
          <p:spPr>
            <a:xfrm>
              <a:off x="5160600" y="3546000"/>
              <a:ext cx="3813840" cy="4137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50760" tIns="50760" rIns="50760" bIns="50760" anchor="ctr">
              <a:noAutofit/>
            </a:bodyPr>
            <a:lstStyle/>
            <a:p>
              <a:pPr algn="ctr" defTabSz="914400">
                <a:lnSpc>
                  <a:spcPts val="2378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379" name="TextBox 24"/>
          <p:cNvSpPr/>
          <p:nvPr/>
        </p:nvSpPr>
        <p:spPr>
          <a:xfrm>
            <a:off x="5612400" y="5400000"/>
            <a:ext cx="2910240" cy="1680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Montserrat"/>
                <a:ea typeface="Montserrat"/>
              </a:rPr>
              <a:t>Authentification sécurisée via Flask-Login. Sélection d'un livre disponible et processus d'emprunt avec mise à jour du statut en temps réel.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TextBox 25"/>
          <p:cNvSpPr/>
          <p:nvPr/>
        </p:nvSpPr>
        <p:spPr>
          <a:xfrm>
            <a:off x="5292000" y="4785120"/>
            <a:ext cx="3550680" cy="33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2710"/>
              </a:lnSpc>
              <a:tabLst>
                <a:tab pos="0" algn="l"/>
              </a:tabLst>
            </a:pPr>
            <a:r>
              <a:rPr lang="en-US" sz="1940" b="1" u="none" strike="noStrike">
                <a:solidFill>
                  <a:srgbClr val="FFFFFF"/>
                </a:solidFill>
                <a:effectLst/>
                <a:uFillTx/>
                <a:latin typeface="Garet Bold"/>
                <a:ea typeface="Garet Bold"/>
              </a:rPr>
              <a:t>Connexion &amp; Emprunt</a:t>
            </a:r>
            <a:endParaRPr lang="en-GB" sz="19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TextBox 26"/>
          <p:cNvSpPr/>
          <p:nvPr/>
        </p:nvSpPr>
        <p:spPr>
          <a:xfrm>
            <a:off x="6546600" y="3914640"/>
            <a:ext cx="1041480" cy="60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5017"/>
              </a:lnSpc>
              <a:tabLst>
                <a:tab pos="0" algn="l"/>
              </a:tabLst>
            </a:pPr>
            <a:r>
              <a:rPr lang="en-US" sz="3590" b="1" u="none" strike="noStrike">
                <a:solidFill>
                  <a:srgbClr val="FFFFFF"/>
                </a:solidFill>
                <a:effectLst/>
                <a:uFillTx/>
                <a:latin typeface="Garet Bold"/>
                <a:ea typeface="Garet Bold"/>
              </a:rPr>
              <a:t>02</a:t>
            </a:r>
            <a:endParaRPr lang="en-GB" sz="35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TextBox 27"/>
          <p:cNvSpPr/>
          <p:nvPr/>
        </p:nvSpPr>
        <p:spPr>
          <a:xfrm>
            <a:off x="2013840" y="1192320"/>
            <a:ext cx="14259960" cy="1345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11030"/>
              </a:lnSpc>
              <a:tabLst>
                <a:tab pos="0" algn="l"/>
              </a:tabLst>
            </a:pPr>
            <a:r>
              <a:rPr lang="en-US" sz="7880" b="1" u="none" strike="noStrike">
                <a:solidFill>
                  <a:srgbClr val="FFFFFF"/>
                </a:solidFill>
                <a:effectLst/>
                <a:uFillTx/>
                <a:latin typeface="Garet Bold"/>
                <a:ea typeface="Garet Bold"/>
              </a:rPr>
              <a:t>DÉMONSTRATION LIVE</a:t>
            </a:r>
            <a:endParaRPr lang="en-GB" sz="7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Freeform 2"/>
          <p:cNvSpPr/>
          <p:nvPr/>
        </p:nvSpPr>
        <p:spPr>
          <a:xfrm>
            <a:off x="0" y="0"/>
            <a:ext cx="18287640" cy="10286640"/>
          </a:xfrm>
          <a:custGeom>
            <a:avLst/>
            <a:gdLst>
              <a:gd name="textAreaLeft" fmla="*/ 0 w 18287640"/>
              <a:gd name="textAreaRight" fmla="*/ 18288000 w 18287640"/>
              <a:gd name="textAreaTop" fmla="*/ 0 h 10286640"/>
              <a:gd name="textAreaBottom" fmla="*/ 10287000 h 10286640"/>
            </a:gdLst>
            <a:ahLst/>
            <a:cxnLst/>
            <a:rect l="textAreaLeft" t="textAreaTop" r="textAreaRight" b="textAreaBottom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84" name="Group 3"/>
          <p:cNvGrpSpPr/>
          <p:nvPr/>
        </p:nvGrpSpPr>
        <p:grpSpPr>
          <a:xfrm>
            <a:off x="7968600" y="1660320"/>
            <a:ext cx="8943120" cy="2200320"/>
            <a:chOff x="7968600" y="1660320"/>
            <a:chExt cx="8943120" cy="2200320"/>
          </a:xfrm>
        </p:grpSpPr>
        <p:sp>
          <p:nvSpPr>
            <p:cNvPr id="385" name="Freeform 4"/>
            <p:cNvSpPr/>
            <p:nvPr/>
          </p:nvSpPr>
          <p:spPr>
            <a:xfrm>
              <a:off x="7968600" y="1774080"/>
              <a:ext cx="8943120" cy="2086560"/>
            </a:xfrm>
            <a:custGeom>
              <a:avLst/>
              <a:gdLst>
                <a:gd name="textAreaLeft" fmla="*/ 0 w 8943120"/>
                <a:gd name="textAreaRight" fmla="*/ 8943480 w 8943120"/>
                <a:gd name="textAreaTop" fmla="*/ 0 h 2086560"/>
                <a:gd name="textAreaBottom" fmla="*/ 2086920 h 2086560"/>
              </a:gdLst>
              <a:ahLst/>
              <a:cxnLst/>
              <a:rect l="textAreaLeft" t="textAreaTop" r="textAreaRight" b="textAreaBottom"/>
              <a:pathLst>
                <a:path w="2249203" h="524870">
                  <a:moveTo>
                    <a:pt x="14716" y="0"/>
                  </a:moveTo>
                  <a:lnTo>
                    <a:pt x="2234487" y="0"/>
                  </a:lnTo>
                  <a:cubicBezTo>
                    <a:pt x="2238390" y="0"/>
                    <a:pt x="2242133" y="1550"/>
                    <a:pt x="2244893" y="4310"/>
                  </a:cubicBezTo>
                  <a:cubicBezTo>
                    <a:pt x="2247653" y="7070"/>
                    <a:pt x="2249203" y="10813"/>
                    <a:pt x="2249203" y="14716"/>
                  </a:cubicBezTo>
                  <a:lnTo>
                    <a:pt x="2249203" y="510154"/>
                  </a:lnTo>
                  <a:cubicBezTo>
                    <a:pt x="2249203" y="514057"/>
                    <a:pt x="2247653" y="517800"/>
                    <a:pt x="2244893" y="520560"/>
                  </a:cubicBezTo>
                  <a:cubicBezTo>
                    <a:pt x="2242133" y="523320"/>
                    <a:pt x="2238390" y="524870"/>
                    <a:pt x="2234487" y="524870"/>
                  </a:cubicBezTo>
                  <a:lnTo>
                    <a:pt x="14716" y="524870"/>
                  </a:lnTo>
                  <a:cubicBezTo>
                    <a:pt x="10813" y="524870"/>
                    <a:pt x="7070" y="523320"/>
                    <a:pt x="4310" y="520560"/>
                  </a:cubicBezTo>
                  <a:cubicBezTo>
                    <a:pt x="1550" y="517800"/>
                    <a:pt x="0" y="514057"/>
                    <a:pt x="0" y="510154"/>
                  </a:cubicBezTo>
                  <a:lnTo>
                    <a:pt x="0" y="14716"/>
                  </a:lnTo>
                  <a:cubicBezTo>
                    <a:pt x="0" y="10813"/>
                    <a:pt x="1550" y="7070"/>
                    <a:pt x="4310" y="4310"/>
                  </a:cubicBezTo>
                  <a:cubicBezTo>
                    <a:pt x="7070" y="1550"/>
                    <a:pt x="10813" y="0"/>
                    <a:pt x="14716" y="0"/>
                  </a:cubicBezTo>
                  <a:close/>
                </a:path>
              </a:pathLst>
            </a:custGeom>
            <a:solidFill>
              <a:srgbClr val="022F76">
                <a:alpha val="5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GB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6" name="TextBox 5"/>
            <p:cNvSpPr/>
            <p:nvPr/>
          </p:nvSpPr>
          <p:spPr>
            <a:xfrm>
              <a:off x="7968600" y="1660320"/>
              <a:ext cx="8943120" cy="2200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50760" tIns="50760" rIns="50760" bIns="50760" anchor="ctr">
              <a:noAutofit/>
            </a:bodyPr>
            <a:lstStyle/>
            <a:p>
              <a:pPr algn="ctr" defTabSz="914400">
                <a:lnSpc>
                  <a:spcPts val="2378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grpSp>
        <p:nvGrpSpPr>
          <p:cNvPr id="387" name="Group 6"/>
          <p:cNvGrpSpPr/>
          <p:nvPr/>
        </p:nvGrpSpPr>
        <p:grpSpPr>
          <a:xfrm>
            <a:off x="7968600" y="3987000"/>
            <a:ext cx="8943120" cy="2200320"/>
            <a:chOff x="7968600" y="3987000"/>
            <a:chExt cx="8943120" cy="2200320"/>
          </a:xfrm>
        </p:grpSpPr>
        <p:sp>
          <p:nvSpPr>
            <p:cNvPr id="388" name="Freeform 7"/>
            <p:cNvSpPr/>
            <p:nvPr/>
          </p:nvSpPr>
          <p:spPr>
            <a:xfrm>
              <a:off x="7968600" y="4100760"/>
              <a:ext cx="8943120" cy="2086560"/>
            </a:xfrm>
            <a:custGeom>
              <a:avLst/>
              <a:gdLst>
                <a:gd name="textAreaLeft" fmla="*/ 0 w 8943120"/>
                <a:gd name="textAreaRight" fmla="*/ 8943480 w 8943120"/>
                <a:gd name="textAreaTop" fmla="*/ 0 h 2086560"/>
                <a:gd name="textAreaBottom" fmla="*/ 2086920 h 2086560"/>
              </a:gdLst>
              <a:ahLst/>
              <a:cxnLst/>
              <a:rect l="textAreaLeft" t="textAreaTop" r="textAreaRight" b="textAreaBottom"/>
              <a:pathLst>
                <a:path w="2249203" h="524870">
                  <a:moveTo>
                    <a:pt x="14716" y="0"/>
                  </a:moveTo>
                  <a:lnTo>
                    <a:pt x="2234487" y="0"/>
                  </a:lnTo>
                  <a:cubicBezTo>
                    <a:pt x="2238390" y="0"/>
                    <a:pt x="2242133" y="1550"/>
                    <a:pt x="2244893" y="4310"/>
                  </a:cubicBezTo>
                  <a:cubicBezTo>
                    <a:pt x="2247653" y="7070"/>
                    <a:pt x="2249203" y="10813"/>
                    <a:pt x="2249203" y="14716"/>
                  </a:cubicBezTo>
                  <a:lnTo>
                    <a:pt x="2249203" y="510154"/>
                  </a:lnTo>
                  <a:cubicBezTo>
                    <a:pt x="2249203" y="514057"/>
                    <a:pt x="2247653" y="517800"/>
                    <a:pt x="2244893" y="520560"/>
                  </a:cubicBezTo>
                  <a:cubicBezTo>
                    <a:pt x="2242133" y="523320"/>
                    <a:pt x="2238390" y="524870"/>
                    <a:pt x="2234487" y="524870"/>
                  </a:cubicBezTo>
                  <a:lnTo>
                    <a:pt x="14716" y="524870"/>
                  </a:lnTo>
                  <a:cubicBezTo>
                    <a:pt x="10813" y="524870"/>
                    <a:pt x="7070" y="523320"/>
                    <a:pt x="4310" y="520560"/>
                  </a:cubicBezTo>
                  <a:cubicBezTo>
                    <a:pt x="1550" y="517800"/>
                    <a:pt x="0" y="514057"/>
                    <a:pt x="0" y="510154"/>
                  </a:cubicBezTo>
                  <a:lnTo>
                    <a:pt x="0" y="14716"/>
                  </a:lnTo>
                  <a:cubicBezTo>
                    <a:pt x="0" y="10813"/>
                    <a:pt x="1550" y="7070"/>
                    <a:pt x="4310" y="4310"/>
                  </a:cubicBezTo>
                  <a:cubicBezTo>
                    <a:pt x="7070" y="1550"/>
                    <a:pt x="10813" y="0"/>
                    <a:pt x="14716" y="0"/>
                  </a:cubicBezTo>
                  <a:close/>
                </a:path>
              </a:pathLst>
            </a:custGeom>
            <a:solidFill>
              <a:srgbClr val="022F76">
                <a:alpha val="5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GB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9" name="TextBox 8"/>
            <p:cNvSpPr/>
            <p:nvPr/>
          </p:nvSpPr>
          <p:spPr>
            <a:xfrm>
              <a:off x="7968600" y="3987000"/>
              <a:ext cx="8943120" cy="2200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50760" tIns="50760" rIns="50760" bIns="50760" anchor="ctr">
              <a:noAutofit/>
            </a:bodyPr>
            <a:lstStyle/>
            <a:p>
              <a:pPr algn="ctr" defTabSz="914400">
                <a:lnSpc>
                  <a:spcPts val="2378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grpSp>
        <p:nvGrpSpPr>
          <p:cNvPr id="390" name="Group 9"/>
          <p:cNvGrpSpPr/>
          <p:nvPr/>
        </p:nvGrpSpPr>
        <p:grpSpPr>
          <a:xfrm>
            <a:off x="7968600" y="6312240"/>
            <a:ext cx="8943120" cy="2200320"/>
            <a:chOff x="7968600" y="6312240"/>
            <a:chExt cx="8943120" cy="2200320"/>
          </a:xfrm>
        </p:grpSpPr>
        <p:sp>
          <p:nvSpPr>
            <p:cNvPr id="391" name="Freeform 10"/>
            <p:cNvSpPr/>
            <p:nvPr/>
          </p:nvSpPr>
          <p:spPr>
            <a:xfrm>
              <a:off x="7968600" y="6426000"/>
              <a:ext cx="8943120" cy="2086560"/>
            </a:xfrm>
            <a:custGeom>
              <a:avLst/>
              <a:gdLst>
                <a:gd name="textAreaLeft" fmla="*/ 0 w 8943120"/>
                <a:gd name="textAreaRight" fmla="*/ 8943480 w 8943120"/>
                <a:gd name="textAreaTop" fmla="*/ 0 h 2086560"/>
                <a:gd name="textAreaBottom" fmla="*/ 2086920 h 2086560"/>
              </a:gdLst>
              <a:ahLst/>
              <a:cxnLst/>
              <a:rect l="textAreaLeft" t="textAreaTop" r="textAreaRight" b="textAreaBottom"/>
              <a:pathLst>
                <a:path w="2249203" h="524870">
                  <a:moveTo>
                    <a:pt x="14716" y="0"/>
                  </a:moveTo>
                  <a:lnTo>
                    <a:pt x="2234487" y="0"/>
                  </a:lnTo>
                  <a:cubicBezTo>
                    <a:pt x="2238390" y="0"/>
                    <a:pt x="2242133" y="1550"/>
                    <a:pt x="2244893" y="4310"/>
                  </a:cubicBezTo>
                  <a:cubicBezTo>
                    <a:pt x="2247653" y="7070"/>
                    <a:pt x="2249203" y="10813"/>
                    <a:pt x="2249203" y="14716"/>
                  </a:cubicBezTo>
                  <a:lnTo>
                    <a:pt x="2249203" y="510154"/>
                  </a:lnTo>
                  <a:cubicBezTo>
                    <a:pt x="2249203" y="514057"/>
                    <a:pt x="2247653" y="517800"/>
                    <a:pt x="2244893" y="520560"/>
                  </a:cubicBezTo>
                  <a:cubicBezTo>
                    <a:pt x="2242133" y="523320"/>
                    <a:pt x="2238390" y="524870"/>
                    <a:pt x="2234487" y="524870"/>
                  </a:cubicBezTo>
                  <a:lnTo>
                    <a:pt x="14716" y="524870"/>
                  </a:lnTo>
                  <a:cubicBezTo>
                    <a:pt x="10813" y="524870"/>
                    <a:pt x="7070" y="523320"/>
                    <a:pt x="4310" y="520560"/>
                  </a:cubicBezTo>
                  <a:cubicBezTo>
                    <a:pt x="1550" y="517800"/>
                    <a:pt x="0" y="514057"/>
                    <a:pt x="0" y="510154"/>
                  </a:cubicBezTo>
                  <a:lnTo>
                    <a:pt x="0" y="14716"/>
                  </a:lnTo>
                  <a:cubicBezTo>
                    <a:pt x="0" y="10813"/>
                    <a:pt x="1550" y="7070"/>
                    <a:pt x="4310" y="4310"/>
                  </a:cubicBezTo>
                  <a:cubicBezTo>
                    <a:pt x="7070" y="1550"/>
                    <a:pt x="10813" y="0"/>
                    <a:pt x="14716" y="0"/>
                  </a:cubicBezTo>
                  <a:close/>
                </a:path>
              </a:pathLst>
            </a:custGeom>
            <a:solidFill>
              <a:srgbClr val="022F76">
                <a:alpha val="5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GB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2" name="TextBox 11"/>
            <p:cNvSpPr/>
            <p:nvPr/>
          </p:nvSpPr>
          <p:spPr>
            <a:xfrm>
              <a:off x="7968600" y="6312240"/>
              <a:ext cx="8943120" cy="2200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50760" tIns="50760" rIns="50760" bIns="50760" anchor="ctr">
              <a:noAutofit/>
            </a:bodyPr>
            <a:lstStyle/>
            <a:p>
              <a:pPr algn="ctr" defTabSz="914400">
                <a:lnSpc>
                  <a:spcPts val="2378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393" name="TextBox 12"/>
          <p:cNvSpPr/>
          <p:nvPr/>
        </p:nvSpPr>
        <p:spPr>
          <a:xfrm>
            <a:off x="9131040" y="2615040"/>
            <a:ext cx="7470360" cy="83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Montserrat"/>
                <a:ea typeface="Montserrat"/>
              </a:rPr>
              <a:t>Git/GitHub utilisés comme une vraie équipe pro, pas comme une simple clé USB. La méthode Agile structure le travail et évite de se perdre dans la complexité du projet.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TextBox 13"/>
          <p:cNvSpPr/>
          <p:nvPr/>
        </p:nvSpPr>
        <p:spPr>
          <a:xfrm>
            <a:off x="9131040" y="4941720"/>
            <a:ext cx="7470360" cy="83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Montserrat"/>
                <a:ea typeface="Montserrat"/>
              </a:rPr>
              <a:t>Sécurité pensée dès le début du développement, pas ajoutée à la fin. Les tests protègent le code — ce n'est pas juste une formalité, c'est une assurance qualité.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TextBox 14"/>
          <p:cNvSpPr/>
          <p:nvPr/>
        </p:nvSpPr>
        <p:spPr>
          <a:xfrm>
            <a:off x="9131040" y="7266960"/>
            <a:ext cx="7470360" cy="83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Montserrat"/>
                <a:ea typeface="Montserrat"/>
              </a:rPr>
              <a:t>Chaque bug = une issue, chaque issue = une branche, chaque branche = une PR. Cette discipline garantit traçabilité et qualité à chaque étape du développement.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TextBox 15"/>
          <p:cNvSpPr/>
          <p:nvPr/>
        </p:nvSpPr>
        <p:spPr>
          <a:xfrm>
            <a:off x="1440000" y="6120000"/>
            <a:ext cx="5473440" cy="94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2577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Montserrat"/>
                <a:ea typeface="Montserrat"/>
              </a:rPr>
              <a:t>Ce projet a transformé notre façon de travailler. Chaque apprentissage nous rapproche des standards professionnels du développement logiciel.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TextBox 16"/>
          <p:cNvSpPr/>
          <p:nvPr/>
        </p:nvSpPr>
        <p:spPr>
          <a:xfrm>
            <a:off x="9131040" y="2033280"/>
            <a:ext cx="5268960" cy="375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2962"/>
              </a:lnSpc>
              <a:tabLst>
                <a:tab pos="0" algn="l"/>
              </a:tabLst>
            </a:pPr>
            <a:r>
              <a:rPr lang="en-US" sz="2380" b="1" u="none" strike="noStrike" spc="26">
                <a:solidFill>
                  <a:srgbClr val="FFFFFF"/>
                </a:solidFill>
                <a:effectLst/>
                <a:uFillTx/>
                <a:latin typeface="Garet Bold"/>
                <a:ea typeface="Garet Bold"/>
              </a:rPr>
              <a:t>Git &amp; Méthode Agile</a:t>
            </a:r>
            <a:endParaRPr lang="en-GB" sz="23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TextBox 17"/>
          <p:cNvSpPr/>
          <p:nvPr/>
        </p:nvSpPr>
        <p:spPr>
          <a:xfrm>
            <a:off x="9131040" y="4359960"/>
            <a:ext cx="4370760" cy="357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2962"/>
              </a:lnSpc>
              <a:tabLst>
                <a:tab pos="0" algn="l"/>
              </a:tabLst>
            </a:pPr>
            <a:r>
              <a:rPr lang="en-US" sz="2380" b="1" u="none" strike="noStrike" spc="26">
                <a:solidFill>
                  <a:srgbClr val="FFFFFF"/>
                </a:solidFill>
                <a:effectLst/>
                <a:uFillTx/>
                <a:latin typeface="Garet Bold"/>
                <a:ea typeface="Garet Bold"/>
              </a:rPr>
              <a:t>Sécurité &amp; Tests</a:t>
            </a:r>
            <a:endParaRPr lang="en-GB" sz="23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TextBox 18"/>
          <p:cNvSpPr/>
          <p:nvPr/>
        </p:nvSpPr>
        <p:spPr>
          <a:xfrm>
            <a:off x="9131040" y="6685200"/>
            <a:ext cx="4368960" cy="375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2962"/>
              </a:lnSpc>
              <a:tabLst>
                <a:tab pos="0" algn="l"/>
              </a:tabLst>
            </a:pPr>
            <a:r>
              <a:rPr lang="en-US" sz="2380" b="1" u="none" strike="noStrike" spc="26">
                <a:solidFill>
                  <a:srgbClr val="FFFFFF"/>
                </a:solidFill>
                <a:effectLst/>
                <a:uFillTx/>
                <a:latin typeface="Garet Bold"/>
                <a:ea typeface="Garet Bold"/>
              </a:rPr>
              <a:t>Workflow Structuré</a:t>
            </a:r>
            <a:endParaRPr lang="en-GB" sz="23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TextBox 19"/>
          <p:cNvSpPr/>
          <p:nvPr/>
        </p:nvSpPr>
        <p:spPr>
          <a:xfrm>
            <a:off x="8078760" y="2028600"/>
            <a:ext cx="848880" cy="501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4073"/>
              </a:lnSpc>
              <a:tabLst>
                <a:tab pos="0" algn="l"/>
              </a:tabLst>
            </a:pPr>
            <a:r>
              <a:rPr lang="en-US" sz="3270" b="1" u="none" strike="noStrike" spc="37">
                <a:solidFill>
                  <a:srgbClr val="FFFFFF"/>
                </a:solidFill>
                <a:effectLst/>
                <a:uFillTx/>
                <a:latin typeface="Garet Bold"/>
                <a:ea typeface="Garet Bold"/>
              </a:rPr>
              <a:t>01</a:t>
            </a:r>
            <a:endParaRPr lang="en-GB" sz="32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TextBox 20"/>
          <p:cNvSpPr/>
          <p:nvPr/>
        </p:nvSpPr>
        <p:spPr>
          <a:xfrm>
            <a:off x="8078760" y="4355280"/>
            <a:ext cx="848880" cy="501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4073"/>
              </a:lnSpc>
              <a:tabLst>
                <a:tab pos="0" algn="l"/>
              </a:tabLst>
            </a:pPr>
            <a:r>
              <a:rPr lang="en-US" sz="3270" b="1" u="none" strike="noStrike" spc="37">
                <a:solidFill>
                  <a:srgbClr val="FFFFFF"/>
                </a:solidFill>
                <a:effectLst/>
                <a:uFillTx/>
                <a:latin typeface="Garet Bold"/>
                <a:ea typeface="Garet Bold"/>
              </a:rPr>
              <a:t>02</a:t>
            </a:r>
            <a:endParaRPr lang="en-GB" sz="32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TextBox 21"/>
          <p:cNvSpPr/>
          <p:nvPr/>
        </p:nvSpPr>
        <p:spPr>
          <a:xfrm>
            <a:off x="8078760" y="6680520"/>
            <a:ext cx="848880" cy="501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4073"/>
              </a:lnSpc>
              <a:tabLst>
                <a:tab pos="0" algn="l"/>
              </a:tabLst>
            </a:pPr>
            <a:r>
              <a:rPr lang="en-US" sz="3270" b="1" u="none" strike="noStrike" spc="37">
                <a:solidFill>
                  <a:srgbClr val="FFFFFF"/>
                </a:solidFill>
                <a:effectLst/>
                <a:uFillTx/>
                <a:latin typeface="Garet Bold"/>
                <a:ea typeface="Garet Bold"/>
              </a:rPr>
              <a:t>03</a:t>
            </a:r>
            <a:endParaRPr lang="en-GB" sz="32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3" name="TextBox 22"/>
          <p:cNvSpPr/>
          <p:nvPr/>
        </p:nvSpPr>
        <p:spPr>
          <a:xfrm>
            <a:off x="1457640" y="3048480"/>
            <a:ext cx="6510600" cy="1838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7319"/>
              </a:lnSpc>
              <a:tabLst>
                <a:tab pos="0" algn="l"/>
              </a:tabLst>
            </a:pPr>
            <a:r>
              <a:rPr lang="en-US" sz="5850" b="1" u="none" strike="noStrike" spc="65">
                <a:solidFill>
                  <a:srgbClr val="FFFFFF"/>
                </a:solidFill>
                <a:effectLst/>
                <a:uFillTx/>
                <a:latin typeface="Garet Bold"/>
                <a:ea typeface="Garet Bold"/>
              </a:rPr>
              <a:t>Ce que ce projet nous a appris</a:t>
            </a:r>
            <a:endParaRPr lang="en-GB" sz="5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Freeform 2"/>
          <p:cNvSpPr/>
          <p:nvPr/>
        </p:nvSpPr>
        <p:spPr>
          <a:xfrm>
            <a:off x="0" y="0"/>
            <a:ext cx="18287640" cy="10286640"/>
          </a:xfrm>
          <a:custGeom>
            <a:avLst/>
            <a:gdLst>
              <a:gd name="textAreaLeft" fmla="*/ 0 w 18287640"/>
              <a:gd name="textAreaRight" fmla="*/ 18288000 w 18287640"/>
              <a:gd name="textAreaTop" fmla="*/ 0 h 10286640"/>
              <a:gd name="textAreaBottom" fmla="*/ 10287000 h 10286640"/>
            </a:gdLst>
            <a:ahLst/>
            <a:cxnLst/>
            <a:rect l="textAreaLeft" t="textAreaTop" r="textAreaRight" b="textAreaBottom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405" name="Group 3"/>
          <p:cNvGrpSpPr/>
          <p:nvPr/>
        </p:nvGrpSpPr>
        <p:grpSpPr>
          <a:xfrm>
            <a:off x="1334520" y="4512600"/>
            <a:ext cx="13239000" cy="2242800"/>
            <a:chOff x="1334520" y="4512600"/>
            <a:chExt cx="13239000" cy="2242800"/>
          </a:xfrm>
        </p:grpSpPr>
        <p:sp>
          <p:nvSpPr>
            <p:cNvPr id="406" name="Freeform 4"/>
            <p:cNvSpPr/>
            <p:nvPr/>
          </p:nvSpPr>
          <p:spPr>
            <a:xfrm>
              <a:off x="1334520" y="4623840"/>
              <a:ext cx="13239000" cy="2131560"/>
            </a:xfrm>
            <a:custGeom>
              <a:avLst/>
              <a:gdLst>
                <a:gd name="textAreaLeft" fmla="*/ 0 w 13239000"/>
                <a:gd name="textAreaRight" fmla="*/ 13239360 w 13239000"/>
                <a:gd name="textAreaTop" fmla="*/ 0 h 2131560"/>
                <a:gd name="textAreaBottom" fmla="*/ 2131920 h 2131560"/>
              </a:gdLst>
              <a:ahLst/>
              <a:cxnLst/>
              <a:rect l="textAreaLeft" t="textAreaTop" r="textAreaRight" b="textAreaBottom"/>
              <a:pathLst>
                <a:path w="3402255" h="547854">
                  <a:moveTo>
                    <a:pt x="9941" y="0"/>
                  </a:moveTo>
                  <a:lnTo>
                    <a:pt x="3392314" y="0"/>
                  </a:lnTo>
                  <a:cubicBezTo>
                    <a:pt x="3394950" y="0"/>
                    <a:pt x="3397479" y="1047"/>
                    <a:pt x="3399343" y="2912"/>
                  </a:cubicBezTo>
                  <a:cubicBezTo>
                    <a:pt x="3401208" y="4776"/>
                    <a:pt x="3402255" y="7305"/>
                    <a:pt x="3402255" y="9941"/>
                  </a:cubicBezTo>
                  <a:lnTo>
                    <a:pt x="3402255" y="537913"/>
                  </a:lnTo>
                  <a:cubicBezTo>
                    <a:pt x="3402255" y="540550"/>
                    <a:pt x="3401208" y="543078"/>
                    <a:pt x="3399343" y="544943"/>
                  </a:cubicBezTo>
                  <a:cubicBezTo>
                    <a:pt x="3397479" y="546807"/>
                    <a:pt x="3394950" y="547854"/>
                    <a:pt x="3392314" y="547854"/>
                  </a:cubicBezTo>
                  <a:lnTo>
                    <a:pt x="9941" y="547854"/>
                  </a:lnTo>
                  <a:cubicBezTo>
                    <a:pt x="7305" y="547854"/>
                    <a:pt x="4776" y="546807"/>
                    <a:pt x="2912" y="544943"/>
                  </a:cubicBezTo>
                  <a:cubicBezTo>
                    <a:pt x="1047" y="543078"/>
                    <a:pt x="0" y="540550"/>
                    <a:pt x="0" y="537913"/>
                  </a:cubicBezTo>
                  <a:lnTo>
                    <a:pt x="0" y="9941"/>
                  </a:lnTo>
                  <a:cubicBezTo>
                    <a:pt x="0" y="7305"/>
                    <a:pt x="1047" y="4776"/>
                    <a:pt x="2912" y="2912"/>
                  </a:cubicBezTo>
                  <a:cubicBezTo>
                    <a:pt x="4776" y="1047"/>
                    <a:pt x="7305" y="0"/>
                    <a:pt x="9941" y="0"/>
                  </a:cubicBezTo>
                  <a:close/>
                </a:path>
              </a:pathLst>
            </a:custGeom>
            <a:solidFill>
              <a:srgbClr val="022F76">
                <a:alpha val="5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GB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7" name="TextBox 5"/>
            <p:cNvSpPr/>
            <p:nvPr/>
          </p:nvSpPr>
          <p:spPr>
            <a:xfrm>
              <a:off x="1334520" y="4512600"/>
              <a:ext cx="13239000" cy="2242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50760" tIns="50760" rIns="50760" bIns="50760" anchor="ctr">
              <a:noAutofit/>
            </a:bodyPr>
            <a:lstStyle/>
            <a:p>
              <a:pPr algn="ctr" defTabSz="914400">
                <a:lnSpc>
                  <a:spcPts val="2378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grpSp>
        <p:nvGrpSpPr>
          <p:cNvPr id="408" name="Group 6"/>
          <p:cNvGrpSpPr/>
          <p:nvPr/>
        </p:nvGrpSpPr>
        <p:grpSpPr>
          <a:xfrm>
            <a:off x="1334520" y="6873120"/>
            <a:ext cx="13239000" cy="2242800"/>
            <a:chOff x="1334520" y="6873120"/>
            <a:chExt cx="13239000" cy="2242800"/>
          </a:xfrm>
        </p:grpSpPr>
        <p:sp>
          <p:nvSpPr>
            <p:cNvPr id="409" name="Freeform 7"/>
            <p:cNvSpPr/>
            <p:nvPr/>
          </p:nvSpPr>
          <p:spPr>
            <a:xfrm>
              <a:off x="1334520" y="6984360"/>
              <a:ext cx="13239000" cy="2131560"/>
            </a:xfrm>
            <a:custGeom>
              <a:avLst/>
              <a:gdLst>
                <a:gd name="textAreaLeft" fmla="*/ 0 w 13239000"/>
                <a:gd name="textAreaRight" fmla="*/ 13239360 w 13239000"/>
                <a:gd name="textAreaTop" fmla="*/ 0 h 2131560"/>
                <a:gd name="textAreaBottom" fmla="*/ 2131920 h 2131560"/>
              </a:gdLst>
              <a:ahLst/>
              <a:cxnLst/>
              <a:rect l="textAreaLeft" t="textAreaTop" r="textAreaRight" b="textAreaBottom"/>
              <a:pathLst>
                <a:path w="3402255" h="547854">
                  <a:moveTo>
                    <a:pt x="9941" y="0"/>
                  </a:moveTo>
                  <a:lnTo>
                    <a:pt x="3392314" y="0"/>
                  </a:lnTo>
                  <a:cubicBezTo>
                    <a:pt x="3394950" y="0"/>
                    <a:pt x="3397479" y="1047"/>
                    <a:pt x="3399343" y="2912"/>
                  </a:cubicBezTo>
                  <a:cubicBezTo>
                    <a:pt x="3401208" y="4776"/>
                    <a:pt x="3402255" y="7305"/>
                    <a:pt x="3402255" y="9941"/>
                  </a:cubicBezTo>
                  <a:lnTo>
                    <a:pt x="3402255" y="537913"/>
                  </a:lnTo>
                  <a:cubicBezTo>
                    <a:pt x="3402255" y="540550"/>
                    <a:pt x="3401208" y="543078"/>
                    <a:pt x="3399343" y="544943"/>
                  </a:cubicBezTo>
                  <a:cubicBezTo>
                    <a:pt x="3397479" y="546807"/>
                    <a:pt x="3394950" y="547854"/>
                    <a:pt x="3392314" y="547854"/>
                  </a:cubicBezTo>
                  <a:lnTo>
                    <a:pt x="9941" y="547854"/>
                  </a:lnTo>
                  <a:cubicBezTo>
                    <a:pt x="7305" y="547854"/>
                    <a:pt x="4776" y="546807"/>
                    <a:pt x="2912" y="544943"/>
                  </a:cubicBezTo>
                  <a:cubicBezTo>
                    <a:pt x="1047" y="543078"/>
                    <a:pt x="0" y="540550"/>
                    <a:pt x="0" y="537913"/>
                  </a:cubicBezTo>
                  <a:lnTo>
                    <a:pt x="0" y="9941"/>
                  </a:lnTo>
                  <a:cubicBezTo>
                    <a:pt x="0" y="7305"/>
                    <a:pt x="1047" y="4776"/>
                    <a:pt x="2912" y="2912"/>
                  </a:cubicBezTo>
                  <a:cubicBezTo>
                    <a:pt x="4776" y="1047"/>
                    <a:pt x="7305" y="0"/>
                    <a:pt x="9941" y="0"/>
                  </a:cubicBezTo>
                  <a:close/>
                </a:path>
              </a:pathLst>
            </a:custGeom>
            <a:solidFill>
              <a:srgbClr val="022F76">
                <a:alpha val="5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GB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0" name="TextBox 8"/>
            <p:cNvSpPr/>
            <p:nvPr/>
          </p:nvSpPr>
          <p:spPr>
            <a:xfrm>
              <a:off x="1334520" y="6873120"/>
              <a:ext cx="13239000" cy="2242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50760" tIns="50760" rIns="50760" bIns="50760" anchor="ctr">
              <a:noAutofit/>
            </a:bodyPr>
            <a:lstStyle/>
            <a:p>
              <a:pPr algn="ctr" defTabSz="914400">
                <a:lnSpc>
                  <a:spcPts val="2378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411" name="TextBox 9"/>
          <p:cNvSpPr/>
          <p:nvPr/>
        </p:nvSpPr>
        <p:spPr>
          <a:xfrm>
            <a:off x="6241680" y="5052600"/>
            <a:ext cx="7626960" cy="1314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Montserrat"/>
                <a:ea typeface="Montserrat"/>
              </a:rPr>
              <a:t>✓ Application complète, fonctionnelle, sécurisée et testée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Montserrat"/>
                <a:ea typeface="Montserrat"/>
              </a:rPr>
              <a:t>✓ Workflow GitHub professionnel appliqué du début à la fin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Montserrat"/>
                <a:ea typeface="Montserrat"/>
              </a:rPr>
              <a:t>✓ 0 vulnérabilité détectée par Bandit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Montserrat"/>
                <a:ea typeface="Montserrat"/>
              </a:rPr>
              <a:t>✓ 92 tests passants avec couverture complète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Montserrat"/>
                <a:ea typeface="Montserrat"/>
              </a:rPr>
              <a:t>✓ Architecture modulaire avec Blueprints Flask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2" name="TextBox 10"/>
          <p:cNvSpPr/>
          <p:nvPr/>
        </p:nvSpPr>
        <p:spPr>
          <a:xfrm>
            <a:off x="2019600" y="5109840"/>
            <a:ext cx="3160440" cy="394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3152"/>
              </a:lnSpc>
              <a:tabLst>
                <a:tab pos="0" algn="l"/>
              </a:tabLst>
            </a:pPr>
            <a:r>
              <a:rPr lang="en-US" sz="2530" b="1" u="none" strike="noStrike" spc="28">
                <a:solidFill>
                  <a:srgbClr val="FFFFFF"/>
                </a:solidFill>
                <a:effectLst/>
                <a:uFillTx/>
                <a:latin typeface="Garet Bold"/>
                <a:ea typeface="Garet Bold"/>
              </a:rPr>
              <a:t>Réussites</a:t>
            </a:r>
            <a:endParaRPr lang="en-GB" sz="25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3" name="TextBox 11"/>
          <p:cNvSpPr/>
          <p:nvPr/>
        </p:nvSpPr>
        <p:spPr>
          <a:xfrm>
            <a:off x="6241680" y="7413120"/>
            <a:ext cx="7626960" cy="1314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Montserrat"/>
                <a:ea typeface="Montserrat"/>
              </a:rPr>
              <a:t>→ Déploiement serveur (Heroku, Railway, VPS)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Montserrat"/>
                <a:ea typeface="Montserrat"/>
              </a:rPr>
              <a:t>→ CI/CD automatisé avec GitHub Actions (tests + Bandit)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Montserrat"/>
                <a:ea typeface="Montserrat"/>
              </a:rPr>
              <a:t>→ Système de notation et avis des livres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Montserrat"/>
                <a:ea typeface="Montserrat"/>
              </a:rPr>
              <a:t>→ API REST pour application mobile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Montserrat"/>
                <a:ea typeface="Montserrat"/>
              </a:rPr>
              <a:t>→ Notifications email pour réservations</a:t>
            </a:r>
            <a:endParaRPr lang="en-GB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4" name="TextBox 12"/>
          <p:cNvSpPr/>
          <p:nvPr/>
        </p:nvSpPr>
        <p:spPr>
          <a:xfrm>
            <a:off x="2019600" y="7470360"/>
            <a:ext cx="2675520" cy="394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3152"/>
              </a:lnSpc>
              <a:tabLst>
                <a:tab pos="0" algn="l"/>
              </a:tabLst>
            </a:pPr>
            <a:r>
              <a:rPr lang="en-US" sz="2530" b="1" u="none" strike="noStrike" spc="28">
                <a:solidFill>
                  <a:srgbClr val="FFFFFF"/>
                </a:solidFill>
                <a:effectLst/>
                <a:uFillTx/>
                <a:latin typeface="Garet Bold"/>
                <a:ea typeface="Garet Bold"/>
              </a:rPr>
              <a:t>Évolutions</a:t>
            </a:r>
            <a:endParaRPr lang="en-GB" sz="25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5" name="TextBox 13"/>
          <p:cNvSpPr/>
          <p:nvPr/>
        </p:nvSpPr>
        <p:spPr>
          <a:xfrm>
            <a:off x="1464840" y="3333960"/>
            <a:ext cx="10848600" cy="61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2407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Montserrat"/>
                <a:ea typeface="Montserrat"/>
              </a:rPr>
              <a:t>Un projet scolaire mené avec des pratiques professionnelles, de la conception au déploiement. Voici nos accomplissements et les pistes d'évolution pour The Library.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6" name="TextBox 14"/>
          <p:cNvSpPr/>
          <p:nvPr/>
        </p:nvSpPr>
        <p:spPr>
          <a:xfrm>
            <a:off x="1464840" y="1230480"/>
            <a:ext cx="10347840" cy="923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7486"/>
              </a:lnSpc>
              <a:tabLst>
                <a:tab pos="0" algn="l"/>
              </a:tabLst>
            </a:pPr>
            <a:r>
              <a:rPr lang="en-US" sz="5980" b="1" u="none" strike="noStrike" spc="65">
                <a:solidFill>
                  <a:srgbClr val="FFFFFF"/>
                </a:solidFill>
                <a:effectLst/>
                <a:uFillTx/>
                <a:latin typeface="Garet Bold"/>
                <a:ea typeface="Garet Bold"/>
              </a:rPr>
              <a:t>Bilan &amp; perspectives</a:t>
            </a:r>
            <a:endParaRPr lang="en-GB" sz="5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Freeform 2"/>
          <p:cNvSpPr/>
          <p:nvPr/>
        </p:nvSpPr>
        <p:spPr>
          <a:xfrm>
            <a:off x="0" y="0"/>
            <a:ext cx="18287640" cy="10286640"/>
          </a:xfrm>
          <a:custGeom>
            <a:avLst/>
            <a:gdLst>
              <a:gd name="textAreaLeft" fmla="*/ 0 w 18287640"/>
              <a:gd name="textAreaRight" fmla="*/ 18288000 w 18287640"/>
              <a:gd name="textAreaTop" fmla="*/ 0 h 10286640"/>
              <a:gd name="textAreaBottom" fmla="*/ 10287000 h 10286640"/>
            </a:gdLst>
            <a:ahLst/>
            <a:cxnLst/>
            <a:rect l="textAreaLeft" t="textAreaTop" r="textAreaRight" b="textAreaBottom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418" name="Group 3"/>
          <p:cNvGrpSpPr/>
          <p:nvPr/>
        </p:nvGrpSpPr>
        <p:grpSpPr>
          <a:xfrm>
            <a:off x="10226520" y="6628320"/>
            <a:ext cx="5253480" cy="3091680"/>
            <a:chOff x="10226520" y="6628320"/>
            <a:chExt cx="5253480" cy="3091680"/>
          </a:xfrm>
        </p:grpSpPr>
        <p:sp>
          <p:nvSpPr>
            <p:cNvPr id="419" name="Freeform 4"/>
            <p:cNvSpPr/>
            <p:nvPr/>
          </p:nvSpPr>
          <p:spPr>
            <a:xfrm>
              <a:off x="10226520" y="6909480"/>
              <a:ext cx="5253480" cy="2810520"/>
            </a:xfrm>
            <a:custGeom>
              <a:avLst/>
              <a:gdLst>
                <a:gd name="textAreaLeft" fmla="*/ 0 w 5253480"/>
                <a:gd name="textAreaRight" fmla="*/ 5253840 w 5253480"/>
                <a:gd name="textAreaTop" fmla="*/ 0 h 2810520"/>
                <a:gd name="textAreaBottom" fmla="*/ 2810880 h 2810520"/>
              </a:gdLst>
              <a:ahLst/>
              <a:cxnLst/>
              <a:rect l="textAreaLeft" t="textAreaTop" r="textAreaRight" b="textAreaBottom"/>
              <a:pathLst>
                <a:path w="1072643" h="285840">
                  <a:moveTo>
                    <a:pt x="31531" y="0"/>
                  </a:moveTo>
                  <a:lnTo>
                    <a:pt x="1041111" y="0"/>
                  </a:lnTo>
                  <a:cubicBezTo>
                    <a:pt x="1058526" y="0"/>
                    <a:pt x="1072643" y="14117"/>
                    <a:pt x="1072643" y="31531"/>
                  </a:cubicBezTo>
                  <a:lnTo>
                    <a:pt x="1072643" y="254309"/>
                  </a:lnTo>
                  <a:cubicBezTo>
                    <a:pt x="1072643" y="271723"/>
                    <a:pt x="1058526" y="285840"/>
                    <a:pt x="1041111" y="285840"/>
                  </a:cubicBezTo>
                  <a:lnTo>
                    <a:pt x="31531" y="285840"/>
                  </a:lnTo>
                  <a:cubicBezTo>
                    <a:pt x="14117" y="285840"/>
                    <a:pt x="0" y="271723"/>
                    <a:pt x="0" y="254309"/>
                  </a:cubicBezTo>
                  <a:lnTo>
                    <a:pt x="0" y="31531"/>
                  </a:lnTo>
                  <a:cubicBezTo>
                    <a:pt x="0" y="14117"/>
                    <a:pt x="14117" y="0"/>
                    <a:pt x="31531" y="0"/>
                  </a:cubicBezTo>
                  <a:close/>
                </a:path>
              </a:pathLst>
            </a:custGeom>
            <a:solidFill>
              <a:srgbClr val="022F76">
                <a:alpha val="51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GB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0" name="TextBox 5"/>
            <p:cNvSpPr/>
            <p:nvPr/>
          </p:nvSpPr>
          <p:spPr>
            <a:xfrm>
              <a:off x="10226520" y="6628320"/>
              <a:ext cx="5253480" cy="3091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50760" tIns="50760" rIns="50760" bIns="50760" anchor="ctr">
              <a:noAutofit/>
            </a:bodyPr>
            <a:lstStyle/>
            <a:p>
              <a:pPr algn="ctr" defTabSz="914400">
                <a:lnSpc>
                  <a:spcPts val="2378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421" name="TextBox 6"/>
          <p:cNvSpPr/>
          <p:nvPr/>
        </p:nvSpPr>
        <p:spPr>
          <a:xfrm>
            <a:off x="1440000" y="796680"/>
            <a:ext cx="8587800" cy="2623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21314"/>
              </a:lnSpc>
              <a:tabLst>
                <a:tab pos="0" algn="l"/>
              </a:tabLst>
            </a:pPr>
            <a:r>
              <a:rPr lang="en-US" sz="15220" b="1" u="none" strike="noStrike">
                <a:solidFill>
                  <a:srgbClr val="FFFFFF"/>
                </a:solidFill>
                <a:effectLst/>
                <a:uFillTx/>
                <a:latin typeface="Garet Bold"/>
                <a:ea typeface="Garet Bold"/>
              </a:rPr>
              <a:t>Merci</a:t>
            </a:r>
            <a:endParaRPr lang="en-GB" sz="15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2" name="TextBox 7"/>
          <p:cNvSpPr/>
          <p:nvPr/>
        </p:nvSpPr>
        <p:spPr>
          <a:xfrm>
            <a:off x="4857480" y="3780000"/>
            <a:ext cx="12062520" cy="230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18799"/>
              </a:lnSpc>
              <a:tabLst>
                <a:tab pos="0" algn="l"/>
              </a:tabLst>
            </a:pPr>
            <a:r>
              <a:rPr lang="en-US" sz="13430" b="1" u="none" strike="noStrike">
                <a:solidFill>
                  <a:srgbClr val="FFFFFF"/>
                </a:solidFill>
                <a:effectLst/>
                <a:uFillTx/>
                <a:latin typeface="Garet Bold"/>
                <a:ea typeface="Garet Bold"/>
              </a:rPr>
              <a:t>Questions ?</a:t>
            </a:r>
            <a:endParaRPr lang="en-GB" sz="13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3" name="TextBox 8"/>
          <p:cNvSpPr/>
          <p:nvPr/>
        </p:nvSpPr>
        <p:spPr>
          <a:xfrm>
            <a:off x="10788480" y="7475400"/>
            <a:ext cx="3971520" cy="1704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r" defTabSz="914400">
              <a:lnSpc>
                <a:spcPts val="1678"/>
              </a:lnSpc>
              <a:tabLst>
                <a:tab pos="0" algn="l"/>
              </a:tabLst>
            </a:pPr>
            <a:r>
              <a:rPr lang="en-US" sz="1600" b="0" u="none" strike="noStrike" spc="201">
                <a:solidFill>
                  <a:srgbClr val="FFFFFF"/>
                </a:solidFill>
                <a:effectLst/>
                <a:uFillTx/>
                <a:latin typeface="Montserrat"/>
                <a:ea typeface="Montserrat"/>
              </a:rPr>
              <a:t>"THE LIBRARY : UN PROJET SCOLAIRE DÉVELOPPÉ AVEC DES PRATIQUES PROFESSIONNELLES."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 algn="r" defTabSz="914400">
              <a:lnSpc>
                <a:spcPts val="1678"/>
              </a:lnSpc>
              <a:tabLst>
                <a:tab pos="0" algn="l"/>
              </a:tabLst>
            </a:pPr>
            <a:r>
              <a:rPr lang="en-US" sz="1600" b="0" u="none" strike="noStrike" spc="201">
                <a:solidFill>
                  <a:srgbClr val="FFFFFF"/>
                </a:solidFill>
                <a:effectLst/>
                <a:uFillTx/>
                <a:latin typeface="Montserrat"/>
                <a:ea typeface="Montserrat"/>
              </a:rPr>
              <a:t>AGILE · GITHUB · SÉCURITÉ · TESTS · CLEAN CODE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 algn="r" defTabSz="914400">
              <a:lnSpc>
                <a:spcPts val="1678"/>
              </a:lnSpc>
              <a:tabLst>
                <a:tab pos="0" algn="l"/>
              </a:tabLst>
            </a:pPr>
            <a:r>
              <a:rPr lang="en-US" sz="1600" b="0" u="none" strike="noStrike" spc="201">
                <a:solidFill>
                  <a:srgbClr val="FFFFFF"/>
                </a:solidFill>
                <a:effectLst/>
                <a:uFillTx/>
                <a:latin typeface="Montserrat"/>
                <a:ea typeface="Montserrat"/>
              </a:rPr>
              <a:t>GITHUB.COM/M1D0B4N/THE-LIBRARY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Words>2138</Words>
  <Application>Microsoft Office PowerPoint</Application>
  <PresentationFormat>Personnalisé</PresentationFormat>
  <Paragraphs>237</Paragraphs>
  <Slides>22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9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22</vt:i4>
      </vt:variant>
    </vt:vector>
  </HeadingPairs>
  <TitlesOfParts>
    <vt:vector size="32" baseType="lpstr">
      <vt:lpstr>Calibri</vt:lpstr>
      <vt:lpstr>Garet Ultra-Bold</vt:lpstr>
      <vt:lpstr>Symbol</vt:lpstr>
      <vt:lpstr>Arial</vt:lpstr>
      <vt:lpstr>Wingdings</vt:lpstr>
      <vt:lpstr>Montserrat</vt:lpstr>
      <vt:lpstr>Montserrat Light</vt:lpstr>
      <vt:lpstr>Garet Bold</vt:lpstr>
      <vt:lpstr>Times New Roman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Library: Projet Web Bibliothèque
</dc:title>
  <dc:subject/>
  <dc:creator/>
  <dc:description/>
  <cp:lastModifiedBy>m1d0b4n _</cp:lastModifiedBy>
  <cp:revision>3</cp:revision>
  <dcterms:created xsi:type="dcterms:W3CDTF">2006-08-16T00:00:00Z</dcterms:created>
  <dcterms:modified xsi:type="dcterms:W3CDTF">2026-05-27T11:47:13Z</dcterms:modified>
  <dc:identifier>DAHK2AVqFzc</dc:identifier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